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/Relationships>
</file>

<file path=ppt/slides/_rels/slide6.xml.rels><?xml version="1.0" encoding="UTF-8" standalone="yes"?><Relationships xmlns="http://schemas.openxmlformats.org/package/2006/relationships"></Relationships>
</file>

<file path=ppt/slides/_rels/slide7.xml.rels><?xml version="1.0" encoding="UTF-8" standalone="yes"?><Relationships xmlns="http://schemas.openxmlformats.org/package/2006/relationships"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Picture 501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0" name="Rect 10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B30">
              <a:alpha val="22000"/>
            </a:srgbClr>
          </a:solidFill>
          <a:ln>
            <a:noFill/>
          </a:ln>
        </p:spPr>
        <p:txBody>
          <a:bodyPr/>
          <a:lstStyle/>
          <a:p/>
        </p:txBody>
      </p:sp>
      <p:pic>
        <p:nvPicPr>
          <p:cNvPr id="502" name="Picture 502"/>
          <p:cNvPicPr/>
          <p:nvPr/>
        </p:nvPicPr>
        <p:blipFill>
          <a:blip r:embed="rId2"/>
          <a:stretch>
            <a:fillRect/>
          </a:stretch>
        </p:blipFill>
        <p:spPr>
          <a:xfrm>
            <a:off x="530352" y="384048"/>
            <a:ext cx="566928" cy="566928"/>
          </a:xfrm>
          <a:prstGeom prst="rect">
            <a:avLst/>
          </a:prstGeom>
        </p:spPr>
      </p:pic>
      <p:sp>
        <p:nvSpPr>
          <p:cNvPr id="201" name="TextBox 201"/>
          <p:cNvSpPr txBox="1"/>
          <p:nvPr/>
        </p:nvSpPr>
        <p:spPr>
          <a:xfrm>
            <a:off x="8321040" y="43891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US" sz="1200" dirty="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dirty="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594360" y="2121408"/>
            <a:ext cx="5303520" cy="1234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300" dirty="0" b="1">
                <a:solidFill>
                  <a:srgbClr val="FFFFFF"/>
                </a:solidFill>
                <a:latin typeface="Aptos"/>
              </a:rPr>
              <a:t>Fractional-Order</a:t>
            </a:r>
          </a:p>
          <a:p>
            <a:pPr algn="l"/>
            <a:r>
              <a:rPr lang="en-US" sz="3300" dirty="0" b="1">
                <a:solidFill>
                  <a:srgbClr val="FFFFFF"/>
                </a:solidFill>
                <a:latin typeface="Aptos"/>
              </a:rPr>
              <a:t>HIV SITA Model</a:t>
            </a:r>
          </a:p>
        </p:txBody>
      </p:sp>
      <p:sp>
        <p:nvSpPr>
          <p:cNvPr id="203" name="TextBox 203"/>
          <p:cNvSpPr txBox="1"/>
          <p:nvPr/>
        </p:nvSpPr>
        <p:spPr>
          <a:xfrm>
            <a:off x="621792" y="3419856"/>
            <a:ext cx="5394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 dirty="0" b="0">
                <a:solidFill>
                  <a:srgbClr val="FFFFFF"/>
                </a:solidFill>
                <a:latin typeface="Aptos"/>
              </a:rPr>
              <a:t>Social behaviour interventions and memory effects</a:t>
            </a:r>
          </a:p>
        </p:txBody>
      </p:sp>
      <p:sp>
        <p:nvSpPr>
          <p:cNvPr id="204" name="TextBox 204"/>
          <p:cNvSpPr txBox="1"/>
          <p:nvPr/>
        </p:nvSpPr>
        <p:spPr>
          <a:xfrm>
            <a:off x="640080" y="4069080"/>
            <a:ext cx="49377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dirty="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dirty="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100" name="Rect 100"/>
          <p:cNvSpPr/>
          <p:nvPr/>
        </p:nvSpPr>
        <p:spPr>
          <a:xfrm>
            <a:off x="640080" y="5029200"/>
            <a:ext cx="2423160" cy="3200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3127248" y="5029200"/>
            <a:ext cx="2011680" cy="32004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205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Background / Motivation</a:t>
            </a:r>
          </a:p>
        </p:txBody>
      </p:sp>
      <p:sp>
        <p:nvSpPr>
          <p:cNvPr id="206" name="TextBox 206"/>
          <p:cNvSpPr txBox="1"/>
          <p:nvPr/>
        </p:nvSpPr>
        <p:spPr>
          <a:xfrm>
            <a:off x="502920" y="658368"/>
            <a:ext cx="8778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dirty="0" b="0">
                <a:solidFill>
                  <a:srgbClr val="525E6C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Bullets 301"/>
          <p:cNvSpPr txBox="1"/>
          <p:nvPr/>
        </p:nvSpPr>
        <p:spPr>
          <a:xfrm>
            <a:off x="594360" y="1325880"/>
            <a:ext cx="5852160" cy="20116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900" dirty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marL="260000" indent="-180000">
              <a:buChar char="•"/>
            </a:pPr>
            <a:r>
              <a:rPr lang="en-US" sz="1900" dirty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marL="260000" indent="-180000">
              <a:buChar char="•"/>
            </a:pPr>
            <a:r>
              <a:rPr lang="en-US" sz="1900" dirty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00" name="Rect 100"/>
          <p:cNvSpPr/>
          <p:nvPr/>
        </p:nvSpPr>
        <p:spPr>
          <a:xfrm>
            <a:off x="685800" y="3886200"/>
            <a:ext cx="5303520" cy="86868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85800" y="3886200"/>
            <a:ext cx="73152" cy="86868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TextBox 207"/>
          <p:cNvSpPr txBox="1"/>
          <p:nvPr/>
        </p:nvSpPr>
        <p:spPr>
          <a:xfrm>
            <a:off x="850392" y="3995928"/>
            <a:ext cx="50474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>Why mathematics?</a:t>
            </a:r>
          </a:p>
        </p:txBody>
      </p:sp>
      <p:sp>
        <p:nvSpPr>
          <p:cNvPr id="208" name="TextBox 208"/>
          <p:cNvSpPr txBox="1"/>
          <p:nvPr/>
        </p:nvSpPr>
        <p:spPr>
          <a:xfrm>
            <a:off x="850392" y="4251960"/>
            <a:ext cx="5047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1298448"/>
            <a:ext cx="2331720" cy="768096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TextBox 209"/>
          <p:cNvSpPr txBox="1"/>
          <p:nvPr/>
        </p:nvSpPr>
        <p:spPr>
          <a:xfrm>
            <a:off x="7434072" y="1463040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Rwanda context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HIV prevention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2240280"/>
            <a:ext cx="2331720" cy="76809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TextBox 210"/>
          <p:cNvSpPr txBox="1"/>
          <p:nvPr/>
        </p:nvSpPr>
        <p:spPr>
          <a:xfrm>
            <a:off x="7434072" y="2404872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Mechanism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Social behaviour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3182112"/>
            <a:ext cx="2331720" cy="76809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1" name="TextBox 211"/>
          <p:cNvSpPr txBox="1"/>
          <p:nvPr/>
        </p:nvSpPr>
        <p:spPr>
          <a:xfrm>
            <a:off x="7434072" y="3346704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Method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Fractional memory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4123944"/>
            <a:ext cx="2331720" cy="768096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2" name="TextBox 212"/>
          <p:cNvSpPr txBox="1"/>
          <p:nvPr/>
        </p:nvSpPr>
        <p:spPr>
          <a:xfrm>
            <a:off x="7434072" y="4288536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Output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213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Problem Statement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21792" y="1325880"/>
            <a:ext cx="5257800" cy="2057400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21792" y="1325880"/>
            <a:ext cx="73152" cy="205740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4" name="TextBox 214"/>
          <p:cNvSpPr txBox="1"/>
          <p:nvPr/>
        </p:nvSpPr>
        <p:spPr>
          <a:xfrm>
            <a:off x="786384" y="1435608"/>
            <a:ext cx="50017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4A8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15" name="TextBox 215"/>
          <p:cNvSpPr txBox="1"/>
          <p:nvPr/>
        </p:nvSpPr>
        <p:spPr>
          <a:xfrm>
            <a:off x="786384" y="1691640"/>
            <a:ext cx="5001768" cy="161848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Ordinary models usually depend only on the present state. HIV-related behaviour may depend on past awareness, stigma, testing history, and adherence.</a:t>
            </a:r>
          </a:p>
        </p:txBody>
      </p:sp>
      <p:sp>
        <p:nvSpPr>
          <p:cNvPr id="100" name="Rect 100"/>
          <p:cNvSpPr/>
          <p:nvPr/>
        </p:nvSpPr>
        <p:spPr>
          <a:xfrm>
            <a:off x="6263640" y="1325880"/>
            <a:ext cx="5257800" cy="205740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263640" y="1325880"/>
            <a:ext cx="73152" cy="205740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TextBox 216"/>
          <p:cNvSpPr txBox="1"/>
          <p:nvPr/>
        </p:nvSpPr>
        <p:spPr>
          <a:xfrm>
            <a:off x="6428232" y="1435608"/>
            <a:ext cx="50017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17" name="TextBox 217"/>
          <p:cNvSpPr txBox="1"/>
          <p:nvPr/>
        </p:nvSpPr>
        <p:spPr>
          <a:xfrm>
            <a:off x="6428232" y="1691640"/>
            <a:ext cx="5001768" cy="161848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Include memory using a Caputo derivative, represent behavioural interventions through effective rates, and compare scenarios through simulation.</a:t>
            </a:r>
          </a:p>
        </p:txBody>
      </p:sp>
      <p:sp>
        <p:nvSpPr>
          <p:cNvPr id="100" name="Rect 100"/>
          <p:cNvSpPr/>
          <p:nvPr/>
        </p:nvSpPr>
        <p:spPr>
          <a:xfrm>
            <a:off x="1143000" y="4069080"/>
            <a:ext cx="9784080" cy="86868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1143000" y="4069080"/>
            <a:ext cx="73152" cy="86868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TextBox 218"/>
          <p:cNvSpPr txBox="1"/>
          <p:nvPr/>
        </p:nvSpPr>
        <p:spPr>
          <a:xfrm>
            <a:off x="1307592" y="4178808"/>
            <a:ext cx="95280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>Research focus</a:t>
            </a:r>
          </a:p>
        </p:txBody>
      </p:sp>
      <p:sp>
        <p:nvSpPr>
          <p:cNvPr id="219" name="TextBox 219"/>
          <p:cNvSpPr txBox="1"/>
          <p:nvPr/>
        </p:nvSpPr>
        <p:spPr>
          <a:xfrm>
            <a:off x="1307592" y="4434840"/>
            <a:ext cx="9528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Box 220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Objectives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TextBox 221"/>
          <p:cNvSpPr txBox="1"/>
          <p:nvPr/>
        </p:nvSpPr>
        <p:spPr>
          <a:xfrm>
            <a:off x="640080" y="120700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222" name="TextBox 222"/>
          <p:cNvSpPr txBox="1"/>
          <p:nvPr/>
        </p:nvSpPr>
        <p:spPr>
          <a:xfrm>
            <a:off x="640080" y="1572768"/>
            <a:ext cx="507492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800" dirty="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</a:p>
        </p:txBody>
      </p:sp>
      <p:sp>
        <p:nvSpPr>
          <p:cNvPr id="223" name="TextBox 223"/>
          <p:cNvSpPr txBox="1"/>
          <p:nvPr/>
        </p:nvSpPr>
        <p:spPr>
          <a:xfrm>
            <a:off x="640080" y="2542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02" name="Bullets 302"/>
          <p:cNvSpPr txBox="1"/>
          <p:nvPr/>
        </p:nvSpPr>
        <p:spPr>
          <a:xfrm>
            <a:off x="640080" y="2907792"/>
            <a:ext cx="5303520" cy="22402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Formulate the SITA model with Caputo derivative.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Derive threshold quantities including R0.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Establish core analytical properties.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Implement a numerical simulation scheme.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1234440"/>
            <a:ext cx="2331720" cy="768096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extBox 224"/>
          <p:cNvSpPr txBox="1"/>
          <p:nvPr/>
        </p:nvSpPr>
        <p:spPr>
          <a:xfrm>
            <a:off x="7434072" y="1399032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Model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formulation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2167128"/>
            <a:ext cx="2331720" cy="76809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5" name="TextBox 225"/>
          <p:cNvSpPr txBox="1"/>
          <p:nvPr/>
        </p:nvSpPr>
        <p:spPr>
          <a:xfrm>
            <a:off x="7434072" y="2331720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Mathematical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analysis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3099816"/>
            <a:ext cx="2331720" cy="76809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TextBox 226"/>
          <p:cNvSpPr txBox="1"/>
          <p:nvPr/>
        </p:nvSpPr>
        <p:spPr>
          <a:xfrm>
            <a:off x="7434072" y="3264408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Numerical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simulation</a:t>
            </a:r>
          </a:p>
        </p:txBody>
      </p:sp>
      <p:sp>
        <p:nvSpPr>
          <p:cNvPr id="100" name="Rect 100"/>
          <p:cNvSpPr/>
          <p:nvPr/>
        </p:nvSpPr>
        <p:spPr>
          <a:xfrm>
            <a:off x="7360920" y="4032504"/>
            <a:ext cx="2331720" cy="768096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TextBox 227"/>
          <p:cNvSpPr txBox="1"/>
          <p:nvPr/>
        </p:nvSpPr>
        <p:spPr>
          <a:xfrm>
            <a:off x="7434072" y="4197096"/>
            <a:ext cx="218541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Results</a:t>
            </a:r>
          </a:p>
          <a:p>
            <a:pPr algn="ctr"/>
            <a:r>
              <a:rPr lang="en-US" sz="1400" dirty="0" b="1">
                <a:solidFill>
                  <a:srgbClr val="FFFFFF"/>
                </a:solidFill>
                <a:latin typeface="Aptos"/>
              </a:rPr>
              <a:t>interpretation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228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Model Diagram: SITA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960120" y="2011680"/>
            <a:ext cx="1691640" cy="777240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9" name="TextBox 229"/>
          <p:cNvSpPr txBox="1"/>
          <p:nvPr/>
        </p:nvSpPr>
        <p:spPr>
          <a:xfrm>
            <a:off x="105156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dirty="0" b="1">
                <a:solidFill>
                  <a:srgbClr val="004A80"/>
                </a:solidFill>
                <a:latin typeface="Aptos"/>
              </a:rPr>
              <a:t>S(t)</a:t>
            </a:r>
          </a:p>
          <a:p>
            <a:pPr algn="ctr"/>
            <a:r>
              <a:rPr lang="en-US" sz="1500" dirty="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100" name="Rect 100"/>
          <p:cNvSpPr/>
          <p:nvPr/>
        </p:nvSpPr>
        <p:spPr>
          <a:xfrm>
            <a:off x="3337560" y="2011680"/>
            <a:ext cx="16916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extBox 230"/>
          <p:cNvSpPr txBox="1"/>
          <p:nvPr/>
        </p:nvSpPr>
        <p:spPr>
          <a:xfrm>
            <a:off x="342900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dirty="0" b="1">
                <a:solidFill>
                  <a:srgbClr val="B44146"/>
                </a:solidFill>
                <a:latin typeface="Aptos"/>
              </a:rPr>
              <a:t>I(t)</a:t>
            </a:r>
          </a:p>
          <a:p>
            <a:pPr algn="ctr"/>
            <a:r>
              <a:rPr lang="en-US" sz="1500" dirty="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100" name="Rect 100"/>
          <p:cNvSpPr/>
          <p:nvPr/>
        </p:nvSpPr>
        <p:spPr>
          <a:xfrm>
            <a:off x="5715000" y="2011680"/>
            <a:ext cx="1691640" cy="77724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extBox 231"/>
          <p:cNvSpPr txBox="1"/>
          <p:nvPr/>
        </p:nvSpPr>
        <p:spPr>
          <a:xfrm>
            <a:off x="580644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dirty="0" b="1">
                <a:solidFill>
                  <a:srgbClr val="CC9900"/>
                </a:solidFill>
                <a:latin typeface="Aptos"/>
              </a:rPr>
              <a:t>T(t)</a:t>
            </a:r>
          </a:p>
          <a:p>
            <a:pPr algn="ctr"/>
            <a:r>
              <a:rPr lang="en-US" sz="1500" dirty="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100" name="Rect 100"/>
          <p:cNvSpPr/>
          <p:nvPr/>
        </p:nvSpPr>
        <p:spPr>
          <a:xfrm>
            <a:off x="8092440" y="2011680"/>
            <a:ext cx="1691640" cy="77724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TextBox 232"/>
          <p:cNvSpPr txBox="1"/>
          <p:nvPr/>
        </p:nvSpPr>
        <p:spPr>
          <a:xfrm>
            <a:off x="8183879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dirty="0" b="1">
                <a:solidFill>
                  <a:srgbClr val="007E70"/>
                </a:solidFill>
                <a:latin typeface="Aptos"/>
              </a:rPr>
              <a:t>A(t)</a:t>
            </a:r>
          </a:p>
          <a:p>
            <a:pPr algn="ctr"/>
            <a:r>
              <a:rPr lang="en-US" sz="1500" dirty="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2395728" y="1572768"/>
            <a:ext cx="868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900" dirty="0" b="1">
                <a:solidFill>
                  <a:srgbClr val="525E6C"/>
                </a:solidFill>
                <a:latin typeface="Aptos"/>
              </a:rPr>
              <a:t>effective</a:t>
            </a:r>
          </a:p>
          <a:p>
            <a:pPr algn="ctr"/>
            <a:r>
              <a:rPr lang="en-US" sz="900" dirty="0" b="1">
                <a:solidFill>
                  <a:srgbClr val="525E6C"/>
                </a:solidFill>
                <a:latin typeface="Aptos"/>
              </a:rPr>
              <a:t>transmission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4718304" y="1572768"/>
            <a:ext cx="868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900" dirty="0" b="1">
                <a:solidFill>
                  <a:srgbClr val="525E6C"/>
                </a:solidFill>
                <a:latin typeface="Aptos"/>
              </a:rPr>
              <a:t>testing and</a:t>
            </a:r>
          </a:p>
          <a:p>
            <a:pPr algn="ctr"/>
            <a:r>
              <a:rPr lang="en-US" sz="900" dirty="0" b="1">
                <a:solidFill>
                  <a:srgbClr val="525E6C"/>
                </a:solidFill>
                <a:latin typeface="Aptos"/>
              </a:rPr>
              <a:t>treatment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4709160" y="304495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000" dirty="0" b="1">
                <a:solidFill>
                  <a:srgbClr val="525E6C"/>
                </a:solidFill>
                <a:latin typeface="Aptos"/>
              </a:rPr>
              <a:t>progression / reduced progression</a:t>
            </a:r>
          </a:p>
        </p:txBody>
      </p:sp>
      <p:sp>
        <p:nvSpPr>
          <p:cNvPr id="100" name="Rect 100"/>
          <p:cNvSpPr/>
          <p:nvPr/>
        </p:nvSpPr>
        <p:spPr>
          <a:xfrm>
            <a:off x="868680" y="4160520"/>
            <a:ext cx="4800600" cy="713232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868680" y="4160520"/>
            <a:ext cx="73152" cy="713232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TextBox 236"/>
          <p:cNvSpPr txBox="1"/>
          <p:nvPr/>
        </p:nvSpPr>
        <p:spPr>
          <a:xfrm>
            <a:off x="1033272" y="4270248"/>
            <a:ext cx="45445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4A80"/>
                </a:solidFill>
                <a:latin typeface="Aptos"/>
              </a:rPr>
              <a:t>State variables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1033272" y="4526280"/>
            <a:ext cx="454456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100" name="Rect 100"/>
          <p:cNvSpPr/>
          <p:nvPr/>
        </p:nvSpPr>
        <p:spPr>
          <a:xfrm>
            <a:off x="6263640" y="4160520"/>
            <a:ext cx="4800600" cy="713232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263640" y="4160520"/>
            <a:ext cx="73152" cy="7132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8" name="TextBox 238"/>
          <p:cNvSpPr txBox="1"/>
          <p:nvPr/>
        </p:nvSpPr>
        <p:spPr>
          <a:xfrm>
            <a:off x="6428232" y="4270248"/>
            <a:ext cx="45445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>Controls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6428232" y="4526280"/>
            <a:ext cx="454456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Box 240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Fractional-Order Model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TextBox 241"/>
          <p:cNvSpPr txBox="1"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713232" y="1627632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Dᶜᵩ X(t) = F(t, X(t)),    0 &lt; q ≤ 1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713232" y="2331720"/>
            <a:ext cx="557784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 dirty="0" b="0">
                <a:solidFill>
                  <a:srgbClr val="142030"/>
                </a:solidFill>
                <a:latin typeface="Aptos"/>
              </a:rPr>
              <a:t>Dᶜᵩ S = Λ − βeff S(I + ηT) − μS</a:t>
            </a:r>
          </a:p>
          <a:p>
            <a:pPr algn="l"/>
            <a:r>
              <a:rPr lang="en-US" sz="1700" dirty="0" b="0">
                <a:solidFill>
                  <a:srgbClr val="142030"/>
                </a:solidFill>
                <a:latin typeface="Aptos"/>
              </a:rPr>
              <a:t>Dᶜᵩ I = βeff S(I + ηT) − (τeff + δ + μ)I</a:t>
            </a:r>
          </a:p>
          <a:p>
            <a:pPr algn="l"/>
            <a:r>
              <a:rPr lang="en-US" sz="1700" dirty="0" b="0">
                <a:solidFill>
                  <a:srgbClr val="142030"/>
                </a:solidFill>
                <a:latin typeface="Aptos"/>
              </a:rPr>
              <a:t>Dᶜᵩ T = τeff I − (ρeff + μ)T</a:t>
            </a:r>
          </a:p>
          <a:p>
            <a:pPr algn="l"/>
            <a:r>
              <a:rPr lang="en-US" sz="1700" dirty="0" b="0">
                <a:solidFill>
                  <a:srgbClr val="142030"/>
                </a:solidFill>
                <a:latin typeface="Aptos"/>
              </a:rPr>
              <a:t>Dᶜᵩ A = δI + ρeff T − (d + μ)A</a:t>
            </a:r>
          </a:p>
        </p:txBody>
      </p:sp>
      <p:sp>
        <p:nvSpPr>
          <p:cNvPr id="100" name="Rect 100"/>
          <p:cNvSpPr/>
          <p:nvPr/>
        </p:nvSpPr>
        <p:spPr>
          <a:xfrm>
            <a:off x="6812280" y="1444752"/>
            <a:ext cx="4160520" cy="141732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812280" y="1444752"/>
            <a:ext cx="73152" cy="14173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TextBox 244"/>
          <p:cNvSpPr txBox="1"/>
          <p:nvPr/>
        </p:nvSpPr>
        <p:spPr>
          <a:xfrm>
            <a:off x="6976872" y="1554480"/>
            <a:ext cx="39044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>Intervention-adjusted rates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6976872" y="1810512"/>
            <a:ext cx="3904488" cy="9784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βeff = β0(1-u1)(1-u2)</a:t>
            </a:r>
          </a:p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τeff = τ(1+u3)</a:t>
            </a:r>
          </a:p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ρeff = ρ(1-u4)</a:t>
            </a:r>
          </a:p>
        </p:txBody>
      </p:sp>
      <p:sp>
        <p:nvSpPr>
          <p:cNvPr id="100" name="Rect 100"/>
          <p:cNvSpPr/>
          <p:nvPr/>
        </p:nvSpPr>
        <p:spPr>
          <a:xfrm>
            <a:off x="6812280" y="3337560"/>
            <a:ext cx="4160520" cy="109728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812280" y="3337560"/>
            <a:ext cx="73152" cy="109728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TextBox 246"/>
          <p:cNvSpPr txBox="1"/>
          <p:nvPr/>
        </p:nvSpPr>
        <p:spPr>
          <a:xfrm>
            <a:off x="6976872" y="3447288"/>
            <a:ext cx="390448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>Meaning of q</a:t>
            </a:r>
          </a:p>
        </p:txBody>
      </p:sp>
      <p:sp>
        <p:nvSpPr>
          <p:cNvPr id="247" name="TextBox 247"/>
          <p:cNvSpPr txBox="1"/>
          <p:nvPr/>
        </p:nvSpPr>
        <p:spPr>
          <a:xfrm>
            <a:off x="6976872" y="3703320"/>
            <a:ext cx="3904488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Box 248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Bullets 303"/>
          <p:cNvSpPr txBox="1"/>
          <p:nvPr/>
        </p:nvSpPr>
        <p:spPr>
          <a:xfrm>
            <a:off x="658368" y="1325880"/>
            <a:ext cx="5257800" cy="2057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100" name="Rect 100"/>
          <p:cNvSpPr/>
          <p:nvPr/>
        </p:nvSpPr>
        <p:spPr>
          <a:xfrm>
            <a:off x="6492240" y="1170432"/>
            <a:ext cx="4343400" cy="566928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492240" y="1170432"/>
            <a:ext cx="73152" cy="566928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9" name="TextBox 249"/>
          <p:cNvSpPr txBox="1"/>
          <p:nvPr/>
        </p:nvSpPr>
        <p:spPr>
          <a:xfrm>
            <a:off x="6656832" y="1280160"/>
            <a:ext cx="4087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4A80"/>
                </a:solidFill>
                <a:latin typeface="Aptos"/>
              </a:rPr>
              <a:t/>
            </a:r>
          </a:p>
        </p:txBody>
      </p:sp>
      <p:sp>
        <p:nvSpPr>
          <p:cNvPr id="250" name="TextBox 250"/>
          <p:cNvSpPr txBox="1"/>
          <p:nvPr/>
        </p:nvSpPr>
        <p:spPr>
          <a:xfrm>
            <a:off x="6656832" y="1536192"/>
            <a:ext cx="408736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Inputs: parameters, initial conditions, q, controls</a:t>
            </a:r>
          </a:p>
        </p:txBody>
      </p:sp>
      <p:sp>
        <p:nvSpPr>
          <p:cNvPr id="100" name="Rect 100"/>
          <p:cNvSpPr/>
          <p:nvPr/>
        </p:nvSpPr>
        <p:spPr>
          <a:xfrm>
            <a:off x="6492240" y="1956816"/>
            <a:ext cx="4343400" cy="566928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492240" y="1956816"/>
            <a:ext cx="73152" cy="566928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TextBox 251"/>
          <p:cNvSpPr txBox="1"/>
          <p:nvPr/>
        </p:nvSpPr>
        <p:spPr>
          <a:xfrm>
            <a:off x="6656832" y="2066544"/>
            <a:ext cx="4087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/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6656832" y="2322576"/>
            <a:ext cx="408736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Fractional ABM-type solver</a:t>
            </a:r>
          </a:p>
        </p:txBody>
      </p:sp>
      <p:sp>
        <p:nvSpPr>
          <p:cNvPr id="100" name="Rect 100"/>
          <p:cNvSpPr/>
          <p:nvPr/>
        </p:nvSpPr>
        <p:spPr>
          <a:xfrm>
            <a:off x="6492240" y="2743200"/>
            <a:ext cx="4343400" cy="566928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492240" y="2743200"/>
            <a:ext cx="73152" cy="566928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TextBox 253"/>
          <p:cNvSpPr txBox="1"/>
          <p:nvPr/>
        </p:nvSpPr>
        <p:spPr>
          <a:xfrm>
            <a:off x="6656832" y="2852928"/>
            <a:ext cx="4087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/>
            </a:r>
          </a:p>
        </p:txBody>
      </p:sp>
      <p:sp>
        <p:nvSpPr>
          <p:cNvPr id="254" name="TextBox 254"/>
          <p:cNvSpPr txBox="1"/>
          <p:nvPr/>
        </p:nvSpPr>
        <p:spPr>
          <a:xfrm>
            <a:off x="6656832" y="3108960"/>
            <a:ext cx="408736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Outputs: trajectories, R0, scenarios, sensitivity</a:t>
            </a:r>
          </a:p>
        </p:txBody>
      </p:sp>
      <p:sp>
        <p:nvSpPr>
          <p:cNvPr id="100" name="Rect 100"/>
          <p:cNvSpPr/>
          <p:nvPr/>
        </p:nvSpPr>
        <p:spPr>
          <a:xfrm>
            <a:off x="6492240" y="3529584"/>
            <a:ext cx="4343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6492240" y="3529584"/>
            <a:ext cx="73152" cy="566928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5" name="TextBox 255"/>
          <p:cNvSpPr txBox="1"/>
          <p:nvPr/>
        </p:nvSpPr>
        <p:spPr>
          <a:xfrm>
            <a:off x="6656832" y="3639312"/>
            <a:ext cx="4087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B44146"/>
                </a:solidFill>
                <a:latin typeface="Aptos"/>
              </a:rPr>
              <a:t/>
            </a:r>
          </a:p>
        </p:txBody>
      </p:sp>
      <p:sp>
        <p:nvSpPr>
          <p:cNvPr id="256" name="TextBox 256"/>
          <p:cNvSpPr txBox="1"/>
          <p:nvPr/>
        </p:nvSpPr>
        <p:spPr>
          <a:xfrm>
            <a:off x="6656832" y="3895344"/>
            <a:ext cx="408736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Interactive visualization during live demo</a:t>
            </a:r>
          </a:p>
        </p:txBody>
      </p:sp>
      <p:sp>
        <p:nvSpPr>
          <p:cNvPr id="100" name="Rect 100"/>
          <p:cNvSpPr/>
          <p:nvPr/>
        </p:nvSpPr>
        <p:spPr>
          <a:xfrm>
            <a:off x="1097280" y="4800600"/>
            <a:ext cx="9601200" cy="658368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1097280" y="4800600"/>
            <a:ext cx="73152" cy="658368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TextBox 257"/>
          <p:cNvSpPr txBox="1"/>
          <p:nvPr/>
        </p:nvSpPr>
        <p:spPr>
          <a:xfrm>
            <a:off x="1261872" y="4910328"/>
            <a:ext cx="93451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>Important distinction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1261872" y="5166360"/>
            <a:ext cx="934516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The slides explain the research; the live simulator is used only during the demo to show moving graphs.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Box 259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3" name="Picture 503"/>
          <p:cNvPicPr/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6400800" cy="3538728"/>
          </a:xfrm>
          <a:prstGeom prst="rect">
            <a:avLst/>
          </a:prstGeom>
        </p:spPr>
      </p:pic>
      <p:sp>
        <p:nvSpPr>
          <p:cNvPr id="304" name="Bullets 304"/>
          <p:cNvSpPr txBox="1"/>
          <p:nvPr/>
        </p:nvSpPr>
        <p:spPr>
          <a:xfrm>
            <a:off x="7315200" y="1353312"/>
            <a:ext cx="4069080" cy="2148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100" name="Rect 100"/>
          <p:cNvSpPr/>
          <p:nvPr/>
        </p:nvSpPr>
        <p:spPr>
          <a:xfrm>
            <a:off x="7333488" y="4133087"/>
            <a:ext cx="3840480" cy="73152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7333488" y="4133087"/>
            <a:ext cx="73152" cy="7315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0" name="TextBox 260"/>
          <p:cNvSpPr txBox="1"/>
          <p:nvPr/>
        </p:nvSpPr>
        <p:spPr>
          <a:xfrm>
            <a:off x="7498080" y="4242815"/>
            <a:ext cx="35844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>Public-health meaning</a:t>
            </a:r>
          </a:p>
        </p:txBody>
      </p:sp>
      <p:sp>
        <p:nvSpPr>
          <p:cNvPr id="261" name="TextBox 261"/>
          <p:cNvSpPr txBox="1"/>
          <p:nvPr/>
        </p:nvSpPr>
        <p:spPr>
          <a:xfrm>
            <a:off x="7498080" y="4498847"/>
            <a:ext cx="35844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Box 262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04" name="Picture 504"/>
          <p:cNvPicPr/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6400800" cy="3538728"/>
          </a:xfrm>
          <a:prstGeom prst="rect">
            <a:avLst/>
          </a:prstGeom>
        </p:spPr>
      </p:pic>
      <p:sp>
        <p:nvSpPr>
          <p:cNvPr id="305" name="Bullets 305"/>
          <p:cNvSpPr txBox="1"/>
          <p:nvPr/>
        </p:nvSpPr>
        <p:spPr>
          <a:xfrm>
            <a:off x="7315200" y="1417320"/>
            <a:ext cx="4069080" cy="1828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marL="260000" indent="-180000">
              <a:buChar char="•"/>
            </a:pPr>
            <a:r>
              <a:rPr lang="en-US" sz="1800" dirty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00" name="Rect 100"/>
          <p:cNvSpPr/>
          <p:nvPr/>
        </p:nvSpPr>
        <p:spPr>
          <a:xfrm>
            <a:off x="7333488" y="3977639"/>
            <a:ext cx="3840480" cy="82296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7333488" y="3977639"/>
            <a:ext cx="73152" cy="8229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3" name="TextBox 263"/>
          <p:cNvSpPr txBox="1"/>
          <p:nvPr/>
        </p:nvSpPr>
        <p:spPr>
          <a:xfrm>
            <a:off x="7498080" y="4087367"/>
            <a:ext cx="35844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CC9900"/>
                </a:solidFill>
                <a:latin typeface="Aptos"/>
              </a:rPr>
              <a:t>Defense point</a:t>
            </a:r>
          </a:p>
        </p:txBody>
      </p:sp>
      <p:sp>
        <p:nvSpPr>
          <p:cNvPr id="264" name="TextBox 264"/>
          <p:cNvSpPr txBox="1"/>
          <p:nvPr/>
        </p:nvSpPr>
        <p:spPr>
          <a:xfrm>
            <a:off x="7498080" y="4343399"/>
            <a:ext cx="3584448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Box 265"/>
          <p:cNvSpPr txBox="1"/>
          <p:nvPr/>
        </p:nvSpPr>
        <p:spPr>
          <a:xfrm>
            <a:off x="502920" y="25603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dirty="0" b="1">
                <a:solidFill>
                  <a:srgbClr val="142030"/>
                </a:solidFill>
                <a:latin typeface="Aptos"/>
              </a:rPr>
              <a:t>Live Demo, Conclusion + Recommendations</a:t>
            </a:r>
          </a:p>
        </p:txBody>
      </p:sp>
      <p:sp>
        <p:nvSpPr>
          <p:cNvPr id="100" name="Rect 10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6" name="TextBox 266"/>
          <p:cNvSpPr txBox="1"/>
          <p:nvPr/>
        </p:nvSpPr>
        <p:spPr>
          <a:xfrm>
            <a:off x="685800" y="123444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1">
                <a:solidFill>
                  <a:srgbClr val="CC9900"/>
                </a:solidFill>
                <a:latin typeface="Aptos"/>
              </a:rPr>
              <a:t>Live demo plan</a:t>
            </a:r>
          </a:p>
        </p:txBody>
      </p:sp>
      <p:sp>
        <p:nvSpPr>
          <p:cNvPr id="306" name="Bullets 306"/>
          <p:cNvSpPr txBox="1"/>
          <p:nvPr/>
        </p:nvSpPr>
        <p:spPr>
          <a:xfrm>
            <a:off x="685800" y="1627632"/>
            <a:ext cx="4846320" cy="2194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Open the deployed simulator.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Run the moving SITA graph.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Compare q = 1 with q &lt; 1.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Show scenario and sensitivity views briefly.</a:t>
            </a:r>
          </a:p>
        </p:txBody>
      </p:sp>
      <p:sp>
        <p:nvSpPr>
          <p:cNvPr id="267" name="TextBox 267"/>
          <p:cNvSpPr txBox="1"/>
          <p:nvPr/>
        </p:nvSpPr>
        <p:spPr>
          <a:xfrm>
            <a:off x="6355080" y="123444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307" name="Bullets 307"/>
          <p:cNvSpPr txBox="1"/>
          <p:nvPr/>
        </p:nvSpPr>
        <p:spPr>
          <a:xfrm>
            <a:off x="6355080" y="1627632"/>
            <a:ext cx="4983480" cy="2194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Simulations support combined intervention strategies.</a:t>
            </a:r>
          </a:p>
          <a:p>
            <a:pPr marL="260000" indent="-180000">
              <a:buChar char="•"/>
            </a:pPr>
            <a:r>
              <a:rPr lang="en-US" sz="1700" dirty="0">
                <a:solidFill>
                  <a:srgbClr val="142030"/>
                </a:solidFill>
                <a:latin typeface="Aptos"/>
              </a:rPr>
              <a:t>Future work should calibrate parameters with Rwanda-specific data.</a:t>
            </a:r>
          </a:p>
        </p:txBody>
      </p:sp>
      <p:sp>
        <p:nvSpPr>
          <p:cNvPr id="100" name="Rect 100"/>
          <p:cNvSpPr/>
          <p:nvPr/>
        </p:nvSpPr>
        <p:spPr>
          <a:xfrm>
            <a:off x="1005840" y="4736592"/>
            <a:ext cx="10058400" cy="713232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 100"/>
          <p:cNvSpPr/>
          <p:nvPr/>
        </p:nvSpPr>
        <p:spPr>
          <a:xfrm>
            <a:off x="1005840" y="4736592"/>
            <a:ext cx="73152" cy="7132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TextBox 268"/>
          <p:cNvSpPr txBox="1"/>
          <p:nvPr/>
        </p:nvSpPr>
        <p:spPr>
          <a:xfrm>
            <a:off x="1170432" y="4846320"/>
            <a:ext cx="9802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dirty="0" b="1">
                <a:solidFill>
                  <a:srgbClr val="007E70"/>
                </a:solidFill>
                <a:latin typeface="Aptos"/>
              </a:rPr>
              <a:t>Final message</a:t>
            </a:r>
          </a:p>
        </p:txBody>
      </p:sp>
      <p:sp>
        <p:nvSpPr>
          <p:cNvPr id="269" name="TextBox 269"/>
          <p:cNvSpPr txBox="1"/>
          <p:nvPr/>
        </p:nvSpPr>
        <p:spPr>
          <a:xfrm>
            <a:off x="1170432" y="5102352"/>
            <a:ext cx="980236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dirty="0" b="0">
                <a:solidFill>
                  <a:srgbClr val="142030"/>
                </a:solidFill>
                <a:latin typeface="Aptos"/>
              </a:rPr>
              <a:t>This project connects mathematical analysis, numerical simulation, and a working interactive tool for explaining HIV intervention dynamics.</a:t>
            </a:r>
          </a:p>
        </p:txBody>
      </p:sp>
    </p:spTree>
  </p:cSld>
  <p:clrMapOvr>
    <a:masterClrMapping/>
  </p:clrMapOvr>
</p:sld>
</file>