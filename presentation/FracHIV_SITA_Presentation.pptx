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6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Master" Target="slideMasters/slideMaster1.xml"/><Relationship Id="rId17" Type="http://schemas.openxmlformats.org/officeDocument/2006/relationships/theme" Target="theme/theme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Literature Review and Research Gap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What existing studies show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commonly use ordinary differential equations and treatment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Previous studies show that social behaviour, testing, safer sexual practices, stigma, and adherence influence HIV transmission.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Fractional-order epidemic models use Caputo derivatives to capture memory and hereditary effects.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Research gap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Existing work does not commonly combine fractional HIV dynamics.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It also does not commonly combine social behaviour intervention functions with an interactive simulation dashboard.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Gap addressed: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3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9" name="Text 3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0" name="Text 40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43" name="Text 43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transmission model using the Caputo derivative and social behaviour intervention functions.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the main mathematical properties: positivity, boundedness, disease-free equilibrium, R0, and fractional-order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numerical simulations and a Python dashboard for studying memory effects, intervention scenarios, sensitivity, and epidemic trajectories.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45" name="Text 45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46" name="Text 46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47" name="Arrow 47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Arrow 48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 4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How the Objectives Are Addressed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1" name="Text 5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2" name="Text 52"/>
          <p:cNvSpPr txBox="1"/>
          <p:nvPr/>
        </p:nvSpPr>
        <p:spPr>
          <a:xfrm>
            <a:off x="777240" y="1417320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Objective 1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804672" y="1874519"/>
            <a:ext cx="2971800" cy="1874519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Formulation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Caputo fractional SITA system with S, I, T, A compartments and intervention functions beta_eff, tau_eff, rho_eff.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4343400" y="1417320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Objective 2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4370832" y="1874519"/>
            <a:ext cx="2971800" cy="1874519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Analysis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Positivity, boundedness, disease-free equilibrium, R0, and fractional-order local stability are presented in the report.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7909560" y="1417320"/>
            <a:ext cx="301752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1">
                <a:solidFill>
                  <a:srgbClr val="CC9900"/>
                </a:solidFill>
                <a:latin typeface="Aptos"/>
              </a:rPr>
              <a:t>Objective 3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7936992" y="1874519"/>
            <a:ext cx="2971800" cy="1874519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Implementation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Python simulations and dashboard views show trajectories, memory effects, intervention scenarios, and sensitivity.</a:t>
            </a:r>
          </a:p>
        </p:txBody>
      </p:sp>
      <p:sp>
        <p:nvSpPr>
          <p:cNvPr id="58" name="Text 58"/>
          <p:cNvSpPr txBox="1"/>
          <p:nvPr/>
        </p:nvSpPr>
        <p:spPr>
          <a:xfrm>
            <a:off x="960120" y="4709160"/>
            <a:ext cx="9875520" cy="713232"/>
          </a:xfrm>
          <a:prstGeom prst="rect">
            <a:avLst/>
          </a:prstGeom>
          <a:solidFill>
            <a:srgbClr val="FDEBEC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Each objective is represented in the thesis, the generated figures, and the live dashboard demonstration.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 5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1" name="Text 6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2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63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64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65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66" name="Arrow 66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Arrow 67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Arrow 68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 69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7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75" name="Text 7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6" name="Text 7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7" name="Text 77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78" name="Text 78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79" name="Text 79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80" name="Text 80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81" name="Text 81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8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4" name="Text 8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5" name="Text 85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86" name="Text 86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89" name="Text 89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91" name="Arrow 91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Arrow 92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Arrow 93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 94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9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97" name="Text 9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8" name="Text 9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5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99" name="Text 99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100" name="Text 100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101" name="Text 101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102" name="Text 102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10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3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7" name="Text 107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1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10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14" name="Text 114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115" name="Text 115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11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17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22" name="Text 122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18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12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26" name="Text 12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7" name="Text 12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8" name="Text 128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29" name="Text 129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24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  <p:sp>
        <p:nvSpPr>
          <p:cNvPr id="131" name="Text 131"/>
          <p:cNvSpPr txBox="1"/>
          <p:nvPr/>
        </p:nvSpPr>
        <p:spPr>
          <a:xfrm>
            <a:off x="6601968" y="4160520"/>
            <a:ext cx="429768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After the demo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Return to the next slide for conclusion and recommendations.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13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33" name="Text 13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4" name="Text 13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5" name="Text 135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36" name="Text 136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37" name="Text 137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38" name="Text 138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39" name="Text 139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15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