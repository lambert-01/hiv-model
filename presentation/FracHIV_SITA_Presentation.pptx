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5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Master" Target="slideMasters/slideMaster1.xml"/><Relationship Id="rId16" Type="http://schemas.openxmlformats.org/officeDocument/2006/relationships/theme" Target="theme/theme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_cover_background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logo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30352" y="1664208"/>
            <a:ext cx="6812280" cy="338328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" name="Text 6"/>
          <p:cNvSpPr txBox="1"/>
          <p:nvPr/>
        </p:nvSpPr>
        <p:spPr>
          <a:xfrm>
            <a:off x="749808" y="1755648"/>
            <a:ext cx="6446520" cy="162763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A Fractional-Order Compartmental Model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of HIV Transmission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with Social Behaviour Interventions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6384" y="3474720"/>
            <a:ext cx="626364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FFFFFF"/>
                </a:solidFill>
                <a:latin typeface="Aptos"/>
              </a:rPr>
              <a:t>Fractional SITA dynamics and dashboard simulation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86384" y="4069080"/>
            <a:ext cx="5303520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86384" y="5010912"/>
            <a:ext cx="34290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315968" y="5010912"/>
            <a:ext cx="274320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1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2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3" name="Text 2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4" name="Text 24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Need addressed by this project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Include memory using a Caputo fractional derivative.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Represent behavioural interventions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Use numerical simulation to compare scenarios clearly.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How do fractional memory and social behaviour interventions affect simulated HIV dynamics in a SITA framework?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2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Literature Review and Research Gap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1" name="Text 3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2" name="Text 32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What existing studies show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Classical HIV models commonly use ordinary differential equations and treatment compartments such as SICA/SITA.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Previous studies show that social behaviour, testing, safer sexual practices, stigma, and adherence influence HIV transmission.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Fractional-order epidemic models use Caputo derivatives to capture memory and hereditary effects.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Research gap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Existing work does not commonly combine fractional HIV dynamics.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It also does not commonly combine social behaviour intervention functions with an interactive simulation dashboard.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Gap addressed: a fractional-order SITA model that connects memory effects, social behaviour interventions, numerical simulation, and dashboard exploration.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3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9" name="Text 3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0" name="Text 40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To formulate, analyse, and computationally simulate a fractional-order SITA model of HIV transmission incorporating social behaviour interventions.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43" name="Text 43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Formulate a fractional-order SITA HIV model using the Caputo derivative and social behaviour interventions.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Analyse positivity, boundedness, disease-free equilibrium, R0, and fractional stability.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Implement simulations and a Python dashboard to study memory effects, interventions, sensitivity, and epidemic trajectories.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629400" y="1508760"/>
            <a:ext cx="3474720" cy="59436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1. Model formulation</a:t>
            </a:r>
          </a:p>
        </p:txBody>
      </p:sp>
      <p:sp>
        <p:nvSpPr>
          <p:cNvPr id="45" name="Text 45"/>
          <p:cNvSpPr txBox="1"/>
          <p:nvPr/>
        </p:nvSpPr>
        <p:spPr>
          <a:xfrm>
            <a:off x="6629400" y="2514600"/>
            <a:ext cx="3474720" cy="59436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2. Model analysis</a:t>
            </a:r>
          </a:p>
        </p:txBody>
      </p:sp>
      <p:sp>
        <p:nvSpPr>
          <p:cNvPr id="46" name="Text 46"/>
          <p:cNvSpPr txBox="1"/>
          <p:nvPr/>
        </p:nvSpPr>
        <p:spPr>
          <a:xfrm>
            <a:off x="6629400" y="3520440"/>
            <a:ext cx="3474720" cy="5943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3. Simulation dashboard</a:t>
            </a:r>
          </a:p>
        </p:txBody>
      </p:sp>
      <p:cxnSp>
        <p:nvCxnSpPr>
          <p:cNvPr id="47" name="Arrow 47"/>
          <p:cNvCxnSpPr/>
          <p:nvPr/>
        </p:nvCxnSpPr>
        <p:spPr>
          <a:xfrm>
            <a:off x="8366760" y="210312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Arrow 48"/>
          <p:cNvCxnSpPr/>
          <p:nvPr/>
        </p:nvCxnSpPr>
        <p:spPr>
          <a:xfrm>
            <a:off x="8366760" y="310896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4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50" name="Text 5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1" name="Text 5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2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53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54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55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56" name="Arrow 56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Arrow 57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Arrow 58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 59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60" name="Text 60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61" name="Text 61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914400" y="4224528"/>
            <a:ext cx="4846320" cy="9601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6355080" y="4224528"/>
            <a:ext cx="4709160" cy="9601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64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Model</a:t>
            </a:r>
          </a:p>
        </p:txBody>
      </p:sp>
      <p:sp>
        <p:nvSpPr>
          <p:cNvPr id="65" name="Text 65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6" name="Text 66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7" name="Text 67"/>
          <p:cNvSpPr txBox="1"/>
          <p:nvPr/>
        </p:nvSpPr>
        <p:spPr>
          <a:xfrm>
            <a:off x="658368" y="123444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Caputo memory form</a:t>
            </a:r>
          </a:p>
        </p:txBody>
      </p:sp>
      <p:sp>
        <p:nvSpPr>
          <p:cNvPr id="68" name="Text 68"/>
          <p:cNvSpPr txBox="1"/>
          <p:nvPr/>
        </p:nvSpPr>
        <p:spPr>
          <a:xfrm>
            <a:off x="694944" y="1664208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749808" y="2542032"/>
            <a:ext cx="56235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S = Lambda - beta_eff S(I + eta T) - mu 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I = beta_eff S(I + eta T) - (tau_eff + delta + mu)I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70" name="Text 70"/>
          <p:cNvSpPr txBox="1"/>
          <p:nvPr/>
        </p:nvSpPr>
        <p:spPr>
          <a:xfrm>
            <a:off x="6812280" y="1417320"/>
            <a:ext cx="4206240" cy="132588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6812280" y="3474720"/>
            <a:ext cx="4206240" cy="96012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Meaning of q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q = 1 gives the ordinary model. q &lt; 1 carries memory of past states.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7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73" name="Text 7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4" name="Text 7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5" name="Text 75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76" name="Text 76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77" name="Text 77"/>
          <p:cNvSpPr txBox="1"/>
          <p:nvPr/>
        </p:nvSpPr>
        <p:spPr>
          <a:xfrm>
            <a:off x="6355080" y="1170432"/>
            <a:ext cx="4297680" cy="749808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78" name="Text 78"/>
          <p:cNvSpPr txBox="1"/>
          <p:nvPr/>
        </p:nvSpPr>
        <p:spPr>
          <a:xfrm>
            <a:off x="6355080" y="2084831"/>
            <a:ext cx="4297680" cy="74980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79" name="Text 79"/>
          <p:cNvSpPr txBox="1"/>
          <p:nvPr/>
        </p:nvSpPr>
        <p:spPr>
          <a:xfrm>
            <a:off x="6355080" y="2999232"/>
            <a:ext cx="4297680" cy="74980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80" name="Text 80"/>
          <p:cNvSpPr txBox="1"/>
          <p:nvPr/>
        </p:nvSpPr>
        <p:spPr>
          <a:xfrm>
            <a:off x="6355080" y="391363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81" name="Arrow 81"/>
          <p:cNvCxnSpPr/>
          <p:nvPr/>
        </p:nvCxnSpPr>
        <p:spPr>
          <a:xfrm>
            <a:off x="8503920" y="19202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Arrow 82"/>
          <p:cNvCxnSpPr/>
          <p:nvPr/>
        </p:nvCxnSpPr>
        <p:spPr>
          <a:xfrm>
            <a:off x="8503920" y="28346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Arrow 83"/>
          <p:cNvCxnSpPr/>
          <p:nvPr/>
        </p:nvCxnSpPr>
        <p:spPr>
          <a:xfrm>
            <a:off x="8503920" y="3749039"/>
            <a:ext cx="0" cy="16459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 84"/>
          <p:cNvSpPr txBox="1"/>
          <p:nvPr/>
        </p:nvSpPr>
        <p:spPr>
          <a:xfrm>
            <a:off x="896112" y="5166360"/>
            <a:ext cx="9921240" cy="65836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Presentation link: the mathematical model is explained in the slides; moving graphs are shown separately during the live demonstration.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86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Baseline Simulation Result</a:t>
            </a:r>
          </a:p>
        </p:txBody>
      </p:sp>
      <p:sp>
        <p:nvSpPr>
          <p:cNvPr id="87" name="Text 87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8" name="Text 88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5" name="mainChartlinea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6309360" cy="4251960"/>
          </a:xfrm>
          <a:prstGeom prst="rect">
            <a:avLst/>
          </a:prstGeom>
        </p:spPr>
      </p:pic>
      <p:sp>
        <p:nvSpPr>
          <p:cNvPr id="89" name="Text 89"/>
          <p:cNvSpPr txBox="1"/>
          <p:nvPr/>
        </p:nvSpPr>
        <p:spPr>
          <a:xfrm>
            <a:off x="7360920" y="12344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Computed baseline</a:t>
            </a:r>
          </a:p>
        </p:txBody>
      </p:sp>
      <p:sp>
        <p:nvSpPr>
          <p:cNvPr id="90" name="Text 90"/>
          <p:cNvSpPr txBox="1"/>
          <p:nvPr/>
        </p:nvSpPr>
        <p:spPr>
          <a:xfrm>
            <a:off x="7406640" y="1627632"/>
            <a:ext cx="356616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R0 = 0.430, below the epidemic threshold.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Peak infected population is 150 at t = 0 years.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Final values after 50 years: I = 3.1, T = 94.3, A = 3.6.</a:t>
            </a:r>
          </a:p>
        </p:txBody>
      </p:sp>
      <p:sp>
        <p:nvSpPr>
          <p:cNvPr id="91" name="Text 91"/>
          <p:cNvSpPr txBox="1"/>
          <p:nvPr/>
        </p:nvSpPr>
        <p:spPr>
          <a:xfrm>
            <a:off x="7360920" y="3310128"/>
            <a:ext cx="3657600" cy="102412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Interpretation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The baseline intervention-adjusted configuration leads toward disease-free behaviour in the simulation.</a:t>
            </a:r>
          </a:p>
        </p:txBody>
      </p:sp>
      <p:sp>
        <p:nvSpPr>
          <p:cNvPr id="92" name="Text 92"/>
          <p:cNvSpPr txBox="1"/>
          <p:nvPr/>
        </p:nvSpPr>
        <p:spPr>
          <a:xfrm>
            <a:off x="7360920" y="4645152"/>
            <a:ext cx="3657600" cy="694944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These numbers come from the Python simulation engine and match the dashboard summary 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94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95" name="Text 95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6" name="Text 96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3" name="combinedInterventions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97" name="Text 97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interpretation</a:t>
            </a:r>
          </a:p>
        </p:txBody>
      </p:sp>
      <p:sp>
        <p:nvSpPr>
          <p:cNvPr id="98" name="Text 98"/>
          <p:cNvSpPr txBox="1"/>
          <p:nvPr/>
        </p:nvSpPr>
        <p:spPr>
          <a:xfrm>
            <a:off x="7406640" y="1719072"/>
            <a:ext cx="3520440" cy="1920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Single interventions help, but each targets only one mechanism.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Combined intervention acts on transmission, treatment uptake, and progression.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The combined strategy gives stronger simulated control than isolated changes.</a:t>
            </a:r>
          </a:p>
        </p:txBody>
      </p:sp>
      <p:sp>
        <p:nvSpPr>
          <p:cNvPr id="99" name="Text 99"/>
          <p:cNvSpPr txBox="1"/>
          <p:nvPr/>
        </p:nvSpPr>
        <p:spPr>
          <a:xfrm>
            <a:off x="7360920" y="4133087"/>
            <a:ext cx="361188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Public-health meaning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Prevention and treatment support should work together.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10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102" name="Text 10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0" name="memor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04" name="Text 104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Why q matters</a:t>
            </a:r>
          </a:p>
        </p:txBody>
      </p:sp>
      <p:sp>
        <p:nvSpPr>
          <p:cNvPr id="105" name="Text 105"/>
          <p:cNvSpPr txBox="1"/>
          <p:nvPr/>
        </p:nvSpPr>
        <p:spPr>
          <a:xfrm>
            <a:off x="7406640" y="1719072"/>
            <a:ext cx="3520440" cy="16916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q = 1 represents the ordinary model.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Smaller q values strengthen the memory effect.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Different q values produce visibly different trajectories.</a:t>
            </a:r>
          </a:p>
        </p:txBody>
      </p:sp>
      <p:sp>
        <p:nvSpPr>
          <p:cNvPr id="106" name="Text 106"/>
          <p:cNvSpPr txBox="1"/>
          <p:nvPr/>
        </p:nvSpPr>
        <p:spPr>
          <a:xfrm>
            <a:off x="7360920" y="4005072"/>
            <a:ext cx="3611880" cy="91440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calculus is not decorative; it changes the simulated dynamics.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 10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Dashboard and Sensitivity Evidence</a:t>
            </a:r>
          </a:p>
        </p:txBody>
      </p:sp>
      <p:sp>
        <p:nvSpPr>
          <p:cNvPr id="110" name="Text 11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1" name="Text 11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7" name="sensitivit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12" name="Text 112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evidence</a:t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7406640" y="1719072"/>
            <a:ext cx="3520440" cy="16002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Transmission-related quantities dominate R0 sensitivity.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Safer behaviour and awareness reduce R0 strongly.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Dashboard outputs support thesis discussion and live defense.</a:t>
            </a:r>
          </a:p>
        </p:txBody>
      </p:sp>
      <p:pic>
        <p:nvPicPr>
          <p:cNvPr id="108" name="dashboardBaselineFigur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406640" y="3767328"/>
            <a:ext cx="3383280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115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Dashboard Demonstration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7" name="Text 117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8" name="Text 118"/>
          <p:cNvSpPr txBox="1"/>
          <p:nvPr/>
        </p:nvSpPr>
        <p:spPr>
          <a:xfrm>
            <a:off x="658368" y="1234440"/>
            <a:ext cx="50749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Open during the defense</a:t>
            </a:r>
          </a:p>
        </p:txBody>
      </p:sp>
      <p:sp>
        <p:nvSpPr>
          <p:cNvPr id="119" name="Text 119"/>
          <p:cNvSpPr txBox="1"/>
          <p:nvPr/>
        </p:nvSpPr>
        <p:spPr>
          <a:xfrm>
            <a:off x="749808" y="1664208"/>
            <a:ext cx="5029200" cy="7315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Dashboard link</a:t>
            </a:r>
          </a:p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https://hiv-model.onrender.com/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768096" y="2788920"/>
            <a:ext cx="5120640" cy="1645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Run the baseline simulation.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Show the final state summary and interpretation.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Change q to show the fractional memory effect.</a:t>
            </a:r>
          </a:p>
        </p:txBody>
      </p:sp>
      <p:pic>
        <p:nvPicPr>
          <p:cNvPr id="114" name="dashboardBaselineFigur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4297680" cy="2331720"/>
          </a:xfrm>
          <a:prstGeom prst="rect">
            <a:avLst/>
          </a:prstGeom>
        </p:spPr>
      </p:pic>
      <p:sp>
        <p:nvSpPr>
          <p:cNvPr id="121" name="Text 121"/>
          <p:cNvSpPr txBox="1"/>
          <p:nvPr/>
        </p:nvSpPr>
        <p:spPr>
          <a:xfrm>
            <a:off x="6601968" y="4160520"/>
            <a:ext cx="4297680" cy="8229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After the demo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Return to the next slide for conclusion and recommendations.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 12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Conclusion + Recommendations</a:t>
            </a:r>
          </a:p>
        </p:txBody>
      </p:sp>
      <p:sp>
        <p:nvSpPr>
          <p:cNvPr id="123" name="Text 12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4" name="Text 12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5" name="Text 125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126" name="Text 126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</p:txBody>
      </p:sp>
      <p:sp>
        <p:nvSpPr>
          <p:cNvPr id="127" name="Text 127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Recommendations</a:t>
            </a:r>
          </a:p>
        </p:txBody>
      </p:sp>
      <p:sp>
        <p:nvSpPr>
          <p:cNvPr id="128" name="Text 128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Calibrate parameters with Rwanda-specific data.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Extend the model using age, gender, or stochastic structure.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other fractional operators.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Improve the dashboard into an educational decision-support tool.</a:t>
            </a:r>
          </a:p>
        </p:txBody>
      </p:sp>
      <p:sp>
        <p:nvSpPr>
          <p:cNvPr id="129" name="Text 129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the work connects mathematical analysis, numerical simulation, and a working dashboard for communicating HIV intervention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14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Fractional-Order Compartmental Model of HIV Transmission with Social Behaviour Interventions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