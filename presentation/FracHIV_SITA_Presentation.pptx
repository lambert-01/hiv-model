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5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1999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Master" Target="slideMasters/slideMaster1.xml"/><Relationship Id="rId16" Type="http://schemas.openxmlformats.org/officeDocument/2006/relationships/theme" Target="theme/theme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A1B3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" name="Text 4"/>
          <p:cNvSpPr txBox="1"/>
          <p:nvPr/>
        </p:nvSpPr>
        <p:spPr>
          <a:xfrm>
            <a:off x="6720840" y="960120"/>
            <a:ext cx="475488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400" b="0">
                <a:solidFill>
                  <a:srgbClr val="D8E2EB"/>
                </a:solidFill>
                <a:latin typeface="Aptos"/>
              </a:rPr>
              <a:t>D_C^q X(t)=F(t,X(t))</a:t>
            </a:r>
          </a:p>
          <a:p>
            <a:pPr algn="r"/>
            <a:r>
              <a:rPr lang="en-US" sz="1400" b="0">
                <a:solidFill>
                  <a:srgbClr val="D8E2EB"/>
                </a:solidFill>
                <a:latin typeface="Aptos"/>
              </a:rPr>
              <a:t>R0 = beta_eff/(tau_eff+delta+mu) x [1+eta tau_eff/(rho_eff+mu)]</a:t>
            </a:r>
          </a:p>
        </p:txBody>
      </p:sp>
      <p:pic>
        <p:nvPicPr>
          <p:cNvPr id="2" name="logo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731520" cy="731520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8046720" y="438912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30352" y="1664208"/>
            <a:ext cx="6812280" cy="3383280"/>
          </a:xfrm>
          <a:prstGeom prst="rect">
            <a:avLst/>
          </a:prstGeom>
          <a:solidFill>
            <a:srgbClr val="0A1B3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" name="Text 7"/>
          <p:cNvSpPr txBox="1"/>
          <p:nvPr/>
        </p:nvSpPr>
        <p:spPr>
          <a:xfrm>
            <a:off x="749808" y="1755648"/>
            <a:ext cx="6446520" cy="162763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A Fractional-Order Compartmental Model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of HIV Transmission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with Social Behaviour Interventions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86384" y="3474720"/>
            <a:ext cx="626364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FFFFFF"/>
                </a:solidFill>
                <a:latin typeface="Aptos"/>
              </a:rPr>
              <a:t>Fractional SITA dynamics and dashboard simulation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86384" y="4069080"/>
            <a:ext cx="5303520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Kigali, Rwanda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86384" y="4736592"/>
            <a:ext cx="5486400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100" b="0">
                <a:solidFill>
                  <a:srgbClr val="CC9900"/>
                </a:solidFill>
                <a:latin typeface="Aptos"/>
              </a:rPr>
              <a:t>Presentation content follows the submitted final-year project report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786384" y="5010912"/>
            <a:ext cx="3429000" cy="3657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15968" y="5010912"/>
            <a:ext cx="2743200" cy="3657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1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Background / Motivation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5" name="Text 1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58368" y="1261872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49808" y="1664208"/>
            <a:ext cx="5623560" cy="20574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41248" y="4224528"/>
            <a:ext cx="530352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Why mathematics?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720840" y="1234440"/>
            <a:ext cx="3474720" cy="50292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Context: HIV in Rwanda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720840" y="1965960"/>
            <a:ext cx="3474720" cy="5029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Mechanism: Behaviour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6720840" y="2697480"/>
            <a:ext cx="3474720" cy="5029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Method: Fractional memory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720840" y="3429000"/>
            <a:ext cx="3474720" cy="502920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Output: 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2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Problem Statement + Literature Gap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5" name="Text 2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Ordinary models usually depend only on the present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HIV-related behaviour may depend on past awareness, stigma, testing history, and adherence.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Social behaviour is often simplified into fixed rates.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Literature gap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Classical HIV models use ODE compartments such as SICA/SITA.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Fractional models use Caputo derivatives for memory effects.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Few works combine fractional HIV dynamics, behaviour controls, and an interactive dashboard.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Research focus: a fractional-order SITA model that connects memory effects, social behaviour interventions, numerical simulation, and dashboard exploration.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3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Objectives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3" name="Text 3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85800" y="12070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713232" y="1627632"/>
            <a:ext cx="525780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To formulate, analyse, and computationally simulate a fractional-order SITA model of HIV transmission incorporating social behaviour interventions.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685800" y="278892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768096" y="3182112"/>
            <a:ext cx="5303520" cy="1965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Formulate a fractional-order SITA HIV model using the Caputo derivative and social behaviour interventions.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Analyse positivity, boundedness, disease-free equilibrium, R0, and fractional stability.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Implement simulations and a Python dashboard to study memory effects, interventions, sensitivity, and epidemic trajectories.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6629400" y="1508760"/>
            <a:ext cx="3474720" cy="59436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1. Model formulation</a:t>
            </a:r>
          </a:p>
        </p:txBody>
      </p:sp>
      <p:sp>
        <p:nvSpPr>
          <p:cNvPr id="39" name="Text 39"/>
          <p:cNvSpPr txBox="1"/>
          <p:nvPr/>
        </p:nvSpPr>
        <p:spPr>
          <a:xfrm>
            <a:off x="6629400" y="2514600"/>
            <a:ext cx="3474720" cy="59436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2. Model analysis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6629400" y="3520440"/>
            <a:ext cx="3474720" cy="5943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3. Simulation dashboard</a:t>
            </a:r>
          </a:p>
        </p:txBody>
      </p:sp>
      <p:cxnSp>
        <p:nvCxnSpPr>
          <p:cNvPr id="41" name="Arrow 41"/>
          <p:cNvCxnSpPr/>
          <p:nvPr/>
        </p:nvCxnSpPr>
        <p:spPr>
          <a:xfrm>
            <a:off x="8366760" y="210312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Arrow 42"/>
          <p:cNvCxnSpPr/>
          <p:nvPr/>
        </p:nvCxnSpPr>
        <p:spPr>
          <a:xfrm>
            <a:off x="8366760" y="310896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4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Model Diagram: SITA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5" name="Text 4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6" name="S(t)"/>
          <p:cNvSpPr/>
          <p:nvPr/>
        </p:nvSpPr>
        <p:spPr>
          <a:xfrm>
            <a:off x="749808" y="1856231"/>
            <a:ext cx="1691640" cy="713232"/>
          </a:xfrm>
          <a:prstGeom prst="roundRect">
            <a:avLst/>
          </a:prstGeom>
          <a:solidFill>
            <a:srgbClr val="E8F2FA"/>
          </a:solidFill>
          <a:ln w="12700">
            <a:solidFill>
              <a:srgbClr val="004A8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4A80"/>
                </a:solidFill>
                <a:latin typeface="Aptos Display"/>
              </a:rPr>
              <a:t>S(t)</a:t>
            </a:r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47" name="I(t)"/>
          <p:cNvSpPr/>
          <p:nvPr/>
        </p:nvSpPr>
        <p:spPr>
          <a:xfrm>
            <a:off x="3246120" y="1856231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4146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B44146"/>
                </a:solidFill>
                <a:latin typeface="Aptos Display"/>
              </a:rPr>
              <a:t>I(t)</a:t>
            </a:r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48" name="T(t)"/>
          <p:cNvSpPr/>
          <p:nvPr/>
        </p:nvSpPr>
        <p:spPr>
          <a:xfrm>
            <a:off x="5742432" y="1856231"/>
            <a:ext cx="1691640" cy="7132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CC990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CC9900"/>
                </a:solidFill>
                <a:latin typeface="Aptos Display"/>
              </a:rPr>
              <a:t>T(t)</a:t>
            </a:r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49" name="A(t)"/>
          <p:cNvSpPr/>
          <p:nvPr/>
        </p:nvSpPr>
        <p:spPr>
          <a:xfrm>
            <a:off x="8247888" y="1856231"/>
            <a:ext cx="1691640" cy="713232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007E7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7E70"/>
                </a:solidFill>
                <a:latin typeface="Aptos Display"/>
              </a:rPr>
              <a:t>A(t)</a:t>
            </a:r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cxnSp>
        <p:nvCxnSpPr>
          <p:cNvPr id="50" name="Arrow 50"/>
          <p:cNvCxnSpPr/>
          <p:nvPr/>
        </p:nvCxnSpPr>
        <p:spPr>
          <a:xfrm>
            <a:off x="2441448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Arrow 51"/>
          <p:cNvCxnSpPr/>
          <p:nvPr/>
        </p:nvCxnSpPr>
        <p:spPr>
          <a:xfrm>
            <a:off x="4937760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Arrow 52"/>
          <p:cNvCxnSpPr/>
          <p:nvPr/>
        </p:nvCxnSpPr>
        <p:spPr>
          <a:xfrm>
            <a:off x="7434072" y="2212848"/>
            <a:ext cx="813815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 53"/>
          <p:cNvSpPr txBox="1"/>
          <p:nvPr/>
        </p:nvSpPr>
        <p:spPr>
          <a:xfrm>
            <a:off x="2267712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effective transmission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4700016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testing and treatment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7059168" y="277977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reduced progression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914400" y="4224528"/>
            <a:ext cx="4846320" cy="9601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State variables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6355080" y="4224528"/>
            <a:ext cx="4709160" cy="9601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Controls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5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Fractional-Order SITA Model</a:t>
            </a:r>
          </a:p>
        </p:txBody>
      </p:sp>
      <p:sp>
        <p:nvSpPr>
          <p:cNvPr id="59" name="Text 5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0" name="Text 6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1" name="Text 61"/>
          <p:cNvSpPr txBox="1"/>
          <p:nvPr/>
        </p:nvSpPr>
        <p:spPr>
          <a:xfrm>
            <a:off x="658368" y="1115568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Objective 1: model formulation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694944" y="1517904"/>
            <a:ext cx="5303520" cy="43891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000" b="1">
                <a:solidFill>
                  <a:srgbClr val="142030"/>
                </a:solidFill>
                <a:latin typeface="Aptos"/>
              </a:rPr>
              <a:t>D_C^q X(t) = F(t, X(t)),    0 &lt; q &lt;= 1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749808" y="2130552"/>
            <a:ext cx="562356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lambda(t) = beta_eff(I + eta T)/N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S = Lambda - lambda(t)S - mu S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I = lambda(t)S - (tau_eff + delta + mu)I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T = tau_eff I - (rho_eff + mu)T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A = delta I + rho_eff T - (d + mu)A</a:t>
            </a:r>
          </a:p>
        </p:txBody>
      </p:sp>
      <p:sp>
        <p:nvSpPr>
          <p:cNvPr id="64" name="Text 64"/>
          <p:cNvSpPr txBox="1"/>
          <p:nvPr/>
        </p:nvSpPr>
        <p:spPr>
          <a:xfrm>
            <a:off x="749808" y="3730752"/>
            <a:ext cx="5623560" cy="98755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Intervention-adjusted rates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beta_eff = beta0(1-u1)(1-u2)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tau_eff = tau(1+u3)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rho_eff = rho(1-u4)</a:t>
            </a:r>
          </a:p>
        </p:txBody>
      </p:sp>
      <p:sp>
        <p:nvSpPr>
          <p:cNvPr id="65" name="Text 65"/>
          <p:cNvSpPr txBox="1"/>
          <p:nvPr/>
        </p:nvSpPr>
        <p:spPr>
          <a:xfrm>
            <a:off x="6720840" y="1143000"/>
            <a:ext cx="43434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Meaning of interventions</a:t>
            </a:r>
          </a:p>
        </p:txBody>
      </p:sp>
      <p:sp>
        <p:nvSpPr>
          <p:cNvPr id="66" name="Text 66"/>
          <p:cNvSpPr txBox="1"/>
          <p:nvPr/>
        </p:nvSpPr>
        <p:spPr>
          <a:xfrm>
            <a:off x="6720840" y="1572768"/>
            <a:ext cx="4343400" cy="676656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u1 and u2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Reduce effective transmission through awareness and safer behaviour.</a:t>
            </a:r>
          </a:p>
        </p:txBody>
      </p:sp>
      <p:sp>
        <p:nvSpPr>
          <p:cNvPr id="67" name="Text 67"/>
          <p:cNvSpPr txBox="1"/>
          <p:nvPr/>
        </p:nvSpPr>
        <p:spPr>
          <a:xfrm>
            <a:off x="6720840" y="2395728"/>
            <a:ext cx="4343400" cy="676656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u3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Increases testing/treatment movement from infected to treated.</a:t>
            </a:r>
          </a:p>
        </p:txBody>
      </p:sp>
      <p:sp>
        <p:nvSpPr>
          <p:cNvPr id="68" name="Text 68"/>
          <p:cNvSpPr txBox="1"/>
          <p:nvPr/>
        </p:nvSpPr>
        <p:spPr>
          <a:xfrm>
            <a:off x="6720840" y="3218688"/>
            <a:ext cx="4343400" cy="713232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u4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Reduces progression from treatment to AIDS stage through adherence support.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6720840" y="4096512"/>
            <a:ext cx="4343400" cy="71323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q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q=1 is ordinary; q&lt;1 means previous states influence the present trajectory.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7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 2: Mathematical Analysis Evidence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2" name="Text 7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3" name="Text 73"/>
          <p:cNvSpPr txBox="1"/>
          <p:nvPr/>
        </p:nvSpPr>
        <p:spPr>
          <a:xfrm>
            <a:off x="658368" y="1078992"/>
            <a:ext cx="507492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1">
                <a:solidFill>
                  <a:srgbClr val="CC9900"/>
                </a:solidFill>
                <a:latin typeface="Aptos"/>
              </a:rPr>
              <a:t>Positivity proof</a:t>
            </a:r>
          </a:p>
        </p:txBody>
      </p:sp>
      <p:sp>
        <p:nvSpPr>
          <p:cNvPr id="74" name="Text 74"/>
          <p:cNvSpPr txBox="1"/>
          <p:nvPr/>
        </p:nvSpPr>
        <p:spPr>
          <a:xfrm>
            <a:off x="713232" y="1444752"/>
            <a:ext cx="5349240" cy="877824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S=0: D_C^q S = Lambda &gt;= 0;    I=0: D_C^q I = lambda(t)S &gt;= 0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T=0: D_C^q T = tau_eff I &gt;= 0; A=0: D_C^q A = delta I + rho_eff T &gt;= 0</a:t>
            </a:r>
          </a:p>
        </p:txBody>
      </p:sp>
      <p:sp>
        <p:nvSpPr>
          <p:cNvPr id="75" name="Text 75"/>
          <p:cNvSpPr txBox="1"/>
          <p:nvPr/>
        </p:nvSpPr>
        <p:spPr>
          <a:xfrm>
            <a:off x="713232" y="2487168"/>
            <a:ext cx="5349240" cy="603504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Therefore the vector field points inward on the boundary, so R_+^4 is positively invariant.</a:t>
            </a:r>
          </a:p>
        </p:txBody>
      </p:sp>
      <p:sp>
        <p:nvSpPr>
          <p:cNvPr id="76" name="Text 76"/>
          <p:cNvSpPr txBox="1"/>
          <p:nvPr/>
        </p:nvSpPr>
        <p:spPr>
          <a:xfrm>
            <a:off x="658368" y="3310128"/>
            <a:ext cx="507492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1">
                <a:solidFill>
                  <a:srgbClr val="CC9900"/>
                </a:solidFill>
                <a:latin typeface="Aptos"/>
              </a:rPr>
              <a:t>Boundedness proof</a:t>
            </a:r>
          </a:p>
        </p:txBody>
      </p:sp>
      <p:sp>
        <p:nvSpPr>
          <p:cNvPr id="77" name="Text 77"/>
          <p:cNvSpPr txBox="1"/>
          <p:nvPr/>
        </p:nvSpPr>
        <p:spPr>
          <a:xfrm>
            <a:off x="713232" y="3675887"/>
            <a:ext cx="5349240" cy="950976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N = S + I + T + A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D_C^q N = Lambda - mu N - dA &lt;= Lambda - mu N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By fractional comparison, limsup N(t) &lt;= Lambda/mu.</a:t>
            </a:r>
          </a:p>
        </p:txBody>
      </p:sp>
      <p:sp>
        <p:nvSpPr>
          <p:cNvPr id="78" name="Text 78"/>
          <p:cNvSpPr txBox="1"/>
          <p:nvPr/>
        </p:nvSpPr>
        <p:spPr>
          <a:xfrm>
            <a:off x="6355080" y="1078992"/>
            <a:ext cx="498348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1">
                <a:solidFill>
                  <a:srgbClr val="CC9900"/>
                </a:solidFill>
                <a:latin typeface="Aptos"/>
              </a:rPr>
              <a:t>Disease-free equilibrium and threshold</a:t>
            </a:r>
          </a:p>
        </p:txBody>
      </p:sp>
      <p:sp>
        <p:nvSpPr>
          <p:cNvPr id="79" name="Text 79"/>
          <p:cNvSpPr txBox="1"/>
          <p:nvPr/>
        </p:nvSpPr>
        <p:spPr>
          <a:xfrm>
            <a:off x="6400800" y="1444752"/>
            <a:ext cx="5074920" cy="80467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E0 = (Lambda/mu, 0, 0, 0),     R0 = rho(FV^-1)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F contains new infections; V contains transition/removal terms.</a:t>
            </a:r>
          </a:p>
        </p:txBody>
      </p:sp>
      <p:sp>
        <p:nvSpPr>
          <p:cNvPr id="80" name="Text 80"/>
          <p:cNvSpPr txBox="1"/>
          <p:nvPr/>
        </p:nvSpPr>
        <p:spPr>
          <a:xfrm>
            <a:off x="6355080" y="2615184"/>
            <a:ext cx="498348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1">
                <a:solidFill>
                  <a:srgbClr val="CC9900"/>
                </a:solidFill>
                <a:latin typeface="Aptos"/>
              </a:rPr>
              <a:t>Fractional stability condition</a:t>
            </a:r>
          </a:p>
        </p:txBody>
      </p:sp>
      <p:sp>
        <p:nvSpPr>
          <p:cNvPr id="81" name="Text 81"/>
          <p:cNvSpPr txBox="1"/>
          <p:nvPr/>
        </p:nvSpPr>
        <p:spPr>
          <a:xfrm>
            <a:off x="6400800" y="2980944"/>
            <a:ext cx="5074920" cy="786384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|arg(lambda_i)| &gt; q*pi/2 for every eigenvalue lambda_i.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When R0 &lt; 1 and this condition holds, E0 is locally asymptotically stable.</a:t>
            </a:r>
          </a:p>
        </p:txBody>
      </p:sp>
      <p:sp>
        <p:nvSpPr>
          <p:cNvPr id="82" name="Text 82"/>
          <p:cNvSpPr txBox="1"/>
          <p:nvPr/>
        </p:nvSpPr>
        <p:spPr>
          <a:xfrm>
            <a:off x="6400800" y="4151376"/>
            <a:ext cx="5074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Defense line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Objective 2 is fulfilled by positivity, boundedness, DFE/R0 threshold analysis, and fractional stability.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8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84" name="Text 8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5" name="Text 8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6" name="Text 86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Numerical idea</a:t>
            </a:r>
          </a:p>
        </p:txBody>
      </p:sp>
      <p:sp>
        <p:nvSpPr>
          <p:cNvPr id="87" name="Text 87"/>
          <p:cNvSpPr txBox="1"/>
          <p:nvPr/>
        </p:nvSpPr>
        <p:spPr>
          <a:xfrm>
            <a:off x="749808" y="1627632"/>
            <a:ext cx="4937760" cy="2423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88" name="Text 88"/>
          <p:cNvSpPr txBox="1"/>
          <p:nvPr/>
        </p:nvSpPr>
        <p:spPr>
          <a:xfrm>
            <a:off x="6355080" y="1170432"/>
            <a:ext cx="4297680" cy="749808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parameters, initial conditions, q, controls</a:t>
            </a:r>
          </a:p>
        </p:txBody>
      </p:sp>
      <p:sp>
        <p:nvSpPr>
          <p:cNvPr id="89" name="Text 89"/>
          <p:cNvSpPr txBox="1"/>
          <p:nvPr/>
        </p:nvSpPr>
        <p:spPr>
          <a:xfrm>
            <a:off x="6355080" y="2084831"/>
            <a:ext cx="4297680" cy="74980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Solver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fractional ABM-type numerical method</a:t>
            </a:r>
          </a:p>
        </p:txBody>
      </p:sp>
      <p:sp>
        <p:nvSpPr>
          <p:cNvPr id="90" name="Text 90"/>
          <p:cNvSpPr txBox="1"/>
          <p:nvPr/>
        </p:nvSpPr>
        <p:spPr>
          <a:xfrm>
            <a:off x="6355080" y="2999232"/>
            <a:ext cx="4297680" cy="74980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Outputs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trajectories, R0, scenarios, sensitivity</a:t>
            </a:r>
          </a:p>
        </p:txBody>
      </p:sp>
      <p:sp>
        <p:nvSpPr>
          <p:cNvPr id="91" name="Text 91"/>
          <p:cNvSpPr txBox="1"/>
          <p:nvPr/>
        </p:nvSpPr>
        <p:spPr>
          <a:xfrm>
            <a:off x="6355080" y="391363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Presentation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moving graphs during the live demo</a:t>
            </a:r>
          </a:p>
        </p:txBody>
      </p:sp>
      <p:cxnSp>
        <p:nvCxnSpPr>
          <p:cNvPr id="92" name="Arrow 92"/>
          <p:cNvCxnSpPr/>
          <p:nvPr/>
        </p:nvCxnSpPr>
        <p:spPr>
          <a:xfrm>
            <a:off x="8503920" y="19202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Arrow 93"/>
          <p:cNvCxnSpPr/>
          <p:nvPr/>
        </p:nvCxnSpPr>
        <p:spPr>
          <a:xfrm>
            <a:off x="8503920" y="28346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Arrow 94"/>
          <p:cNvCxnSpPr/>
          <p:nvPr/>
        </p:nvCxnSpPr>
        <p:spPr>
          <a:xfrm>
            <a:off x="8503920" y="3749039"/>
            <a:ext cx="0" cy="16459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 95"/>
          <p:cNvSpPr txBox="1"/>
          <p:nvPr/>
        </p:nvSpPr>
        <p:spPr>
          <a:xfrm>
            <a:off x="896112" y="5166360"/>
            <a:ext cx="9921240" cy="65836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Presentation link: the mathematical model is explained in the slides; moving graphs are shown separately during the live demonstration.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9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Baseline Simulation Result</a:t>
            </a:r>
          </a:p>
        </p:txBody>
      </p:sp>
      <p:sp>
        <p:nvSpPr>
          <p:cNvPr id="98" name="Text 9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9" name="Text 9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6" name="presentation_baselin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292608" y="1078992"/>
            <a:ext cx="11631168" cy="3931920"/>
          </a:xfrm>
          <a:prstGeom prst="rect">
            <a:avLst/>
          </a:prstGeom>
        </p:spPr>
      </p:pic>
      <p:sp>
        <p:nvSpPr>
          <p:cNvPr id="100" name="Text 100"/>
          <p:cNvSpPr txBox="1"/>
          <p:nvPr/>
        </p:nvSpPr>
        <p:spPr>
          <a:xfrm>
            <a:off x="585216" y="5321808"/>
            <a:ext cx="11018520" cy="621792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▶ R0 = 0.430 &lt; 1. The infected class starts at I(0)=150 and declines to I=3.1; treatment remains visible at T=94.3. Source: submitted report, Chapter 6 baseline simulation.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10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01" name="presentation_interventions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84048" y="1078992"/>
            <a:ext cx="11430000" cy="3730752"/>
          </a:xfrm>
          <a:prstGeom prst="rect">
            <a:avLst/>
          </a:prstGeom>
        </p:spPr>
      </p:pic>
      <p:sp>
        <p:nvSpPr>
          <p:cNvPr id="105" name="Text 105"/>
          <p:cNvSpPr txBox="1"/>
          <p:nvPr/>
        </p:nvSpPr>
        <p:spPr>
          <a:xfrm>
            <a:off x="585216" y="5321808"/>
            <a:ext cx="11018520" cy="621792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▶ Lower curves mean fewer infected individuals. Combined strategies act on transmission, treatment movement, and AIDS progression together. Source: submitted report, Chapter 6 intervention comparison.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 10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06" name="presentation_memory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47472" y="1078992"/>
            <a:ext cx="11503152" cy="3922776"/>
          </a:xfrm>
          <a:prstGeom prst="rect">
            <a:avLst/>
          </a:prstGeom>
        </p:spPr>
      </p:pic>
      <p:sp>
        <p:nvSpPr>
          <p:cNvPr id="110" name="Text 110"/>
          <p:cNvSpPr txBox="1"/>
          <p:nvPr/>
        </p:nvSpPr>
        <p:spPr>
          <a:xfrm>
            <a:off x="585216" y="5321808"/>
            <a:ext cx="11018520" cy="62179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▶ q = 1 is the ordinary model; q &lt; 1 introduces memory. The curve separation shows the computational effect of fractional memory. Source: submitted report, Chapter 6 memory comparison.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11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Dashboard and Sensitivity Evidence</a:t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4" name="Text 11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11" name="presentation_sensitivity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585216" y="1024128"/>
            <a:ext cx="11018520" cy="4187952"/>
          </a:xfrm>
          <a:prstGeom prst="rect">
            <a:avLst/>
          </a:prstGeom>
        </p:spPr>
      </p:pic>
      <p:sp>
        <p:nvSpPr>
          <p:cNvPr id="115" name="Text 115"/>
          <p:cNvSpPr txBox="1"/>
          <p:nvPr/>
        </p:nvSpPr>
        <p:spPr>
          <a:xfrm>
            <a:off x="585216" y="5413248"/>
            <a:ext cx="11018520" cy="54864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▶ Sensitivity index: U_p^R0=(partial R0/partial p)(p/R0). Positive bars increase R0; negative bars reduce R0. Source: submitted report, Chapter 6 sensitivity analysis.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11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Live Dashboard Demonstration</a:t>
            </a:r>
          </a:p>
        </p:txBody>
      </p:sp>
      <p:sp>
        <p:nvSpPr>
          <p:cNvPr id="118" name="Text 11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9" name="Text 11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658368" y="1234440"/>
            <a:ext cx="50749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Open during the defense</a:t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749808" y="1664208"/>
            <a:ext cx="5029200" cy="7315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Dashboard link</a:t>
            </a:r>
          </a:p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https://hiv-model.onrender.com/</a:t>
            </a:r>
          </a:p>
        </p:txBody>
      </p:sp>
      <p:sp>
        <p:nvSpPr>
          <p:cNvPr id="122" name="Text 122"/>
          <p:cNvSpPr txBox="1"/>
          <p:nvPr/>
        </p:nvSpPr>
        <p:spPr>
          <a:xfrm>
            <a:off x="768096" y="2788920"/>
            <a:ext cx="5120640" cy="1645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Run the baseline simulation.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Show the final state summary and interpretation.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Change q to show the fractional memory effect.</a:t>
            </a:r>
          </a:p>
        </p:txBody>
      </p:sp>
      <p:pic>
        <p:nvPicPr>
          <p:cNvPr id="116" name="dashboardBaselineFigur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429768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12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Conclusion + Recommendations</a:t>
            </a:r>
          </a:p>
        </p:txBody>
      </p:sp>
      <p:sp>
        <p:nvSpPr>
          <p:cNvPr id="124" name="Text 12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5" name="Text 12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6" name="Text 126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127" name="Text 127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Numerical simulations support combined intervention strategies.</a:t>
            </a:r>
          </a:p>
        </p:txBody>
      </p:sp>
      <p:sp>
        <p:nvSpPr>
          <p:cNvPr id="128" name="Text 128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Recommendations</a:t>
            </a:r>
          </a:p>
        </p:txBody>
      </p:sp>
      <p:sp>
        <p:nvSpPr>
          <p:cNvPr id="129" name="Text 129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Calibrate parameters with Rwanda-specific data.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Extend the model using age, gender, or stochastic structure.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other fractional operators.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Improve the dashboard into an educational decision-support tool.</a:t>
            </a:r>
          </a:p>
        </p:txBody>
      </p:sp>
      <p:sp>
        <p:nvSpPr>
          <p:cNvPr id="130" name="Text 130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Final message: the work connects mathematical analysis, numerical simulation, and a working dashboard for communicating HIV intervention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A Professional">
  <a:themeElements>
    <a:clrScheme name="SITA">
      <a:dk1>
        <a:srgbClr val="0A1B30"/>
      </a:dk1>
      <a:lt1>
        <a:srgbClr val="FFFFFF"/>
      </a:lt1>
      <a:dk2>
        <a:srgbClr val="142030"/>
      </a:dk2>
      <a:lt2>
        <a:srgbClr val="F7FAFC"/>
      </a:lt2>
      <a:accent1>
        <a:srgbClr val="007E70"/>
      </a:accent1>
      <a:accent2>
        <a:srgbClr val="CC9900"/>
      </a:accent2>
      <a:accent3>
        <a:srgbClr val="004A80"/>
      </a:accent3>
      <a:accent4>
        <a:srgbClr val="B44146"/>
      </a:accent4>
      <a:accent5>
        <a:srgbClr val="7A8794"/>
      </a:accent5>
      <a:accent6>
        <a:srgbClr val="C7D5E1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Clean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WPS Presentation</Application>
  <PresentationFormat>On-screen Show (16:9)</PresentationFormat>
  <Slides>14</Slides>
  <Company>University of Rwanda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Fractional-Order Compartmental Model of HIV Transmission with Social Behaviour Interventions</dc:title>
  <dc:creator>NDACYAYISABA Lambert</dc:creator>
  <cp:lastModifiedBy>Codex</cp:lastModifiedBy>
  <dcterms:created xsi:type="dcterms:W3CDTF">2026-06-11T00:00:00Z</dcterms:created>
  <dcterms:modified xsi:type="dcterms:W3CDTF">2026-06-11T00:00:00Z</dcterms:modified>
</cp:coreProperties>
</file>