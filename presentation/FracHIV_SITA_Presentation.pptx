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4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1999" cy="6858000" type="screen16x9"/>
  <p:notesSz cx="6858000" cy="9144000"/>
  <p:defaultTextStyle>
    <a:defPPr>
      <a:defRPr lang="en-US"/>
    </a:def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Master" Target="slideMasters/slideMaster1.xml"/><Relationship Id="rId15" Type="http://schemas.openxmlformats.org/officeDocument/2006/relationships/theme" Target="theme/theme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/Relationships>
</file>

<file path=ppt/slideLayouts/_rels/slideLayout1.xml.rels>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i_cover_background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logo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502920" y="384048"/>
            <a:ext cx="731520" cy="73152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8046720" y="438912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r"/>
            <a:r>
              <a:rPr lang="en-US" sz="1200" b="0">
                <a:solidFill>
                  <a:srgbClr val="FFFFFF"/>
                </a:solidFill>
                <a:latin typeface="Aptos"/>
              </a:rPr>
              <a:t>University of Rwanda</a:t>
            </a:r>
          </a:p>
          <a:p>
            <a:pPr algn="r"/>
            <a:r>
              <a:rPr lang="en-US" sz="1200" b="0">
                <a:solidFill>
                  <a:srgbClr val="FFFFFF"/>
                </a:solidFill>
                <a:latin typeface="Aptos"/>
              </a:rPr>
              <a:t>College of Science and Technology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30352" y="1664208"/>
            <a:ext cx="6812280" cy="3383280"/>
          </a:xfrm>
          <a:prstGeom prst="rect">
            <a:avLst/>
          </a:prstGeom>
          <a:solidFill>
            <a:srgbClr val="0A1B3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6" name="Text 6"/>
          <p:cNvSpPr txBox="1"/>
          <p:nvPr/>
        </p:nvSpPr>
        <p:spPr>
          <a:xfrm>
            <a:off x="749808" y="1755648"/>
            <a:ext cx="6446520" cy="162763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Aptos"/>
              </a:rPr>
              <a:t>A Fractional-Order Compartmental Model</a:t>
            </a:r>
          </a:p>
          <a:p>
            <a:pPr algn="l"/>
            <a:r>
              <a:rPr lang="en-US" sz="2500" b="1">
                <a:solidFill>
                  <a:srgbClr val="FFFFFF"/>
                </a:solidFill>
                <a:latin typeface="Aptos"/>
              </a:rPr>
              <a:t>of HIV Transmission</a:t>
            </a:r>
          </a:p>
          <a:p>
            <a:pPr algn="l"/>
            <a:r>
              <a:rPr lang="en-US" sz="2500" b="1">
                <a:solidFill>
                  <a:srgbClr val="FFFFFF"/>
                </a:solidFill>
                <a:latin typeface="Aptos"/>
              </a:rPr>
              <a:t>with Social Behaviour Interventions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86384" y="3474720"/>
            <a:ext cx="626364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0">
                <a:solidFill>
                  <a:srgbClr val="FFFFFF"/>
                </a:solidFill>
                <a:latin typeface="Aptos"/>
              </a:rPr>
              <a:t>Fractional SITA dynamics and dashboard simulation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786384" y="4069080"/>
            <a:ext cx="5303520" cy="74980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300" b="0">
                <a:solidFill>
                  <a:srgbClr val="FFFFFF"/>
                </a:solidFill>
                <a:latin typeface="Aptos"/>
              </a:rPr>
              <a:t>NDACYAYISABA Lambert</a:t>
            </a:r>
          </a:p>
          <a:p>
            <a:pPr algn="l"/>
            <a:r>
              <a:rPr lang="en-US" sz="1300" b="0">
                <a:solidFill>
                  <a:srgbClr val="FFFFFF"/>
                </a:solidFill>
                <a:latin typeface="Aptos"/>
              </a:rPr>
              <a:t>Supervisor: Dr. MUHIRWA Jean Pierre</a:t>
            </a:r>
          </a:p>
          <a:p>
            <a:pPr algn="l"/>
            <a:r>
              <a:rPr lang="en-US" sz="1300" b="0">
                <a:solidFill>
                  <a:srgbClr val="FFFFFF"/>
                </a:solidFill>
                <a:latin typeface="Aptos"/>
              </a:rPr>
              <a:t>Kigali, Rwanda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786384" y="5010912"/>
            <a:ext cx="3429000" cy="36576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10" name="Text 10"/>
          <p:cNvSpPr txBox="1"/>
          <p:nvPr/>
        </p:nvSpPr>
        <p:spPr>
          <a:xfrm>
            <a:off x="4315968" y="5010912"/>
            <a:ext cx="2743200" cy="36576"/>
          </a:xfrm>
          <a:prstGeom prst="rect">
            <a:avLst/>
          </a:prstGeom>
          <a:solidFill>
            <a:srgbClr val="007E7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502920" y="292608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300" b="1">
                <a:solidFill>
                  <a:srgbClr val="0A1B30"/>
                </a:solidFill>
                <a:latin typeface="Aptos"/>
              </a:rPr>
              <a:t>Background / Motivation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502920" y="868680"/>
            <a:ext cx="1828800" cy="2743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13" name="Text 13"/>
          <p:cNvSpPr txBox="1"/>
          <p:nvPr/>
        </p:nvSpPr>
        <p:spPr>
          <a:xfrm>
            <a:off x="2331720" y="868680"/>
            <a:ext cx="6949440" cy="27432"/>
          </a:xfrm>
          <a:prstGeom prst="rect">
            <a:avLst/>
          </a:prstGeom>
          <a:solidFill>
            <a:srgbClr val="007E7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14" name="Text 14"/>
          <p:cNvSpPr txBox="1"/>
          <p:nvPr/>
        </p:nvSpPr>
        <p:spPr>
          <a:xfrm>
            <a:off x="658368" y="1261872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1">
                <a:solidFill>
                  <a:srgbClr val="CC9900"/>
                </a:solidFill>
                <a:latin typeface="Aptos"/>
              </a:rPr>
              <a:t>Rwanda-aware public-health motivation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749808" y="1664208"/>
            <a:ext cx="5623560" cy="205740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HIV transmission is shaped by biology, treatment access, and social behaviour.</a:t>
            </a:r>
          </a:p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Awareness, safer behaviour, testing, treatment-seeking, and adherence can change long-term outcomes.</a:t>
            </a:r>
          </a:p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In Rwanda, prevention and adherence support remain important alongside treatment progress.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841248" y="4224528"/>
            <a:ext cx="5303520" cy="868680"/>
          </a:xfrm>
          <a:prstGeom prst="rect">
            <a:avLst/>
          </a:prstGeom>
          <a:solidFill>
            <a:srgbClr val="E6F7F4"/>
          </a:solidFill>
          <a:ln w="9525">
            <a:solidFill>
              <a:srgbClr val="007E70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0">
                <a:solidFill>
                  <a:srgbClr val="142030"/>
                </a:solidFill>
                <a:latin typeface="Aptos"/>
              </a:rPr>
              <a:t>Why mathematics?</a:t>
            </a:r>
          </a:p>
          <a:p>
            <a:pPr algn="l"/>
            <a:r>
              <a:rPr lang="en-US" sz="1500" b="0">
                <a:solidFill>
                  <a:srgbClr val="142030"/>
                </a:solidFill>
                <a:latin typeface="Aptos"/>
              </a:rPr>
              <a:t>A model gives a controlled way to compare intervention strategies and understand possible long-term behaviour.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6720840" y="1234440"/>
            <a:ext cx="3474720" cy="502920"/>
          </a:xfrm>
          <a:prstGeom prst="rect">
            <a:avLst/>
          </a:prstGeom>
          <a:solidFill>
            <a:srgbClr val="004A8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Aptos"/>
              </a:rPr>
              <a:t>Context: HIV in Rwanda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6720840" y="1965960"/>
            <a:ext cx="3474720" cy="502920"/>
          </a:xfrm>
          <a:prstGeom prst="rect">
            <a:avLst/>
          </a:prstGeom>
          <a:solidFill>
            <a:srgbClr val="007E7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Aptos"/>
              </a:rPr>
              <a:t>Mechanism: Behaviour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6720840" y="2697480"/>
            <a:ext cx="3474720" cy="50292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Aptos"/>
              </a:rPr>
              <a:t>Method: Fractional memory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6720840" y="3429000"/>
            <a:ext cx="3474720" cy="502920"/>
          </a:xfrm>
          <a:prstGeom prst="rect">
            <a:avLst/>
          </a:prstGeom>
          <a:solidFill>
            <a:srgbClr val="B44146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Aptos"/>
              </a:rPr>
              <a:t>Output: Simulation evidence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21"/>
          <p:cNvSpPr txBox="1"/>
          <p:nvPr/>
        </p:nvSpPr>
        <p:spPr>
          <a:xfrm>
            <a:off x="502920" y="292608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300" b="1">
                <a:solidFill>
                  <a:srgbClr val="0A1B30"/>
                </a:solidFill>
                <a:latin typeface="Aptos"/>
              </a:rPr>
              <a:t>Problem Statement + Literature Gap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502920" y="868680"/>
            <a:ext cx="1828800" cy="2743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23" name="Text 23"/>
          <p:cNvSpPr txBox="1"/>
          <p:nvPr/>
        </p:nvSpPr>
        <p:spPr>
          <a:xfrm>
            <a:off x="2331720" y="868680"/>
            <a:ext cx="6949440" cy="27432"/>
          </a:xfrm>
          <a:prstGeom prst="rect">
            <a:avLst/>
          </a:prstGeom>
          <a:solidFill>
            <a:srgbClr val="007E7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24" name="Text 24"/>
          <p:cNvSpPr txBox="1"/>
          <p:nvPr/>
        </p:nvSpPr>
        <p:spPr>
          <a:xfrm>
            <a:off x="658368" y="1234440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1">
                <a:solidFill>
                  <a:srgbClr val="CC9900"/>
                </a:solidFill>
                <a:latin typeface="Aptos"/>
              </a:rPr>
              <a:t>Limitations in ordinary modelling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713232" y="1627632"/>
            <a:ext cx="4800600" cy="28803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Ordinary models usually depend only on the present state.</a:t>
            </a:r>
          </a:p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HIV-related behaviour may depend on past awareness, stigma, testing history, and adherence.</a:t>
            </a:r>
          </a:p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Social behaviour is often simplified into fixed rates.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6080760" y="123444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1">
                <a:solidFill>
                  <a:srgbClr val="CC9900"/>
                </a:solidFill>
                <a:latin typeface="Aptos"/>
              </a:rPr>
              <a:t>Literature gap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6144768" y="1627632"/>
            <a:ext cx="4800600" cy="28803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Classical HIV models use ODE compartments such as SICA/SITA.</a:t>
            </a:r>
          </a:p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Fractional models use Caputo derivatives for memory effects.</a:t>
            </a:r>
          </a:p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Few works combine fractional HIV dynamics, behaviour controls, and an interactive dashboard.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868680" y="5349240"/>
            <a:ext cx="10195560" cy="640080"/>
          </a:xfrm>
          <a:prstGeom prst="rect">
            <a:avLst/>
          </a:prstGeom>
          <a:solidFill>
            <a:srgbClr val="E6F7F4"/>
          </a:solidFill>
          <a:ln w="9525">
            <a:solidFill>
              <a:srgbClr val="007E70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700" b="0">
                <a:solidFill>
                  <a:srgbClr val="142030"/>
                </a:solidFill>
                <a:latin typeface="Aptos"/>
              </a:rPr>
              <a:t>Research focus: a fractional-order SITA model that connects memory effects, social behaviour interventions, numerical simulation, and dashboard exploration.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29"/>
          <p:cNvSpPr txBox="1"/>
          <p:nvPr/>
        </p:nvSpPr>
        <p:spPr>
          <a:xfrm>
            <a:off x="502920" y="292608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300" b="1">
                <a:solidFill>
                  <a:srgbClr val="0A1B30"/>
                </a:solidFill>
                <a:latin typeface="Aptos"/>
              </a:rPr>
              <a:t>Objectives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502920" y="868680"/>
            <a:ext cx="1828800" cy="2743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31" name="Text 31"/>
          <p:cNvSpPr txBox="1"/>
          <p:nvPr/>
        </p:nvSpPr>
        <p:spPr>
          <a:xfrm>
            <a:off x="2331720" y="868680"/>
            <a:ext cx="6949440" cy="27432"/>
          </a:xfrm>
          <a:prstGeom prst="rect">
            <a:avLst/>
          </a:prstGeom>
          <a:solidFill>
            <a:srgbClr val="007E7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32" name="Text 32"/>
          <p:cNvSpPr txBox="1"/>
          <p:nvPr/>
        </p:nvSpPr>
        <p:spPr>
          <a:xfrm>
            <a:off x="685800" y="1207008"/>
            <a:ext cx="521208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1">
                <a:solidFill>
                  <a:srgbClr val="CC9900"/>
                </a:solidFill>
                <a:latin typeface="Aptos"/>
              </a:rPr>
              <a:t>Main objective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713232" y="1627632"/>
            <a:ext cx="5257800" cy="8686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700" b="0">
                <a:solidFill>
                  <a:srgbClr val="142030"/>
                </a:solidFill>
                <a:latin typeface="Aptos"/>
              </a:rPr>
              <a:t>To formulate, analyse, and computationally simulate a fractional-order SITA model of HIV transmission incorporating social behaviour interventions.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685800" y="2788920"/>
            <a:ext cx="521208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1">
                <a:solidFill>
                  <a:srgbClr val="CC9900"/>
                </a:solidFill>
                <a:latin typeface="Aptos"/>
              </a:rPr>
              <a:t>Specific objectives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768096" y="3182112"/>
            <a:ext cx="5303520" cy="19659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>
              <a:buChar char="•"/>
              <a:buFont typeface="Arial"/>
            </a:pPr>
            <a:r>
              <a:rPr lang="en-US" sz="1500" b="0">
                <a:solidFill>
                  <a:srgbClr val="142030"/>
                </a:solidFill>
                <a:latin typeface="Aptos"/>
              </a:rPr>
              <a:t>Formulate a fractional-order SITA HIV model using the Caputo derivative and social behaviour interventions.</a:t>
            </a:r>
          </a:p>
          <a:p>
            <a:pPr algn="l">
              <a:buChar char="•"/>
              <a:buFont typeface="Arial"/>
            </a:pPr>
            <a:r>
              <a:rPr lang="en-US" sz="1500" b="0">
                <a:solidFill>
                  <a:srgbClr val="142030"/>
                </a:solidFill>
                <a:latin typeface="Aptos"/>
              </a:rPr>
              <a:t>Analyse positivity, boundedness, disease-free equilibrium, R0, and fractional stability.</a:t>
            </a:r>
          </a:p>
          <a:p>
            <a:pPr algn="l">
              <a:buChar char="•"/>
              <a:buFont typeface="Arial"/>
            </a:pPr>
            <a:r>
              <a:rPr lang="en-US" sz="1500" b="0">
                <a:solidFill>
                  <a:srgbClr val="142030"/>
                </a:solidFill>
                <a:latin typeface="Aptos"/>
              </a:rPr>
              <a:t>Implement simulations and a Python dashboard to study memory effects, interventions, sensitivity, and epidemic trajectories.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6629400" y="1508760"/>
            <a:ext cx="3474720" cy="594360"/>
          </a:xfrm>
          <a:prstGeom prst="rect">
            <a:avLst/>
          </a:prstGeom>
          <a:solidFill>
            <a:srgbClr val="E8F2FA"/>
          </a:solidFill>
          <a:ln w="9525">
            <a:solidFill>
              <a:srgbClr val="004A80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c"/>
            <a:r>
              <a:rPr lang="en-US" sz="1600" b="1">
                <a:solidFill>
                  <a:srgbClr val="142030"/>
                </a:solidFill>
                <a:latin typeface="Aptos"/>
              </a:rPr>
              <a:t>1. Model formulation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6629400" y="2514600"/>
            <a:ext cx="3474720" cy="594360"/>
          </a:xfrm>
          <a:prstGeom prst="rect">
            <a:avLst/>
          </a:prstGeom>
          <a:solidFill>
            <a:srgbClr val="E6F7F4"/>
          </a:solidFill>
          <a:ln w="9525">
            <a:solidFill>
              <a:srgbClr val="007E70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c"/>
            <a:r>
              <a:rPr lang="en-US" sz="1600" b="1">
                <a:solidFill>
                  <a:srgbClr val="142030"/>
                </a:solidFill>
                <a:latin typeface="Aptos"/>
              </a:rPr>
              <a:t>2. Model analysis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6629400" y="3520440"/>
            <a:ext cx="3474720" cy="594360"/>
          </a:xfrm>
          <a:prstGeom prst="rect">
            <a:avLst/>
          </a:prstGeom>
          <a:solidFill>
            <a:srgbClr val="FFF7E0"/>
          </a:solidFill>
          <a:ln w="9525">
            <a:solidFill>
              <a:srgbClr val="CC9900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c"/>
            <a:r>
              <a:rPr lang="en-US" sz="1600" b="1">
                <a:solidFill>
                  <a:srgbClr val="142030"/>
                </a:solidFill>
                <a:latin typeface="Aptos"/>
              </a:rPr>
              <a:t>3. Simulation dashboard</a:t>
            </a:r>
          </a:p>
        </p:txBody>
      </p:sp>
      <p:cxnSp>
        <p:nvCxnSpPr>
          <p:cNvPr id="39" name="Arrow 39"/>
          <p:cNvCxnSpPr/>
          <p:nvPr/>
        </p:nvCxnSpPr>
        <p:spPr>
          <a:xfrm>
            <a:off x="8366760" y="2103120"/>
            <a:ext cx="0" cy="411480"/>
          </a:xfrm>
          <a:prstGeom prst="line">
            <a:avLst/>
          </a:prstGeom>
          <a:ln w="19050">
            <a:solidFill>
              <a:srgbClr val="5260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Arrow 40"/>
          <p:cNvCxnSpPr/>
          <p:nvPr/>
        </p:nvCxnSpPr>
        <p:spPr>
          <a:xfrm>
            <a:off x="8366760" y="3108960"/>
            <a:ext cx="0" cy="411480"/>
          </a:xfrm>
          <a:prstGeom prst="line">
            <a:avLst/>
          </a:prstGeom>
          <a:ln w="19050">
            <a:solidFill>
              <a:srgbClr val="5260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41"/>
          <p:cNvSpPr txBox="1"/>
          <p:nvPr/>
        </p:nvSpPr>
        <p:spPr>
          <a:xfrm>
            <a:off x="502920" y="292608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300" b="1">
                <a:solidFill>
                  <a:srgbClr val="0A1B30"/>
                </a:solidFill>
                <a:latin typeface="Aptos"/>
              </a:rPr>
              <a:t>Model Diagram: SITA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502920" y="868680"/>
            <a:ext cx="1828800" cy="2743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43" name="Text 43"/>
          <p:cNvSpPr txBox="1"/>
          <p:nvPr/>
        </p:nvSpPr>
        <p:spPr>
          <a:xfrm>
            <a:off x="2331720" y="868680"/>
            <a:ext cx="6949440" cy="27432"/>
          </a:xfrm>
          <a:prstGeom prst="rect">
            <a:avLst/>
          </a:prstGeom>
          <a:solidFill>
            <a:srgbClr val="007E7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44" name="S(t)"/>
          <p:cNvSpPr/>
          <p:nvPr/>
        </p:nvSpPr>
        <p:spPr>
          <a:xfrm>
            <a:off x="749808" y="1856231"/>
            <a:ext cx="1691640" cy="713232"/>
          </a:xfrm>
          <a:prstGeom prst="roundRect">
            <a:avLst/>
          </a:prstGeom>
          <a:solidFill>
            <a:srgbClr val="E8F2FA"/>
          </a:solidFill>
          <a:ln w="12700">
            <a:solidFill>
              <a:srgbClr val="004A80"/>
            </a:solidFill>
          </a:ln>
        </p:spPr>
        <p:txBody>
          <a:bodyPr wrap="square" anchor="mid" lIns="91440" rIns="91440" tIns="45720" bIns="45720">
            <a:normAutofit fontScale="85000" lnSpcReduction="15000"/>
          </a:bodyPr>
          <a:lstStyle/>
          <a:p>
            <a:pPr algn="ctr"/>
            <a:r>
              <a:rPr lang="en-US" sz="2000" b="1">
                <a:solidFill>
                  <a:srgbClr val="004A80"/>
                </a:solidFill>
                <a:latin typeface="Aptos Display"/>
              </a:rPr>
              <a:t>S(t)</a:t>
            </a:r>
          </a:p>
          <a:p>
            <a:pPr algn="ctr"/>
            <a:r>
              <a:rPr lang="en-US" sz="1500" b="1">
                <a:solidFill>
                  <a:srgbClr val="004A80"/>
                </a:solidFill>
                <a:latin typeface="Aptos"/>
              </a:rPr>
              <a:t>Susceptible</a:t>
            </a:r>
          </a:p>
        </p:txBody>
      </p:sp>
      <p:sp>
        <p:nvSpPr>
          <p:cNvPr id="45" name="I(t)"/>
          <p:cNvSpPr/>
          <p:nvPr/>
        </p:nvSpPr>
        <p:spPr>
          <a:xfrm>
            <a:off x="3246120" y="1856231"/>
            <a:ext cx="16916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4146"/>
            </a:solidFill>
          </a:ln>
        </p:spPr>
        <p:txBody>
          <a:bodyPr wrap="square" anchor="mid" lIns="91440" rIns="91440" tIns="45720" bIns="45720">
            <a:normAutofit fontScale="85000" lnSpcReduction="15000"/>
          </a:bodyPr>
          <a:lstStyle/>
          <a:p>
            <a:pPr algn="ctr"/>
            <a:r>
              <a:rPr lang="en-US" sz="2000" b="1">
                <a:solidFill>
                  <a:srgbClr val="B44146"/>
                </a:solidFill>
                <a:latin typeface="Aptos Display"/>
              </a:rPr>
              <a:t>I(t)</a:t>
            </a:r>
          </a:p>
          <a:p>
            <a:pPr algn="ctr"/>
            <a:r>
              <a:rPr lang="en-US" sz="1500" b="1">
                <a:solidFill>
                  <a:srgbClr val="B44146"/>
                </a:solidFill>
                <a:latin typeface="Aptos"/>
              </a:rPr>
              <a:t>Infected</a:t>
            </a:r>
          </a:p>
        </p:txBody>
      </p:sp>
      <p:sp>
        <p:nvSpPr>
          <p:cNvPr id="46" name="T(t)"/>
          <p:cNvSpPr/>
          <p:nvPr/>
        </p:nvSpPr>
        <p:spPr>
          <a:xfrm>
            <a:off x="5742432" y="1856231"/>
            <a:ext cx="1691640" cy="713232"/>
          </a:xfrm>
          <a:prstGeom prst="roundRect">
            <a:avLst/>
          </a:prstGeom>
          <a:solidFill>
            <a:srgbClr val="FFF7E0"/>
          </a:solidFill>
          <a:ln w="12700">
            <a:solidFill>
              <a:srgbClr val="CC9900"/>
            </a:solidFill>
          </a:ln>
        </p:spPr>
        <p:txBody>
          <a:bodyPr wrap="square" anchor="mid" lIns="91440" rIns="91440" tIns="45720" bIns="45720">
            <a:normAutofit fontScale="85000" lnSpcReduction="15000"/>
          </a:bodyPr>
          <a:lstStyle/>
          <a:p>
            <a:pPr algn="ctr"/>
            <a:r>
              <a:rPr lang="en-US" sz="2000" b="1">
                <a:solidFill>
                  <a:srgbClr val="CC9900"/>
                </a:solidFill>
                <a:latin typeface="Aptos Display"/>
              </a:rPr>
              <a:t>T(t)</a:t>
            </a:r>
          </a:p>
          <a:p>
            <a:pPr algn="ctr"/>
            <a:r>
              <a:rPr lang="en-US" sz="1500" b="1">
                <a:solidFill>
                  <a:srgbClr val="CC9900"/>
                </a:solidFill>
                <a:latin typeface="Aptos"/>
              </a:rPr>
              <a:t>Treated</a:t>
            </a:r>
          </a:p>
        </p:txBody>
      </p:sp>
      <p:sp>
        <p:nvSpPr>
          <p:cNvPr id="47" name="A(t)"/>
          <p:cNvSpPr/>
          <p:nvPr/>
        </p:nvSpPr>
        <p:spPr>
          <a:xfrm>
            <a:off x="8247888" y="1856231"/>
            <a:ext cx="1691640" cy="713232"/>
          </a:xfrm>
          <a:prstGeom prst="roundRect">
            <a:avLst/>
          </a:prstGeom>
          <a:solidFill>
            <a:srgbClr val="E6F7F4"/>
          </a:solidFill>
          <a:ln w="12700">
            <a:solidFill>
              <a:srgbClr val="007E70"/>
            </a:solidFill>
          </a:ln>
        </p:spPr>
        <p:txBody>
          <a:bodyPr wrap="square" anchor="mid" lIns="91440" rIns="91440" tIns="45720" bIns="45720">
            <a:normAutofit fontScale="85000" lnSpcReduction="15000"/>
          </a:bodyPr>
          <a:lstStyle/>
          <a:p>
            <a:pPr algn="ctr"/>
            <a:r>
              <a:rPr lang="en-US" sz="2000" b="1">
                <a:solidFill>
                  <a:srgbClr val="007E70"/>
                </a:solidFill>
                <a:latin typeface="Aptos Display"/>
              </a:rPr>
              <a:t>A(t)</a:t>
            </a:r>
          </a:p>
          <a:p>
            <a:pPr algn="ctr"/>
            <a:r>
              <a:rPr lang="en-US" sz="1500" b="1">
                <a:solidFill>
                  <a:srgbClr val="007E70"/>
                </a:solidFill>
                <a:latin typeface="Aptos"/>
              </a:rPr>
              <a:t>AIDS stage</a:t>
            </a:r>
          </a:p>
        </p:txBody>
      </p:sp>
      <p:cxnSp>
        <p:nvCxnSpPr>
          <p:cNvPr id="48" name="Arrow 48"/>
          <p:cNvCxnSpPr/>
          <p:nvPr/>
        </p:nvCxnSpPr>
        <p:spPr>
          <a:xfrm>
            <a:off x="2441448" y="2212848"/>
            <a:ext cx="804671" cy="0"/>
          </a:xfrm>
          <a:prstGeom prst="line">
            <a:avLst/>
          </a:prstGeom>
          <a:ln w="19050">
            <a:solidFill>
              <a:srgbClr val="1420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Arrow 49"/>
          <p:cNvCxnSpPr/>
          <p:nvPr/>
        </p:nvCxnSpPr>
        <p:spPr>
          <a:xfrm>
            <a:off x="4937760" y="2212848"/>
            <a:ext cx="804671" cy="0"/>
          </a:xfrm>
          <a:prstGeom prst="line">
            <a:avLst/>
          </a:prstGeom>
          <a:ln w="19050">
            <a:solidFill>
              <a:srgbClr val="1420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Arrow 50"/>
          <p:cNvCxnSpPr/>
          <p:nvPr/>
        </p:nvCxnSpPr>
        <p:spPr>
          <a:xfrm>
            <a:off x="7434072" y="2212848"/>
            <a:ext cx="813815" cy="0"/>
          </a:xfrm>
          <a:prstGeom prst="line">
            <a:avLst/>
          </a:prstGeom>
          <a:ln w="19050">
            <a:solidFill>
              <a:srgbClr val="1420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 51"/>
          <p:cNvSpPr txBox="1"/>
          <p:nvPr/>
        </p:nvSpPr>
        <p:spPr>
          <a:xfrm>
            <a:off x="2267712" y="1353312"/>
            <a:ext cx="11430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c"/>
            <a:r>
              <a:rPr lang="en-US" sz="1000" b="0">
                <a:solidFill>
                  <a:srgbClr val="52606C"/>
                </a:solidFill>
                <a:latin typeface="Aptos"/>
              </a:rPr>
              <a:t>effective transmission</a:t>
            </a:r>
          </a:p>
        </p:txBody>
      </p:sp>
      <p:sp>
        <p:nvSpPr>
          <p:cNvPr id="52" name="Text 52"/>
          <p:cNvSpPr txBox="1"/>
          <p:nvPr/>
        </p:nvSpPr>
        <p:spPr>
          <a:xfrm>
            <a:off x="4700016" y="1353312"/>
            <a:ext cx="11430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c"/>
            <a:r>
              <a:rPr lang="en-US" sz="1000" b="0">
                <a:solidFill>
                  <a:srgbClr val="52606C"/>
                </a:solidFill>
                <a:latin typeface="Aptos"/>
              </a:rPr>
              <a:t>testing and treatment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7059168" y="2779776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c"/>
            <a:r>
              <a:rPr lang="en-US" sz="1000" b="0">
                <a:solidFill>
                  <a:srgbClr val="52606C"/>
                </a:solidFill>
                <a:latin typeface="Aptos"/>
              </a:rPr>
              <a:t>reduced progression</a:t>
            </a:r>
          </a:p>
        </p:txBody>
      </p:sp>
      <p:sp>
        <p:nvSpPr>
          <p:cNvPr id="54" name="Text 54"/>
          <p:cNvSpPr txBox="1"/>
          <p:nvPr/>
        </p:nvSpPr>
        <p:spPr>
          <a:xfrm>
            <a:off x="914400" y="4224528"/>
            <a:ext cx="4846320" cy="960120"/>
          </a:xfrm>
          <a:prstGeom prst="rect">
            <a:avLst/>
          </a:prstGeom>
          <a:solidFill>
            <a:srgbClr val="E8F2FA"/>
          </a:solidFill>
          <a:ln w="9525">
            <a:solidFill>
              <a:srgbClr val="004A80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0">
                <a:solidFill>
                  <a:srgbClr val="142030"/>
                </a:solidFill>
                <a:latin typeface="Aptos"/>
              </a:rPr>
              <a:t>State variables</a:t>
            </a:r>
          </a:p>
          <a:p>
            <a:pPr algn="l"/>
            <a:r>
              <a:rPr lang="en-US" sz="1500" b="0">
                <a:solidFill>
                  <a:srgbClr val="142030"/>
                </a:solidFill>
                <a:latin typeface="Aptos"/>
              </a:rPr>
              <a:t>S susceptible, I infected, T treated, A AIDS-stage population.</a:t>
            </a:r>
          </a:p>
        </p:txBody>
      </p:sp>
      <p:sp>
        <p:nvSpPr>
          <p:cNvPr id="55" name="Text 55"/>
          <p:cNvSpPr txBox="1"/>
          <p:nvPr/>
        </p:nvSpPr>
        <p:spPr>
          <a:xfrm>
            <a:off x="6355080" y="4224528"/>
            <a:ext cx="4709160" cy="960120"/>
          </a:xfrm>
          <a:prstGeom prst="rect">
            <a:avLst/>
          </a:prstGeom>
          <a:solidFill>
            <a:srgbClr val="FFF7E0"/>
          </a:solidFill>
          <a:ln w="9525">
            <a:solidFill>
              <a:srgbClr val="CC9900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0">
                <a:solidFill>
                  <a:srgbClr val="142030"/>
                </a:solidFill>
                <a:latin typeface="Aptos"/>
              </a:rPr>
              <a:t>Controls</a:t>
            </a:r>
          </a:p>
          <a:p>
            <a:pPr algn="l"/>
            <a:r>
              <a:rPr lang="en-US" sz="1500" b="0">
                <a:solidFill>
                  <a:srgbClr val="142030"/>
                </a:solidFill>
                <a:latin typeface="Aptos"/>
              </a:rPr>
              <a:t>u1 awareness, u2 safer behaviour, u3 testing, u4 adherence.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56"/>
          <p:cNvSpPr txBox="1"/>
          <p:nvPr/>
        </p:nvSpPr>
        <p:spPr>
          <a:xfrm>
            <a:off x="502920" y="292608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300" b="1">
                <a:solidFill>
                  <a:srgbClr val="0A1B30"/>
                </a:solidFill>
                <a:latin typeface="Aptos"/>
              </a:rPr>
              <a:t>Fractional-Order Model and Analysis Evidence</a:t>
            </a:r>
          </a:p>
        </p:txBody>
      </p:sp>
      <p:sp>
        <p:nvSpPr>
          <p:cNvPr id="57" name="Text 57"/>
          <p:cNvSpPr txBox="1"/>
          <p:nvPr/>
        </p:nvSpPr>
        <p:spPr>
          <a:xfrm>
            <a:off x="502920" y="868680"/>
            <a:ext cx="1828800" cy="2743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58" name="Text 58"/>
          <p:cNvSpPr txBox="1"/>
          <p:nvPr/>
        </p:nvSpPr>
        <p:spPr>
          <a:xfrm>
            <a:off x="2331720" y="868680"/>
            <a:ext cx="6949440" cy="27432"/>
          </a:xfrm>
          <a:prstGeom prst="rect">
            <a:avLst/>
          </a:prstGeom>
          <a:solidFill>
            <a:srgbClr val="007E7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59" name="Text 59"/>
          <p:cNvSpPr txBox="1"/>
          <p:nvPr/>
        </p:nvSpPr>
        <p:spPr>
          <a:xfrm>
            <a:off x="658368" y="1115568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1">
                <a:solidFill>
                  <a:srgbClr val="CC9900"/>
                </a:solidFill>
                <a:latin typeface="Aptos"/>
              </a:rPr>
              <a:t>Objective 1: model formulation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694944" y="1517904"/>
            <a:ext cx="5303520" cy="43891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000" b="1">
                <a:solidFill>
                  <a:srgbClr val="142030"/>
                </a:solidFill>
                <a:latin typeface="Aptos"/>
              </a:rPr>
              <a:t>D_C^q X(t) = F(t, X(t)),    0 &lt; q &lt;= 1</a:t>
            </a:r>
          </a:p>
        </p:txBody>
      </p:sp>
      <p:sp>
        <p:nvSpPr>
          <p:cNvPr id="61" name="Text 61"/>
          <p:cNvSpPr txBox="1"/>
          <p:nvPr/>
        </p:nvSpPr>
        <p:spPr>
          <a:xfrm>
            <a:off x="749808" y="2130552"/>
            <a:ext cx="5623560" cy="14173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400" b="0">
                <a:solidFill>
                  <a:srgbClr val="142030"/>
                </a:solidFill>
                <a:latin typeface="Aptos"/>
              </a:rPr>
              <a:t>D_C^q S = Lambda - beta_eff S(I + eta T) - mu S</a:t>
            </a:r>
          </a:p>
          <a:p>
            <a:pPr algn="l"/>
            <a:r>
              <a:rPr lang="en-US" sz="1400" b="0">
                <a:solidFill>
                  <a:srgbClr val="142030"/>
                </a:solidFill>
                <a:latin typeface="Aptos"/>
              </a:rPr>
              <a:t>D_C^q I = beta_eff S(I + eta T) - (tau_eff + delta + mu)I</a:t>
            </a:r>
          </a:p>
          <a:p>
            <a:pPr algn="l"/>
            <a:r>
              <a:rPr lang="en-US" sz="1400" b="0">
                <a:solidFill>
                  <a:srgbClr val="142030"/>
                </a:solidFill>
                <a:latin typeface="Aptos"/>
              </a:rPr>
              <a:t>D_C^q T = tau_eff I - (rho_eff + mu)T</a:t>
            </a:r>
          </a:p>
          <a:p>
            <a:pPr algn="l"/>
            <a:r>
              <a:rPr lang="en-US" sz="1400" b="0">
                <a:solidFill>
                  <a:srgbClr val="142030"/>
                </a:solidFill>
                <a:latin typeface="Aptos"/>
              </a:rPr>
              <a:t>D_C^q A = delta I + rho_eff T - (d + mu)A</a:t>
            </a:r>
          </a:p>
        </p:txBody>
      </p:sp>
      <p:sp>
        <p:nvSpPr>
          <p:cNvPr id="62" name="Text 62"/>
          <p:cNvSpPr txBox="1"/>
          <p:nvPr/>
        </p:nvSpPr>
        <p:spPr>
          <a:xfrm>
            <a:off x="749808" y="3730752"/>
            <a:ext cx="5623560" cy="987552"/>
          </a:xfrm>
          <a:prstGeom prst="rect">
            <a:avLst/>
          </a:prstGeom>
          <a:solidFill>
            <a:srgbClr val="FFF7E0"/>
          </a:solidFill>
          <a:ln w="9525">
            <a:solidFill>
              <a:srgbClr val="CC9900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300" b="0">
                <a:solidFill>
                  <a:srgbClr val="142030"/>
                </a:solidFill>
                <a:latin typeface="Aptos"/>
              </a:rPr>
              <a:t>Intervention-adjusted rates</a:t>
            </a:r>
          </a:p>
          <a:p>
            <a:pPr algn="l"/>
            <a:r>
              <a:rPr lang="en-US" sz="1300" b="0">
                <a:solidFill>
                  <a:srgbClr val="142030"/>
                </a:solidFill>
                <a:latin typeface="Aptos"/>
              </a:rPr>
              <a:t>beta_eff = beta0(1-u1)(1-u2)</a:t>
            </a:r>
          </a:p>
          <a:p>
            <a:pPr algn="l"/>
            <a:r>
              <a:rPr lang="en-US" sz="1300" b="0">
                <a:solidFill>
                  <a:srgbClr val="142030"/>
                </a:solidFill>
                <a:latin typeface="Aptos"/>
              </a:rPr>
              <a:t>tau_eff = tau(1+u3)</a:t>
            </a:r>
          </a:p>
          <a:p>
            <a:pPr algn="l"/>
            <a:r>
              <a:rPr lang="en-US" sz="1300" b="0">
                <a:solidFill>
                  <a:srgbClr val="142030"/>
                </a:solidFill>
                <a:latin typeface="Aptos"/>
              </a:rPr>
              <a:t>rho_eff = rho(1-u4)</a:t>
            </a:r>
          </a:p>
        </p:txBody>
      </p:sp>
      <p:sp>
        <p:nvSpPr>
          <p:cNvPr id="63" name="Text 63"/>
          <p:cNvSpPr txBox="1"/>
          <p:nvPr/>
        </p:nvSpPr>
        <p:spPr>
          <a:xfrm>
            <a:off x="6720840" y="1143000"/>
            <a:ext cx="43434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1">
                <a:solidFill>
                  <a:srgbClr val="CC9900"/>
                </a:solidFill>
                <a:latin typeface="Aptos"/>
              </a:rPr>
              <a:t>Objective 2: analysis completed</a:t>
            </a:r>
          </a:p>
        </p:txBody>
      </p:sp>
      <p:sp>
        <p:nvSpPr>
          <p:cNvPr id="64" name="Text 64"/>
          <p:cNvSpPr txBox="1"/>
          <p:nvPr/>
        </p:nvSpPr>
        <p:spPr>
          <a:xfrm>
            <a:off x="6720840" y="1572768"/>
            <a:ext cx="4343400" cy="676656"/>
          </a:xfrm>
          <a:prstGeom prst="rect">
            <a:avLst/>
          </a:prstGeom>
          <a:solidFill>
            <a:srgbClr val="E8F2FA"/>
          </a:solidFill>
          <a:ln w="9525">
            <a:solidFill>
              <a:srgbClr val="004A80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200" b="0">
                <a:solidFill>
                  <a:srgbClr val="142030"/>
                </a:solidFill>
                <a:latin typeface="Aptos"/>
              </a:rPr>
              <a:t>Positivity</a:t>
            </a:r>
          </a:p>
          <a:p>
            <a:pPr algn="l"/>
            <a:r>
              <a:rPr lang="en-US" sz="1200" b="0">
                <a:solidFill>
                  <a:srgbClr val="142030"/>
                </a:solidFill>
                <a:latin typeface="Aptos"/>
              </a:rPr>
              <a:t>Boundary derivatives are nonnegative, so S, I, T, A stay nonnegative.</a:t>
            </a:r>
          </a:p>
        </p:txBody>
      </p:sp>
      <p:sp>
        <p:nvSpPr>
          <p:cNvPr id="65" name="Text 65"/>
          <p:cNvSpPr txBox="1"/>
          <p:nvPr/>
        </p:nvSpPr>
        <p:spPr>
          <a:xfrm>
            <a:off x="6720840" y="2395728"/>
            <a:ext cx="4343400" cy="676656"/>
          </a:xfrm>
          <a:prstGeom prst="rect">
            <a:avLst/>
          </a:prstGeom>
          <a:solidFill>
            <a:srgbClr val="E6F7F4"/>
          </a:solidFill>
          <a:ln w="9525">
            <a:solidFill>
              <a:srgbClr val="007E70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200" b="0">
                <a:solidFill>
                  <a:srgbClr val="142030"/>
                </a:solidFill>
                <a:latin typeface="Aptos"/>
              </a:rPr>
              <a:t>Boundedness</a:t>
            </a:r>
          </a:p>
          <a:p>
            <a:pPr algn="l"/>
            <a:r>
              <a:rPr lang="en-US" sz="1200" b="0">
                <a:solidFill>
                  <a:srgbClr val="142030"/>
                </a:solidFill>
                <a:latin typeface="Aptos"/>
              </a:rPr>
              <a:t>D_C^q N = Lambda - mu N - dA &lt;= Lambda - mu N.</a:t>
            </a:r>
          </a:p>
        </p:txBody>
      </p:sp>
      <p:sp>
        <p:nvSpPr>
          <p:cNvPr id="66" name="Text 66"/>
          <p:cNvSpPr txBox="1"/>
          <p:nvPr/>
        </p:nvSpPr>
        <p:spPr>
          <a:xfrm>
            <a:off x="6720840" y="3218688"/>
            <a:ext cx="4343400" cy="713232"/>
          </a:xfrm>
          <a:prstGeom prst="rect">
            <a:avLst/>
          </a:prstGeom>
          <a:solidFill>
            <a:srgbClr val="FFF7E0"/>
          </a:solidFill>
          <a:ln w="9525">
            <a:solidFill>
              <a:srgbClr val="CC9900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200" b="0">
                <a:solidFill>
                  <a:srgbClr val="142030"/>
                </a:solidFill>
                <a:latin typeface="Aptos"/>
              </a:rPr>
              <a:t>DFE and R0</a:t>
            </a:r>
          </a:p>
          <a:p>
            <a:pPr algn="l"/>
            <a:r>
              <a:rPr lang="en-US" sz="1200" b="0">
                <a:solidFill>
                  <a:srgbClr val="142030"/>
                </a:solidFill>
                <a:latin typeface="Aptos"/>
              </a:rPr>
              <a:t>E0=(Lambda/mu,0,0,0); R0 is obtained by next-generation method.</a:t>
            </a:r>
          </a:p>
        </p:txBody>
      </p:sp>
      <p:sp>
        <p:nvSpPr>
          <p:cNvPr id="67" name="Text 67"/>
          <p:cNvSpPr txBox="1"/>
          <p:nvPr/>
        </p:nvSpPr>
        <p:spPr>
          <a:xfrm>
            <a:off x="6720840" y="4096512"/>
            <a:ext cx="4343400" cy="713232"/>
          </a:xfrm>
          <a:prstGeom prst="rect">
            <a:avLst/>
          </a:prstGeom>
          <a:solidFill>
            <a:srgbClr val="E6F7F4"/>
          </a:solidFill>
          <a:ln w="9525">
            <a:solidFill>
              <a:srgbClr val="007E70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200" b="0">
                <a:solidFill>
                  <a:srgbClr val="142030"/>
                </a:solidFill>
                <a:latin typeface="Aptos"/>
              </a:rPr>
              <a:t>Fractional stability</a:t>
            </a:r>
          </a:p>
          <a:p>
            <a:pPr algn="l"/>
            <a:r>
              <a:rPr lang="en-US" sz="1200" b="0">
                <a:solidFill>
                  <a:srgbClr val="142030"/>
                </a:solidFill>
                <a:latin typeface="Aptos"/>
              </a:rPr>
              <a:t>DFE stability uses |arg(lambda_i)| &gt; q*pi/2 when R0 &lt; 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68"/>
          <p:cNvSpPr txBox="1"/>
          <p:nvPr/>
        </p:nvSpPr>
        <p:spPr>
          <a:xfrm>
            <a:off x="502920" y="292608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300" b="1">
                <a:solidFill>
                  <a:srgbClr val="0A1B30"/>
                </a:solidFill>
                <a:latin typeface="Aptos"/>
              </a:rPr>
              <a:t>Numerical Scheme + Implementation</a:t>
            </a:r>
          </a:p>
        </p:txBody>
      </p:sp>
      <p:sp>
        <p:nvSpPr>
          <p:cNvPr id="69" name="Text 69"/>
          <p:cNvSpPr txBox="1"/>
          <p:nvPr/>
        </p:nvSpPr>
        <p:spPr>
          <a:xfrm>
            <a:off x="502920" y="868680"/>
            <a:ext cx="1828800" cy="2743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70" name="Text 70"/>
          <p:cNvSpPr txBox="1"/>
          <p:nvPr/>
        </p:nvSpPr>
        <p:spPr>
          <a:xfrm>
            <a:off x="2331720" y="868680"/>
            <a:ext cx="6949440" cy="27432"/>
          </a:xfrm>
          <a:prstGeom prst="rect">
            <a:avLst/>
          </a:prstGeom>
          <a:solidFill>
            <a:srgbClr val="007E7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71" name="Text 71"/>
          <p:cNvSpPr txBox="1"/>
          <p:nvPr/>
        </p:nvSpPr>
        <p:spPr>
          <a:xfrm>
            <a:off x="658368" y="1234440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1">
                <a:solidFill>
                  <a:srgbClr val="CC9900"/>
                </a:solidFill>
                <a:latin typeface="Aptos"/>
              </a:rPr>
              <a:t>Numerical idea</a:t>
            </a:r>
          </a:p>
        </p:txBody>
      </p:sp>
      <p:sp>
        <p:nvSpPr>
          <p:cNvPr id="72" name="Text 72"/>
          <p:cNvSpPr txBox="1"/>
          <p:nvPr/>
        </p:nvSpPr>
        <p:spPr>
          <a:xfrm>
            <a:off x="749808" y="1627632"/>
            <a:ext cx="4937760" cy="24231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Time interval is divided into discrete steps.</a:t>
            </a:r>
          </a:p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A predictor estimates the next state.</a:t>
            </a:r>
          </a:p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A corrector updates the state using fractional-memory weights.</a:t>
            </a:r>
          </a:p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The same engine is used for baseline, memory, intervention, and sensitivity experiments.</a:t>
            </a:r>
          </a:p>
        </p:txBody>
      </p:sp>
      <p:sp>
        <p:nvSpPr>
          <p:cNvPr id="73" name="Text 73"/>
          <p:cNvSpPr txBox="1"/>
          <p:nvPr/>
        </p:nvSpPr>
        <p:spPr>
          <a:xfrm>
            <a:off x="6355080" y="1170432"/>
            <a:ext cx="4297680" cy="749808"/>
          </a:xfrm>
          <a:prstGeom prst="rect">
            <a:avLst/>
          </a:prstGeom>
          <a:solidFill>
            <a:srgbClr val="E8F2FA"/>
          </a:solidFill>
          <a:ln w="9525">
            <a:solidFill>
              <a:srgbClr val="004A80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400" b="0">
                <a:solidFill>
                  <a:srgbClr val="142030"/>
                </a:solidFill>
                <a:latin typeface="Aptos"/>
              </a:rPr>
              <a:t>Inputs</a:t>
            </a:r>
          </a:p>
          <a:p>
            <a:pPr algn="l"/>
            <a:r>
              <a:rPr lang="en-US" sz="1400" b="0">
                <a:solidFill>
                  <a:srgbClr val="142030"/>
                </a:solidFill>
                <a:latin typeface="Aptos"/>
              </a:rPr>
              <a:t>parameters, initial conditions, q, controls</a:t>
            </a:r>
          </a:p>
        </p:txBody>
      </p:sp>
      <p:sp>
        <p:nvSpPr>
          <p:cNvPr id="74" name="Text 74"/>
          <p:cNvSpPr txBox="1"/>
          <p:nvPr/>
        </p:nvSpPr>
        <p:spPr>
          <a:xfrm>
            <a:off x="6355080" y="2084831"/>
            <a:ext cx="4297680" cy="749808"/>
          </a:xfrm>
          <a:prstGeom prst="rect">
            <a:avLst/>
          </a:prstGeom>
          <a:solidFill>
            <a:srgbClr val="E6F7F4"/>
          </a:solidFill>
          <a:ln w="9525">
            <a:solidFill>
              <a:srgbClr val="007E70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400" b="0">
                <a:solidFill>
                  <a:srgbClr val="142030"/>
                </a:solidFill>
                <a:latin typeface="Aptos"/>
              </a:rPr>
              <a:t>Solver</a:t>
            </a:r>
          </a:p>
          <a:p>
            <a:pPr algn="l"/>
            <a:r>
              <a:rPr lang="en-US" sz="1400" b="0">
                <a:solidFill>
                  <a:srgbClr val="142030"/>
                </a:solidFill>
                <a:latin typeface="Aptos"/>
              </a:rPr>
              <a:t>fractional ABM-type numerical method</a:t>
            </a:r>
          </a:p>
        </p:txBody>
      </p:sp>
      <p:sp>
        <p:nvSpPr>
          <p:cNvPr id="75" name="Text 75"/>
          <p:cNvSpPr txBox="1"/>
          <p:nvPr/>
        </p:nvSpPr>
        <p:spPr>
          <a:xfrm>
            <a:off x="6355080" y="2999232"/>
            <a:ext cx="4297680" cy="749808"/>
          </a:xfrm>
          <a:prstGeom prst="rect">
            <a:avLst/>
          </a:prstGeom>
          <a:solidFill>
            <a:srgbClr val="FFF7E0"/>
          </a:solidFill>
          <a:ln w="9525">
            <a:solidFill>
              <a:srgbClr val="CC9900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400" b="0">
                <a:solidFill>
                  <a:srgbClr val="142030"/>
                </a:solidFill>
                <a:latin typeface="Aptos"/>
              </a:rPr>
              <a:t>Outputs</a:t>
            </a:r>
          </a:p>
          <a:p>
            <a:pPr algn="l"/>
            <a:r>
              <a:rPr lang="en-US" sz="1400" b="0">
                <a:solidFill>
                  <a:srgbClr val="142030"/>
                </a:solidFill>
                <a:latin typeface="Aptos"/>
              </a:rPr>
              <a:t>trajectories, R0, scenarios, sensitivity</a:t>
            </a:r>
          </a:p>
        </p:txBody>
      </p:sp>
      <p:sp>
        <p:nvSpPr>
          <p:cNvPr id="76" name="Text 76"/>
          <p:cNvSpPr txBox="1"/>
          <p:nvPr/>
        </p:nvSpPr>
        <p:spPr>
          <a:xfrm>
            <a:off x="6355080" y="3913632"/>
            <a:ext cx="42976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B44146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400" b="0">
                <a:solidFill>
                  <a:srgbClr val="142030"/>
                </a:solidFill>
                <a:latin typeface="Aptos"/>
              </a:rPr>
              <a:t>Presentation</a:t>
            </a:r>
          </a:p>
          <a:p>
            <a:pPr algn="l"/>
            <a:r>
              <a:rPr lang="en-US" sz="1400" b="0">
                <a:solidFill>
                  <a:srgbClr val="142030"/>
                </a:solidFill>
                <a:latin typeface="Aptos"/>
              </a:rPr>
              <a:t>moving graphs during the live demo</a:t>
            </a:r>
          </a:p>
        </p:txBody>
      </p:sp>
      <p:cxnSp>
        <p:nvCxnSpPr>
          <p:cNvPr id="77" name="Arrow 77"/>
          <p:cNvCxnSpPr/>
          <p:nvPr/>
        </p:nvCxnSpPr>
        <p:spPr>
          <a:xfrm>
            <a:off x="8503920" y="1920240"/>
            <a:ext cx="0" cy="164591"/>
          </a:xfrm>
          <a:prstGeom prst="line">
            <a:avLst/>
          </a:prstGeom>
          <a:ln w="19050">
            <a:solidFill>
              <a:srgbClr val="5260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Arrow 78"/>
          <p:cNvCxnSpPr/>
          <p:nvPr/>
        </p:nvCxnSpPr>
        <p:spPr>
          <a:xfrm>
            <a:off x="8503920" y="2834640"/>
            <a:ext cx="0" cy="164591"/>
          </a:xfrm>
          <a:prstGeom prst="line">
            <a:avLst/>
          </a:prstGeom>
          <a:ln w="19050">
            <a:solidFill>
              <a:srgbClr val="5260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Arrow 79"/>
          <p:cNvCxnSpPr/>
          <p:nvPr/>
        </p:nvCxnSpPr>
        <p:spPr>
          <a:xfrm>
            <a:off x="8503920" y="3749039"/>
            <a:ext cx="0" cy="164592"/>
          </a:xfrm>
          <a:prstGeom prst="line">
            <a:avLst/>
          </a:prstGeom>
          <a:ln w="19050">
            <a:solidFill>
              <a:srgbClr val="5260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 80"/>
          <p:cNvSpPr txBox="1"/>
          <p:nvPr/>
        </p:nvSpPr>
        <p:spPr>
          <a:xfrm>
            <a:off x="896112" y="5166360"/>
            <a:ext cx="9921240" cy="658368"/>
          </a:xfrm>
          <a:prstGeom prst="rect">
            <a:avLst/>
          </a:prstGeom>
          <a:solidFill>
            <a:srgbClr val="FFF7E0"/>
          </a:solidFill>
          <a:ln w="9525">
            <a:solidFill>
              <a:srgbClr val="CC9900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600" b="0">
                <a:solidFill>
                  <a:srgbClr val="142030"/>
                </a:solidFill>
                <a:latin typeface="Aptos"/>
              </a:rPr>
              <a:t>Presentation link: the mathematical model is explained in the slides; moving graphs are shown separately during the live demonstration.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82"/>
          <p:cNvSpPr txBox="1"/>
          <p:nvPr/>
        </p:nvSpPr>
        <p:spPr>
          <a:xfrm>
            <a:off x="502920" y="292608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300" b="1">
                <a:solidFill>
                  <a:srgbClr val="0A1B30"/>
                </a:solidFill>
                <a:latin typeface="Aptos"/>
              </a:rPr>
              <a:t>Baseline Simulation Result</a:t>
            </a:r>
          </a:p>
        </p:txBody>
      </p:sp>
      <p:sp>
        <p:nvSpPr>
          <p:cNvPr id="83" name="Text 83"/>
          <p:cNvSpPr txBox="1"/>
          <p:nvPr/>
        </p:nvSpPr>
        <p:spPr>
          <a:xfrm>
            <a:off x="502920" y="868680"/>
            <a:ext cx="1828800" cy="2743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84" name="Text 84"/>
          <p:cNvSpPr txBox="1"/>
          <p:nvPr/>
        </p:nvSpPr>
        <p:spPr>
          <a:xfrm>
            <a:off x="2331720" y="868680"/>
            <a:ext cx="6949440" cy="27432"/>
          </a:xfrm>
          <a:prstGeom prst="rect">
            <a:avLst/>
          </a:prstGeom>
          <a:solidFill>
            <a:srgbClr val="007E7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pic>
        <p:nvPicPr>
          <p:cNvPr id="81" name="mainChartlinear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80" y="1261872"/>
            <a:ext cx="6309360" cy="4251960"/>
          </a:xfrm>
          <a:prstGeom prst="rect">
            <a:avLst/>
          </a:prstGeom>
        </p:spPr>
      </p:pic>
      <p:sp>
        <p:nvSpPr>
          <p:cNvPr id="85" name="Text 85"/>
          <p:cNvSpPr txBox="1"/>
          <p:nvPr/>
        </p:nvSpPr>
        <p:spPr>
          <a:xfrm>
            <a:off x="7360920" y="123444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1">
                <a:solidFill>
                  <a:srgbClr val="CC9900"/>
                </a:solidFill>
                <a:latin typeface="Aptos"/>
              </a:rPr>
              <a:t>Computed baseline</a:t>
            </a:r>
          </a:p>
        </p:txBody>
      </p:sp>
      <p:sp>
        <p:nvSpPr>
          <p:cNvPr id="86" name="Text 86"/>
          <p:cNvSpPr txBox="1"/>
          <p:nvPr/>
        </p:nvSpPr>
        <p:spPr>
          <a:xfrm>
            <a:off x="7406640" y="1627632"/>
            <a:ext cx="3566160" cy="12344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>
              <a:buChar char="•"/>
              <a:buFont typeface="Arial"/>
            </a:pPr>
            <a:r>
              <a:rPr lang="en-US" sz="1500" b="0">
                <a:solidFill>
                  <a:srgbClr val="142030"/>
                </a:solidFill>
                <a:latin typeface="Aptos"/>
              </a:rPr>
              <a:t>R0 = 0.430, below the epidemic threshold.</a:t>
            </a:r>
          </a:p>
          <a:p>
            <a:pPr algn="l">
              <a:buChar char="•"/>
              <a:buFont typeface="Arial"/>
            </a:pPr>
            <a:r>
              <a:rPr lang="en-US" sz="1500" b="0">
                <a:solidFill>
                  <a:srgbClr val="142030"/>
                </a:solidFill>
                <a:latin typeface="Aptos"/>
              </a:rPr>
              <a:t>Peak infected population is 150 at t = 0 years.</a:t>
            </a:r>
          </a:p>
          <a:p>
            <a:pPr algn="l">
              <a:buChar char="•"/>
              <a:buFont typeface="Arial"/>
            </a:pPr>
            <a:r>
              <a:rPr lang="en-US" sz="1500" b="0">
                <a:solidFill>
                  <a:srgbClr val="142030"/>
                </a:solidFill>
                <a:latin typeface="Aptos"/>
              </a:rPr>
              <a:t>Final values after 50 years: I = 3.1, T = 94.3, A = 3.6.</a:t>
            </a:r>
          </a:p>
        </p:txBody>
      </p:sp>
      <p:sp>
        <p:nvSpPr>
          <p:cNvPr id="87" name="Text 87"/>
          <p:cNvSpPr txBox="1"/>
          <p:nvPr/>
        </p:nvSpPr>
        <p:spPr>
          <a:xfrm>
            <a:off x="7360920" y="3310128"/>
            <a:ext cx="3657600" cy="1024128"/>
          </a:xfrm>
          <a:prstGeom prst="rect">
            <a:avLst/>
          </a:prstGeom>
          <a:solidFill>
            <a:srgbClr val="E6F7F4"/>
          </a:solidFill>
          <a:ln w="9525">
            <a:solidFill>
              <a:srgbClr val="007E70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400" b="0">
                <a:solidFill>
                  <a:srgbClr val="142030"/>
                </a:solidFill>
                <a:latin typeface="Aptos"/>
              </a:rPr>
              <a:t>Interpretation</a:t>
            </a:r>
          </a:p>
          <a:p>
            <a:pPr algn="l"/>
            <a:r>
              <a:rPr lang="en-US" sz="1400" b="0">
                <a:solidFill>
                  <a:srgbClr val="142030"/>
                </a:solidFill>
                <a:latin typeface="Aptos"/>
              </a:rPr>
              <a:t>The baseline intervention-adjusted configuration leads toward disease-free behaviour in the simulation.</a:t>
            </a:r>
          </a:p>
        </p:txBody>
      </p:sp>
      <p:sp>
        <p:nvSpPr>
          <p:cNvPr id="88" name="Text 88"/>
          <p:cNvSpPr txBox="1"/>
          <p:nvPr/>
        </p:nvSpPr>
        <p:spPr>
          <a:xfrm>
            <a:off x="7360920" y="4645152"/>
            <a:ext cx="3657600" cy="694944"/>
          </a:xfrm>
          <a:prstGeom prst="rect">
            <a:avLst/>
          </a:prstGeom>
          <a:solidFill>
            <a:srgbClr val="FFF7E0"/>
          </a:solidFill>
          <a:ln w="9525">
            <a:solidFill>
              <a:srgbClr val="CC9900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300" b="0">
                <a:solidFill>
                  <a:srgbClr val="142030"/>
                </a:solidFill>
                <a:latin typeface="Aptos"/>
              </a:rPr>
              <a:t>Defense point</a:t>
            </a:r>
          </a:p>
          <a:p>
            <a:pPr algn="l"/>
            <a:r>
              <a:rPr lang="en-US" sz="1300" b="0">
                <a:solidFill>
                  <a:srgbClr val="142030"/>
                </a:solidFill>
                <a:latin typeface="Aptos"/>
              </a:rPr>
              <a:t>These numbers come from the Python simulation engine and match the dashboard summary table.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 90"/>
          <p:cNvSpPr txBox="1"/>
          <p:nvPr/>
        </p:nvSpPr>
        <p:spPr>
          <a:xfrm>
            <a:off x="502920" y="292608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300" b="1">
                <a:solidFill>
                  <a:srgbClr val="0A1B30"/>
                </a:solidFill>
                <a:latin typeface="Aptos"/>
              </a:rPr>
              <a:t>Simulation Results: Intervention Comparison</a:t>
            </a:r>
          </a:p>
        </p:txBody>
      </p:sp>
      <p:sp>
        <p:nvSpPr>
          <p:cNvPr id="91" name="Text 91"/>
          <p:cNvSpPr txBox="1"/>
          <p:nvPr/>
        </p:nvSpPr>
        <p:spPr>
          <a:xfrm>
            <a:off x="502920" y="868680"/>
            <a:ext cx="1828800" cy="2743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92" name="Text 92"/>
          <p:cNvSpPr txBox="1"/>
          <p:nvPr/>
        </p:nvSpPr>
        <p:spPr>
          <a:xfrm>
            <a:off x="2331720" y="868680"/>
            <a:ext cx="6949440" cy="27432"/>
          </a:xfrm>
          <a:prstGeom prst="rect">
            <a:avLst/>
          </a:prstGeom>
          <a:solidFill>
            <a:srgbClr val="007E7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pic>
        <p:nvPicPr>
          <p:cNvPr id="89" name="combinedInterventionsChart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58368" y="1298448"/>
            <a:ext cx="6217920" cy="4206240"/>
          </a:xfrm>
          <a:prstGeom prst="rect">
            <a:avLst/>
          </a:prstGeom>
        </p:spPr>
      </p:pic>
      <p:sp>
        <p:nvSpPr>
          <p:cNvPr id="93" name="Text 93"/>
          <p:cNvSpPr txBox="1"/>
          <p:nvPr/>
        </p:nvSpPr>
        <p:spPr>
          <a:xfrm>
            <a:off x="7360920" y="132588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1">
                <a:solidFill>
                  <a:srgbClr val="CC9900"/>
                </a:solidFill>
                <a:latin typeface="Aptos"/>
              </a:rPr>
              <a:t>Main interpretation</a:t>
            </a:r>
          </a:p>
        </p:txBody>
      </p:sp>
      <p:sp>
        <p:nvSpPr>
          <p:cNvPr id="94" name="Text 94"/>
          <p:cNvSpPr txBox="1"/>
          <p:nvPr/>
        </p:nvSpPr>
        <p:spPr>
          <a:xfrm>
            <a:off x="7406640" y="1719072"/>
            <a:ext cx="3520440" cy="19202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>
              <a:buChar char="•"/>
              <a:buFont typeface="Arial"/>
            </a:pPr>
            <a:r>
              <a:rPr lang="en-US" sz="1600" b="0">
                <a:solidFill>
                  <a:srgbClr val="142030"/>
                </a:solidFill>
                <a:latin typeface="Aptos"/>
              </a:rPr>
              <a:t>Single interventions help, but each targets only one mechanism.</a:t>
            </a:r>
          </a:p>
          <a:p>
            <a:pPr algn="l">
              <a:buChar char="•"/>
              <a:buFont typeface="Arial"/>
            </a:pPr>
            <a:r>
              <a:rPr lang="en-US" sz="1600" b="0">
                <a:solidFill>
                  <a:srgbClr val="142030"/>
                </a:solidFill>
                <a:latin typeface="Aptos"/>
              </a:rPr>
              <a:t>Combined intervention acts on transmission, treatment uptake, and progression.</a:t>
            </a:r>
          </a:p>
          <a:p>
            <a:pPr algn="l">
              <a:buChar char="•"/>
              <a:buFont typeface="Arial"/>
            </a:pPr>
            <a:r>
              <a:rPr lang="en-US" sz="1600" b="0">
                <a:solidFill>
                  <a:srgbClr val="142030"/>
                </a:solidFill>
                <a:latin typeface="Aptos"/>
              </a:rPr>
              <a:t>The combined strategy gives stronger simulated control than isolated changes.</a:t>
            </a:r>
          </a:p>
        </p:txBody>
      </p:sp>
      <p:sp>
        <p:nvSpPr>
          <p:cNvPr id="95" name="Text 95"/>
          <p:cNvSpPr txBox="1"/>
          <p:nvPr/>
        </p:nvSpPr>
        <p:spPr>
          <a:xfrm>
            <a:off x="7360920" y="4133087"/>
            <a:ext cx="3611880" cy="868680"/>
          </a:xfrm>
          <a:prstGeom prst="rect">
            <a:avLst/>
          </a:prstGeom>
          <a:solidFill>
            <a:srgbClr val="E6F7F4"/>
          </a:solidFill>
          <a:ln w="9525">
            <a:solidFill>
              <a:srgbClr val="007E70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0">
                <a:solidFill>
                  <a:srgbClr val="142030"/>
                </a:solidFill>
                <a:latin typeface="Aptos"/>
              </a:rPr>
              <a:t>Public-health meaning</a:t>
            </a:r>
          </a:p>
          <a:p>
            <a:pPr algn="l"/>
            <a:r>
              <a:rPr lang="en-US" sz="1500" b="0">
                <a:solidFill>
                  <a:srgbClr val="142030"/>
                </a:solidFill>
                <a:latin typeface="Aptos"/>
              </a:rPr>
              <a:t>Prevention and treatment support should work together.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97"/>
          <p:cNvSpPr txBox="1"/>
          <p:nvPr/>
        </p:nvSpPr>
        <p:spPr>
          <a:xfrm>
            <a:off x="502920" y="292608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300" b="1">
                <a:solidFill>
                  <a:srgbClr val="0A1B30"/>
                </a:solidFill>
                <a:latin typeface="Aptos"/>
              </a:rPr>
              <a:t>Simulation Results: Fractional Memory</a:t>
            </a:r>
          </a:p>
        </p:txBody>
      </p:sp>
      <p:sp>
        <p:nvSpPr>
          <p:cNvPr id="98" name="Text 98"/>
          <p:cNvSpPr txBox="1"/>
          <p:nvPr/>
        </p:nvSpPr>
        <p:spPr>
          <a:xfrm>
            <a:off x="502920" y="868680"/>
            <a:ext cx="1828800" cy="2743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99" name="Text 99"/>
          <p:cNvSpPr txBox="1"/>
          <p:nvPr/>
        </p:nvSpPr>
        <p:spPr>
          <a:xfrm>
            <a:off x="2331720" y="868680"/>
            <a:ext cx="6949440" cy="27432"/>
          </a:xfrm>
          <a:prstGeom prst="rect">
            <a:avLst/>
          </a:prstGeom>
          <a:solidFill>
            <a:srgbClr val="007E7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pic>
        <p:nvPicPr>
          <p:cNvPr id="96" name="memoryChart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58368" y="1298448"/>
            <a:ext cx="6217920" cy="4206240"/>
          </a:xfrm>
          <a:prstGeom prst="rect">
            <a:avLst/>
          </a:prstGeom>
        </p:spPr>
      </p:pic>
      <p:sp>
        <p:nvSpPr>
          <p:cNvPr id="100" name="Text 100"/>
          <p:cNvSpPr txBox="1"/>
          <p:nvPr/>
        </p:nvSpPr>
        <p:spPr>
          <a:xfrm>
            <a:off x="7360920" y="132588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1">
                <a:solidFill>
                  <a:srgbClr val="CC9900"/>
                </a:solidFill>
                <a:latin typeface="Aptos"/>
              </a:rPr>
              <a:t>Why q matters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7406640" y="1719072"/>
            <a:ext cx="3520440" cy="16916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>
              <a:buChar char="•"/>
              <a:buFont typeface="Arial"/>
            </a:pPr>
            <a:r>
              <a:rPr lang="en-US" sz="1600" b="0">
                <a:solidFill>
                  <a:srgbClr val="142030"/>
                </a:solidFill>
                <a:latin typeface="Aptos"/>
              </a:rPr>
              <a:t>q = 1 represents the ordinary model.</a:t>
            </a:r>
          </a:p>
          <a:p>
            <a:pPr algn="l">
              <a:buChar char="•"/>
              <a:buFont typeface="Arial"/>
            </a:pPr>
            <a:r>
              <a:rPr lang="en-US" sz="1600" b="0">
                <a:solidFill>
                  <a:srgbClr val="142030"/>
                </a:solidFill>
                <a:latin typeface="Aptos"/>
              </a:rPr>
              <a:t>Smaller q values strengthen the memory effect.</a:t>
            </a:r>
          </a:p>
          <a:p>
            <a:pPr algn="l">
              <a:buChar char="•"/>
              <a:buFont typeface="Arial"/>
            </a:pPr>
            <a:r>
              <a:rPr lang="en-US" sz="1600" b="0">
                <a:solidFill>
                  <a:srgbClr val="142030"/>
                </a:solidFill>
                <a:latin typeface="Aptos"/>
              </a:rPr>
              <a:t>Different q values produce visibly different trajectories.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7360920" y="4005072"/>
            <a:ext cx="3611880" cy="914400"/>
          </a:xfrm>
          <a:prstGeom prst="rect">
            <a:avLst/>
          </a:prstGeom>
          <a:solidFill>
            <a:srgbClr val="FFF7E0"/>
          </a:solidFill>
          <a:ln w="9525">
            <a:solidFill>
              <a:srgbClr val="CC9900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0">
                <a:solidFill>
                  <a:srgbClr val="142030"/>
                </a:solidFill>
                <a:latin typeface="Aptos"/>
              </a:rPr>
              <a:t>Defense point</a:t>
            </a:r>
          </a:p>
          <a:p>
            <a:pPr algn="l"/>
            <a:r>
              <a:rPr lang="en-US" sz="1500" b="0">
                <a:solidFill>
                  <a:srgbClr val="142030"/>
                </a:solidFill>
                <a:latin typeface="Aptos"/>
              </a:rPr>
              <a:t>Fractional calculus is not decorative; it changes the simulated dynamics.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105"/>
          <p:cNvSpPr txBox="1"/>
          <p:nvPr/>
        </p:nvSpPr>
        <p:spPr>
          <a:xfrm>
            <a:off x="502920" y="292608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300" b="1">
                <a:solidFill>
                  <a:srgbClr val="0A1B30"/>
                </a:solidFill>
                <a:latin typeface="Aptos"/>
              </a:rPr>
              <a:t>Dashboard and Sensitivity Evidence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502920" y="868680"/>
            <a:ext cx="1828800" cy="2743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2331720" y="868680"/>
            <a:ext cx="6949440" cy="27432"/>
          </a:xfrm>
          <a:prstGeom prst="rect">
            <a:avLst/>
          </a:prstGeom>
          <a:solidFill>
            <a:srgbClr val="007E7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pic>
        <p:nvPicPr>
          <p:cNvPr id="103" name="sensitivityChart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58368" y="1298448"/>
            <a:ext cx="6217920" cy="4206240"/>
          </a:xfrm>
          <a:prstGeom prst="rect">
            <a:avLst/>
          </a:prstGeom>
        </p:spPr>
      </p:pic>
      <p:sp>
        <p:nvSpPr>
          <p:cNvPr id="108" name="Text 108"/>
          <p:cNvSpPr txBox="1"/>
          <p:nvPr/>
        </p:nvSpPr>
        <p:spPr>
          <a:xfrm>
            <a:off x="7360920" y="132588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1">
                <a:solidFill>
                  <a:srgbClr val="CC9900"/>
                </a:solidFill>
                <a:latin typeface="Aptos"/>
              </a:rPr>
              <a:t>Main evidence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7406640" y="1719072"/>
            <a:ext cx="3520440" cy="160020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>
              <a:buChar char="•"/>
              <a:buFont typeface="Arial"/>
            </a:pPr>
            <a:r>
              <a:rPr lang="en-US" sz="1500" b="0">
                <a:solidFill>
                  <a:srgbClr val="142030"/>
                </a:solidFill>
                <a:latin typeface="Aptos"/>
              </a:rPr>
              <a:t>Transmission-related quantities dominate R0 sensitivity.</a:t>
            </a:r>
          </a:p>
          <a:p>
            <a:pPr algn="l">
              <a:buChar char="•"/>
              <a:buFont typeface="Arial"/>
            </a:pPr>
            <a:r>
              <a:rPr lang="en-US" sz="1500" b="0">
                <a:solidFill>
                  <a:srgbClr val="142030"/>
                </a:solidFill>
                <a:latin typeface="Aptos"/>
              </a:rPr>
              <a:t>Safer behaviour and awareness reduce R0 strongly.</a:t>
            </a:r>
          </a:p>
          <a:p>
            <a:pPr algn="l">
              <a:buChar char="•"/>
              <a:buFont typeface="Arial"/>
            </a:pPr>
            <a:r>
              <a:rPr lang="en-US" sz="1500" b="0">
                <a:solidFill>
                  <a:srgbClr val="142030"/>
                </a:solidFill>
                <a:latin typeface="Aptos"/>
              </a:rPr>
              <a:t>Dashboard outputs support thesis discussion and live defense.</a:t>
            </a:r>
          </a:p>
        </p:txBody>
      </p:sp>
      <p:pic>
        <p:nvPicPr>
          <p:cNvPr id="104" name="dashboardBaselineFigure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7406640" y="3767328"/>
            <a:ext cx="3383280" cy="16276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111"/>
          <p:cNvSpPr txBox="1"/>
          <p:nvPr/>
        </p:nvSpPr>
        <p:spPr>
          <a:xfrm>
            <a:off x="502920" y="292608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300" b="1">
                <a:solidFill>
                  <a:srgbClr val="0A1B30"/>
                </a:solidFill>
                <a:latin typeface="Aptos"/>
              </a:rPr>
              <a:t>Live Dashboard Demonstration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502920" y="868680"/>
            <a:ext cx="1828800" cy="2743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2331720" y="868680"/>
            <a:ext cx="6949440" cy="27432"/>
          </a:xfrm>
          <a:prstGeom prst="rect">
            <a:avLst/>
          </a:prstGeom>
          <a:solidFill>
            <a:srgbClr val="007E7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658368" y="1234440"/>
            <a:ext cx="50749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1">
                <a:solidFill>
                  <a:srgbClr val="CC9900"/>
                </a:solidFill>
                <a:latin typeface="Aptos"/>
              </a:rPr>
              <a:t>Open during the defense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749808" y="1664208"/>
            <a:ext cx="5029200" cy="731520"/>
          </a:xfrm>
          <a:prstGeom prst="rect">
            <a:avLst/>
          </a:prstGeom>
          <a:solidFill>
            <a:srgbClr val="E8F2FA"/>
          </a:solidFill>
          <a:ln w="9525">
            <a:solidFill>
              <a:srgbClr val="004A80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800" b="0">
                <a:solidFill>
                  <a:srgbClr val="142030"/>
                </a:solidFill>
                <a:latin typeface="Aptos"/>
              </a:rPr>
              <a:t>Dashboard link</a:t>
            </a:r>
          </a:p>
          <a:p>
            <a:pPr algn="l"/>
            <a:r>
              <a:rPr lang="en-US" sz="1800" b="0">
                <a:solidFill>
                  <a:srgbClr val="142030"/>
                </a:solidFill>
                <a:latin typeface="Aptos"/>
              </a:rPr>
              <a:t>https://hiv-model.onrender.com/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768096" y="2788920"/>
            <a:ext cx="5120640" cy="1645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>
              <a:buChar char="•"/>
              <a:buFont typeface="Arial"/>
            </a:pPr>
            <a:r>
              <a:rPr lang="en-US" sz="1600" b="0">
                <a:solidFill>
                  <a:srgbClr val="142030"/>
                </a:solidFill>
                <a:latin typeface="Aptos"/>
              </a:rPr>
              <a:t>Run the baseline simulation.</a:t>
            </a:r>
          </a:p>
          <a:p>
            <a:pPr algn="l">
              <a:buChar char="•"/>
              <a:buFont typeface="Arial"/>
            </a:pPr>
            <a:r>
              <a:rPr lang="en-US" sz="1600" b="0">
                <a:solidFill>
                  <a:srgbClr val="142030"/>
                </a:solidFill>
                <a:latin typeface="Aptos"/>
              </a:rPr>
              <a:t>Show the final state summary and interpretation.</a:t>
            </a:r>
          </a:p>
          <a:p>
            <a:pPr algn="l">
              <a:buChar char="•"/>
              <a:buFont typeface="Arial"/>
            </a:pPr>
            <a:r>
              <a:rPr lang="en-US" sz="1600" b="0">
                <a:solidFill>
                  <a:srgbClr val="142030"/>
                </a:solidFill>
                <a:latin typeface="Aptos"/>
              </a:rPr>
              <a:t>Compare no intervention with combined intervention.</a:t>
            </a:r>
          </a:p>
          <a:p>
            <a:pPr algn="l">
              <a:buChar char="•"/>
              <a:buFont typeface="Arial"/>
            </a:pPr>
            <a:r>
              <a:rPr lang="en-US" sz="1600" b="0">
                <a:solidFill>
                  <a:srgbClr val="142030"/>
                </a:solidFill>
                <a:latin typeface="Aptos"/>
              </a:rPr>
              <a:t>Change q to show the fractional memory effect.</a:t>
            </a:r>
          </a:p>
        </p:txBody>
      </p:sp>
      <p:pic>
        <p:nvPicPr>
          <p:cNvPr id="110" name="dashboardBaselineFigur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583680" y="1417320"/>
            <a:ext cx="4297680" cy="2331720"/>
          </a:xfrm>
          <a:prstGeom prst="rect">
            <a:avLst/>
          </a:prstGeom>
        </p:spPr>
      </p:pic>
      <p:sp>
        <p:nvSpPr>
          <p:cNvPr id="117" name="Text 117"/>
          <p:cNvSpPr txBox="1"/>
          <p:nvPr/>
        </p:nvSpPr>
        <p:spPr>
          <a:xfrm>
            <a:off x="6601968" y="4160520"/>
            <a:ext cx="4297680" cy="822960"/>
          </a:xfrm>
          <a:prstGeom prst="rect">
            <a:avLst/>
          </a:prstGeom>
          <a:solidFill>
            <a:srgbClr val="FFF7E0"/>
          </a:solidFill>
          <a:ln w="9525">
            <a:solidFill>
              <a:srgbClr val="CC9900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0">
                <a:solidFill>
                  <a:srgbClr val="142030"/>
                </a:solidFill>
                <a:latin typeface="Aptos"/>
              </a:rPr>
              <a:t>After the demo</a:t>
            </a:r>
          </a:p>
          <a:p>
            <a:pPr algn="l"/>
            <a:r>
              <a:rPr lang="en-US" sz="1500" b="0">
                <a:solidFill>
                  <a:srgbClr val="142030"/>
                </a:solidFill>
                <a:latin typeface="Aptos"/>
              </a:rPr>
              <a:t>Return to the next slide for conclusion and recommendations.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 118"/>
          <p:cNvSpPr txBox="1"/>
          <p:nvPr/>
        </p:nvSpPr>
        <p:spPr>
          <a:xfrm>
            <a:off x="502920" y="292608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300" b="1">
                <a:solidFill>
                  <a:srgbClr val="0A1B30"/>
                </a:solidFill>
                <a:latin typeface="Aptos"/>
              </a:rPr>
              <a:t>Conclusion + Recommendations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502920" y="868680"/>
            <a:ext cx="1828800" cy="2743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2331720" y="868680"/>
            <a:ext cx="6949440" cy="27432"/>
          </a:xfrm>
          <a:prstGeom prst="rect">
            <a:avLst/>
          </a:prstGeom>
          <a:solidFill>
            <a:srgbClr val="007E7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658368" y="1234440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1">
                <a:solidFill>
                  <a:srgbClr val="CC9900"/>
                </a:solidFill>
                <a:latin typeface="Aptos"/>
              </a:rPr>
              <a:t>Conclusion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713232" y="1627632"/>
            <a:ext cx="4800600" cy="28803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The SITA HIV model was extended using fractional memory.</a:t>
            </a:r>
          </a:p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Behavioural interventions were represented through effective rates.</a:t>
            </a:r>
          </a:p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Numerical simulations support combined intervention strategies.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6080760" y="123444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1">
                <a:solidFill>
                  <a:srgbClr val="CC9900"/>
                </a:solidFill>
                <a:latin typeface="Aptos"/>
              </a:rPr>
              <a:t>Recommendations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6144768" y="1627632"/>
            <a:ext cx="4800600" cy="28803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Calibrate parameters with Rwanda-specific data.</a:t>
            </a:r>
          </a:p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Extend the model using age, gender, or stochastic structure.</a:t>
            </a:r>
          </a:p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Compare other fractional operators.</a:t>
            </a:r>
          </a:p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Improve the dashboard into an educational decision-support tool.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868680" y="5349240"/>
            <a:ext cx="10195560" cy="640080"/>
          </a:xfrm>
          <a:prstGeom prst="rect">
            <a:avLst/>
          </a:prstGeom>
          <a:solidFill>
            <a:srgbClr val="E6F7F4"/>
          </a:solidFill>
          <a:ln w="9525">
            <a:solidFill>
              <a:srgbClr val="007E70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700" b="0">
                <a:solidFill>
                  <a:srgbClr val="142030"/>
                </a:solidFill>
                <a:latin typeface="Aptos"/>
              </a:rPr>
              <a:t>Final message: the work connects mathematical analysis, numerical simulation, and a working dashboard for communicating HIV intervention dynamics.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TA Professional">
  <a:themeElements>
    <a:clrScheme name="SITA">
      <a:dk1>
        <a:srgbClr val="0A1B30"/>
      </a:dk1>
      <a:lt1>
        <a:srgbClr val="FFFFFF"/>
      </a:lt1>
      <a:dk2>
        <a:srgbClr val="142030"/>
      </a:dk2>
      <a:lt2>
        <a:srgbClr val="F7FAFC"/>
      </a:lt2>
      <a:accent1>
        <a:srgbClr val="007E70"/>
      </a:accent1>
      <a:accent2>
        <a:srgbClr val="CC9900"/>
      </a:accent2>
      <a:accent3>
        <a:srgbClr val="004A80"/>
      </a:accent3>
      <a:accent4>
        <a:srgbClr val="B44146"/>
      </a:accent4>
      <a:accent5>
        <a:srgbClr val="7A8794"/>
      </a:accent5>
      <a:accent6>
        <a:srgbClr val="C7D5E1"/>
      </a:accent6>
      <a:hlink>
        <a:srgbClr val="004A80"/>
      </a:hlink>
      <a:folHlink>
        <a:srgbClr val="007E70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Clean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lt1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WPS Presentation</Application>
  <PresentationFormat>On-screen Show (16:9)</PresentationFormat>
  <Slides>13</Slides>
  <Company>University of Rwanda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Fractional-Order Compartmental Model of HIV Transmission with Social Behaviour Interventions</dc:title>
  <dc:creator>NDACYAYISABA Lambert</dc:creator>
  <cp:lastModifiedBy>Codex</cp:lastModifiedBy>
  <dcterms:created xsi:type="dcterms:W3CDTF">2026-06-11T00:00:00Z</dcterms:created>
  <dcterms:modified xsi:type="dcterms:W3CDTF">2026-06-11T00:00:00Z</dcterms:modified>
</cp:coreProperties>
</file>