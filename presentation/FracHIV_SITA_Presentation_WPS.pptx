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4"/>
  </p:sld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</p:sldIdLst>
  <p:sldSz cx="12191999" cy="6858000" type="screen16x9"/>
  <p:notesSz cx="6858000" cy="9144000"/>
  <p:defaultTextStyle>
    <a:defPPr>
      <a:defRPr lang="en-US"/>
    </a:defPPr>
  </p:defaultTextStyle>
</p:presentation>
</file>

<file path=ppt/presProps.xml><?xml version="1.0" encoding="utf-8"?>
<p:presentationPr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/>
</file>

<file path=ppt/_rels/presentation.xml.rels>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Master" Target="slideMasters/slideMaster1.xml"/><Relationship Id="rId15" Type="http://schemas.openxmlformats.org/officeDocument/2006/relationships/theme" Target="theme/theme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ableStyles" Target="tableStyles.xml"/></Relationships>
</file>

<file path=ppt/slideLayouts/_rels/slideLayout1.xml.rels>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1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A1B3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4" name="Text 4"/>
          <p:cNvSpPr txBox="1"/>
          <p:nvPr/>
        </p:nvSpPr>
        <p:spPr>
          <a:xfrm>
            <a:off x="6720840" y="960120"/>
            <a:ext cx="4754880" cy="12344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r"/>
            <a:r>
              <a:rPr lang="en-US" sz="1400" b="0">
                <a:solidFill>
                  <a:srgbClr val="D8E2EB"/>
                </a:solidFill>
                <a:latin typeface="Aptos"/>
              </a:rPr>
              <a:t>D_C^q X(t)=F(t,X(t))</a:t>
            </a:r>
          </a:p>
          <a:p>
            <a:pPr algn="r"/>
            <a:r>
              <a:rPr lang="en-US" sz="1400" b="0">
                <a:solidFill>
                  <a:srgbClr val="D8E2EB"/>
                </a:solidFill>
                <a:latin typeface="Aptos"/>
              </a:rPr>
              <a:t>R0 = beta_eff/(tau_eff+delta+mu) x [1+eta tau_eff/(rho_eff+mu)]</a:t>
            </a:r>
          </a:p>
        </p:txBody>
      </p:sp>
      <p:pic>
        <p:nvPicPr>
          <p:cNvPr id="2" name="logo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731520" cy="731520"/>
          </a:xfrm>
          <a:prstGeom prst="rect">
            <a:avLst/>
          </a:prstGeom>
        </p:spPr>
      </p:pic>
      <p:sp>
        <p:nvSpPr>
          <p:cNvPr id="5" name="Text 5"/>
          <p:cNvSpPr txBox="1"/>
          <p:nvPr/>
        </p:nvSpPr>
        <p:spPr>
          <a:xfrm>
            <a:off x="8046720" y="438912"/>
            <a:ext cx="3566160" cy="50292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r"/>
            <a:r>
              <a:rPr lang="en-US" sz="1200" b="0">
                <a:solidFill>
                  <a:srgbClr val="FFFFFF"/>
                </a:solidFill>
                <a:latin typeface="Aptos"/>
              </a:rPr>
              <a:t>University of Rwanda</a:t>
            </a:r>
          </a:p>
          <a:p>
            <a:pPr algn="r"/>
            <a:r>
              <a:rPr lang="en-US" sz="1200" b="0">
                <a:solidFill>
                  <a:srgbClr val="FFFFFF"/>
                </a:solidFill>
                <a:latin typeface="Aptos"/>
              </a:rPr>
              <a:t>College of Science and Technology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530352" y="1664208"/>
            <a:ext cx="6812280" cy="3383280"/>
          </a:xfrm>
          <a:prstGeom prst="rect">
            <a:avLst/>
          </a:prstGeom>
          <a:solidFill>
            <a:srgbClr val="0A1B3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7" name="Text 7"/>
          <p:cNvSpPr txBox="1"/>
          <p:nvPr/>
        </p:nvSpPr>
        <p:spPr>
          <a:xfrm>
            <a:off x="749808" y="1755648"/>
            <a:ext cx="6446520" cy="1627632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500" b="1">
                <a:solidFill>
                  <a:srgbClr val="FFFFFF"/>
                </a:solidFill>
                <a:latin typeface="Aptos"/>
              </a:rPr>
              <a:t>A Fractional-Order Compartmental Model</a:t>
            </a:r>
          </a:p>
          <a:p>
            <a:pPr algn="l"/>
            <a:r>
              <a:rPr lang="en-US" sz="2500" b="1">
                <a:solidFill>
                  <a:srgbClr val="FFFFFF"/>
                </a:solidFill>
                <a:latin typeface="Aptos"/>
              </a:rPr>
              <a:t>of HIV Transmission</a:t>
            </a:r>
          </a:p>
          <a:p>
            <a:pPr algn="l"/>
            <a:r>
              <a:rPr lang="en-US" sz="2500" b="1">
                <a:solidFill>
                  <a:srgbClr val="FFFFFF"/>
                </a:solidFill>
                <a:latin typeface="Aptos"/>
              </a:rPr>
              <a:t>with Social Behaviour Interventions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786384" y="3474720"/>
            <a:ext cx="6263640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0">
                <a:solidFill>
                  <a:srgbClr val="FFFFFF"/>
                </a:solidFill>
                <a:latin typeface="Aptos"/>
              </a:rPr>
              <a:t>Fractional SITA dynamics and dashboard simulation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786384" y="4069080"/>
            <a:ext cx="5303520" cy="74980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300" b="0">
                <a:solidFill>
                  <a:srgbClr val="FFFFFF"/>
                </a:solidFill>
                <a:latin typeface="Aptos"/>
              </a:rPr>
              <a:t>NDACYAYISABA Lambert</a:t>
            </a:r>
          </a:p>
          <a:p>
            <a:pPr algn="l"/>
            <a:r>
              <a:rPr lang="en-US" sz="1300" b="0">
                <a:solidFill>
                  <a:srgbClr val="FFFFFF"/>
                </a:solidFill>
                <a:latin typeface="Aptos"/>
              </a:rPr>
              <a:t>Supervisor: Dr. MUHIRWA Jean Pierre</a:t>
            </a:r>
          </a:p>
          <a:p>
            <a:pPr algn="l"/>
            <a:r>
              <a:rPr lang="en-US" sz="1300" b="0">
                <a:solidFill>
                  <a:srgbClr val="FFFFFF"/>
                </a:solidFill>
                <a:latin typeface="Aptos"/>
              </a:rPr>
              <a:t>Kigali, Rwanda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786384" y="4736592"/>
            <a:ext cx="5486400" cy="29260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100" b="0">
                <a:solidFill>
                  <a:srgbClr val="CC9900"/>
                </a:solidFill>
                <a:latin typeface="Aptos"/>
              </a:rPr>
              <a:t>Presentation content follows the submitted final-year project report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786384" y="5010912"/>
            <a:ext cx="3429000" cy="36576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12" name="Text 12"/>
          <p:cNvSpPr txBox="1"/>
          <p:nvPr/>
        </p:nvSpPr>
        <p:spPr>
          <a:xfrm>
            <a:off x="4315968" y="5010912"/>
            <a:ext cx="2743200" cy="36576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13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Background / Motivation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15" name="Text 15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16" name="Text 16"/>
          <p:cNvSpPr txBox="1"/>
          <p:nvPr/>
        </p:nvSpPr>
        <p:spPr>
          <a:xfrm>
            <a:off x="658368" y="1261872"/>
            <a:ext cx="566928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Rwanda-aware public-health motivation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749808" y="1664208"/>
            <a:ext cx="5623560" cy="20574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HIV transmission is shaped by biology, treatment access, and social behaviour.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Awareness, safer behaviour, testing, treatment-seeking, and adherence can change long-term outcomes.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In Rwanda, prevention and adherence support remain important alongside treatment progress.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41248" y="4224528"/>
            <a:ext cx="5303520" cy="868680"/>
          </a:xfrm>
          <a:prstGeom prst="rect">
            <a:avLst/>
          </a:prstGeom>
          <a:solidFill>
            <a:srgbClr val="E6F7F4"/>
          </a:solidFill>
          <a:ln w="9525">
            <a:solidFill>
              <a:srgbClr val="007E7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Why mathematics?</a:t>
            </a:r>
          </a:p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A model gives a controlled way to compare intervention strategies and understand possible long-term behaviour.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6720840" y="1234440"/>
            <a:ext cx="3474720" cy="502920"/>
          </a:xfrm>
          <a:prstGeom prst="rect">
            <a:avLst/>
          </a:prstGeom>
          <a:solidFill>
            <a:srgbClr val="004A8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700" b="1">
                <a:solidFill>
                  <a:srgbClr val="FFFFFF"/>
                </a:solidFill>
                <a:latin typeface="Aptos"/>
              </a:rPr>
              <a:t>Context: HIV in Rwanda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6720840" y="1965960"/>
            <a:ext cx="3474720" cy="502920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700" b="1">
                <a:solidFill>
                  <a:srgbClr val="FFFFFF"/>
                </a:solidFill>
                <a:latin typeface="Aptos"/>
              </a:rPr>
              <a:t>Mechanism: Behaviour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6720840" y="2697480"/>
            <a:ext cx="3474720" cy="50292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700" b="1">
                <a:solidFill>
                  <a:srgbClr val="FFFFFF"/>
                </a:solidFill>
                <a:latin typeface="Aptos"/>
              </a:rPr>
              <a:t>Method: Fractional memory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6720840" y="3429000"/>
            <a:ext cx="3474720" cy="502920"/>
          </a:xfrm>
          <a:prstGeom prst="rect">
            <a:avLst/>
          </a:prstGeom>
          <a:solidFill>
            <a:srgbClr val="B44146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700" b="1">
                <a:solidFill>
                  <a:srgbClr val="FFFFFF"/>
                </a:solidFill>
                <a:latin typeface="Aptos"/>
              </a:rPr>
              <a:t>Output: Simulation evidence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 23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Problem Statement + Literature Gap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25" name="Text 25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26" name="Text 26"/>
          <p:cNvSpPr txBox="1"/>
          <p:nvPr/>
        </p:nvSpPr>
        <p:spPr>
          <a:xfrm>
            <a:off x="658368" y="1234440"/>
            <a:ext cx="470916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Limitations in ordinary modelling</a:t>
            </a:r>
          </a:p>
        </p:txBody>
      </p:sp>
      <p:sp>
        <p:nvSpPr>
          <p:cNvPr id="27" name="Text 27"/>
          <p:cNvSpPr txBox="1"/>
          <p:nvPr/>
        </p:nvSpPr>
        <p:spPr>
          <a:xfrm>
            <a:off x="713232" y="1627632"/>
            <a:ext cx="4800600" cy="288036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Ordinary models usually depend only on the present state.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HIV-related behaviour may depend on past awareness, stigma, testing history, and adherence.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Social behaviour is often simplified into fixed rates.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6080760" y="1234440"/>
            <a:ext cx="466344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Literature gap</a:t>
            </a:r>
          </a:p>
        </p:txBody>
      </p:sp>
      <p:sp>
        <p:nvSpPr>
          <p:cNvPr id="29" name="Text 29"/>
          <p:cNvSpPr txBox="1"/>
          <p:nvPr/>
        </p:nvSpPr>
        <p:spPr>
          <a:xfrm>
            <a:off x="6144768" y="1627632"/>
            <a:ext cx="4800600" cy="288036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Classical HIV models use ODE compartments such as SICA/SITA.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Fractional models use Caputo derivatives for memory effects.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Few works combine fractional HIV dynamics, behaviour controls, and an interactive dashboard.</a:t>
            </a:r>
          </a:p>
        </p:txBody>
      </p:sp>
      <p:sp>
        <p:nvSpPr>
          <p:cNvPr id="30" name="Text 30"/>
          <p:cNvSpPr txBox="1"/>
          <p:nvPr/>
        </p:nvSpPr>
        <p:spPr>
          <a:xfrm>
            <a:off x="868680" y="5349240"/>
            <a:ext cx="10195560" cy="640080"/>
          </a:xfrm>
          <a:prstGeom prst="rect">
            <a:avLst/>
          </a:prstGeom>
          <a:solidFill>
            <a:srgbClr val="E6F7F4"/>
          </a:solidFill>
          <a:ln w="9525">
            <a:solidFill>
              <a:srgbClr val="007E7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700" b="0">
                <a:solidFill>
                  <a:srgbClr val="142030"/>
                </a:solidFill>
                <a:latin typeface="Aptos"/>
              </a:rPr>
              <a:t>Research focus: a fractional-order SITA model that connects memory effects, social behaviour interventions, numerical simulation, and dashboard exploration.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ext 31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Objectives</a:t>
            </a:r>
          </a:p>
        </p:txBody>
      </p:sp>
      <p:sp>
        <p:nvSpPr>
          <p:cNvPr id="32" name="Text 32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33" name="Text 33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34" name="Text 34"/>
          <p:cNvSpPr txBox="1"/>
          <p:nvPr/>
        </p:nvSpPr>
        <p:spPr>
          <a:xfrm>
            <a:off x="685800" y="1207008"/>
            <a:ext cx="5212080" cy="347472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Main objective</a:t>
            </a:r>
          </a:p>
        </p:txBody>
      </p:sp>
      <p:sp>
        <p:nvSpPr>
          <p:cNvPr id="35" name="Text 35"/>
          <p:cNvSpPr txBox="1"/>
          <p:nvPr/>
        </p:nvSpPr>
        <p:spPr>
          <a:xfrm>
            <a:off x="713232" y="1627632"/>
            <a:ext cx="5257800" cy="86868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700" b="0">
                <a:solidFill>
                  <a:srgbClr val="142030"/>
                </a:solidFill>
                <a:latin typeface="Aptos"/>
              </a:rPr>
              <a:t>To formulate, analyse, and computationally simulate a fractional-order SITA model of HIV transmission incorporating social behaviour interventions.</a:t>
            </a:r>
          </a:p>
        </p:txBody>
      </p:sp>
      <p:sp>
        <p:nvSpPr>
          <p:cNvPr id="36" name="Text 36"/>
          <p:cNvSpPr txBox="1"/>
          <p:nvPr/>
        </p:nvSpPr>
        <p:spPr>
          <a:xfrm>
            <a:off x="685800" y="2788920"/>
            <a:ext cx="5212080" cy="347472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Specific objectives</a:t>
            </a:r>
          </a:p>
        </p:txBody>
      </p:sp>
      <p:sp>
        <p:nvSpPr>
          <p:cNvPr id="37" name="Text 37"/>
          <p:cNvSpPr txBox="1"/>
          <p:nvPr/>
        </p:nvSpPr>
        <p:spPr>
          <a:xfrm>
            <a:off x="768096" y="3182112"/>
            <a:ext cx="5303520" cy="196596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500" b="0">
                <a:solidFill>
                  <a:srgbClr val="142030"/>
                </a:solidFill>
                <a:latin typeface="Aptos"/>
              </a:rPr>
              <a:t>Formulate a fractional-order SITA HIV model using the Caputo derivative and social behaviour interventions.</a:t>
            </a:r>
          </a:p>
          <a:p>
            <a:pPr algn="l">
              <a:buChar char="•"/>
              <a:buFont typeface="Arial"/>
            </a:pPr>
            <a:r>
              <a:rPr lang="en-US" sz="1500" b="0">
                <a:solidFill>
                  <a:srgbClr val="142030"/>
                </a:solidFill>
                <a:latin typeface="Aptos"/>
              </a:rPr>
              <a:t>Analyse positivity, boundedness, disease-free equilibrium, R0, and fractional stability.</a:t>
            </a:r>
          </a:p>
          <a:p>
            <a:pPr algn="l">
              <a:buChar char="•"/>
              <a:buFont typeface="Arial"/>
            </a:pPr>
            <a:r>
              <a:rPr lang="en-US" sz="1500" b="0">
                <a:solidFill>
                  <a:srgbClr val="142030"/>
                </a:solidFill>
                <a:latin typeface="Aptos"/>
              </a:rPr>
              <a:t>Implement simulations and a Python dashboard to study memory effects, interventions, sensitivity, and epidemic trajectories.</a:t>
            </a:r>
          </a:p>
        </p:txBody>
      </p:sp>
      <p:sp>
        <p:nvSpPr>
          <p:cNvPr id="38" name="Text 38"/>
          <p:cNvSpPr txBox="1"/>
          <p:nvPr/>
        </p:nvSpPr>
        <p:spPr>
          <a:xfrm>
            <a:off x="6629400" y="1508760"/>
            <a:ext cx="3474720" cy="594360"/>
          </a:xfrm>
          <a:prstGeom prst="rect">
            <a:avLst/>
          </a:prstGeom>
          <a:solidFill>
            <a:srgbClr val="E8F2FA"/>
          </a:solidFill>
          <a:ln w="9525">
            <a:solidFill>
              <a:srgbClr val="004A8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c"/>
            <a:r>
              <a:rPr lang="en-US" sz="1600" b="1">
                <a:solidFill>
                  <a:srgbClr val="142030"/>
                </a:solidFill>
                <a:latin typeface="Aptos"/>
              </a:rPr>
              <a:t>1. Model formulation</a:t>
            </a:r>
          </a:p>
        </p:txBody>
      </p:sp>
      <p:sp>
        <p:nvSpPr>
          <p:cNvPr id="39" name="Text 39"/>
          <p:cNvSpPr txBox="1"/>
          <p:nvPr/>
        </p:nvSpPr>
        <p:spPr>
          <a:xfrm>
            <a:off x="6629400" y="2514600"/>
            <a:ext cx="3474720" cy="594360"/>
          </a:xfrm>
          <a:prstGeom prst="rect">
            <a:avLst/>
          </a:prstGeom>
          <a:solidFill>
            <a:srgbClr val="E6F7F4"/>
          </a:solidFill>
          <a:ln w="9525">
            <a:solidFill>
              <a:srgbClr val="007E7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c"/>
            <a:r>
              <a:rPr lang="en-US" sz="1600" b="1">
                <a:solidFill>
                  <a:srgbClr val="142030"/>
                </a:solidFill>
                <a:latin typeface="Aptos"/>
              </a:rPr>
              <a:t>2. Model analysis</a:t>
            </a:r>
          </a:p>
        </p:txBody>
      </p:sp>
      <p:sp>
        <p:nvSpPr>
          <p:cNvPr id="40" name="Text 40"/>
          <p:cNvSpPr txBox="1"/>
          <p:nvPr/>
        </p:nvSpPr>
        <p:spPr>
          <a:xfrm>
            <a:off x="6629400" y="3520440"/>
            <a:ext cx="3474720" cy="594360"/>
          </a:xfrm>
          <a:prstGeom prst="rect">
            <a:avLst/>
          </a:prstGeom>
          <a:solidFill>
            <a:srgbClr val="FFF7E0"/>
          </a:solidFill>
          <a:ln w="9525">
            <a:solidFill>
              <a:srgbClr val="CC990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c"/>
            <a:r>
              <a:rPr lang="en-US" sz="1600" b="1">
                <a:solidFill>
                  <a:srgbClr val="142030"/>
                </a:solidFill>
                <a:latin typeface="Aptos"/>
              </a:rPr>
              <a:t>3. Simulation dashboard</a:t>
            </a:r>
          </a:p>
        </p:txBody>
      </p:sp>
      <p:cxnSp>
        <p:nvCxnSpPr>
          <p:cNvPr id="41" name="Arrow 41"/>
          <p:cNvCxnSpPr/>
          <p:nvPr/>
        </p:nvCxnSpPr>
        <p:spPr>
          <a:xfrm>
            <a:off x="8366760" y="2103120"/>
            <a:ext cx="0" cy="411480"/>
          </a:xfrm>
          <a:prstGeom prst="line">
            <a:avLst/>
          </a:prstGeom>
          <a:ln w="19050">
            <a:solidFill>
              <a:srgbClr val="52606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Arrow 42"/>
          <p:cNvCxnSpPr/>
          <p:nvPr/>
        </p:nvCxnSpPr>
        <p:spPr>
          <a:xfrm>
            <a:off x="8366760" y="3108960"/>
            <a:ext cx="0" cy="411480"/>
          </a:xfrm>
          <a:prstGeom prst="line">
            <a:avLst/>
          </a:prstGeom>
          <a:ln w="19050">
            <a:solidFill>
              <a:srgbClr val="52606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Text 43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Model Diagram: SITA</a:t>
            </a:r>
          </a:p>
        </p:txBody>
      </p:sp>
      <p:sp>
        <p:nvSpPr>
          <p:cNvPr id="44" name="Text 44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45" name="Text 45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46" name="S(t)"/>
          <p:cNvSpPr/>
          <p:nvPr/>
        </p:nvSpPr>
        <p:spPr>
          <a:xfrm>
            <a:off x="749808" y="1856231"/>
            <a:ext cx="1691640" cy="713232"/>
          </a:xfrm>
          <a:prstGeom prst="roundRect">
            <a:avLst/>
          </a:prstGeom>
          <a:solidFill>
            <a:srgbClr val="E8F2FA"/>
          </a:solidFill>
          <a:ln w="12700">
            <a:solidFill>
              <a:srgbClr val="004A80"/>
            </a:solidFill>
          </a:ln>
        </p:spPr>
        <p:txBody>
          <a:bodyPr wrap="square" anchor="mid" lIns="91440" rIns="91440" tIns="45720" bIns="45720">
            <a:normAutofit fontScale="85000" lnSpcReduction="15000"/>
          </a:bodyPr>
          <a:lstStyle/>
          <a:p>
            <a:pPr algn="ctr"/>
            <a:r>
              <a:rPr lang="en-US" sz="2000" b="1">
                <a:solidFill>
                  <a:srgbClr val="004A80"/>
                </a:solidFill>
                <a:latin typeface="Aptos Display"/>
              </a:rPr>
              <a:t>S(t)</a:t>
            </a:r>
          </a:p>
          <a:p>
            <a:pPr algn="ctr"/>
            <a:r>
              <a:rPr lang="en-US" sz="1500" b="1">
                <a:solidFill>
                  <a:srgbClr val="004A80"/>
                </a:solidFill>
                <a:latin typeface="Aptos"/>
              </a:rPr>
              <a:t>Susceptible</a:t>
            </a:r>
          </a:p>
        </p:txBody>
      </p:sp>
      <p:sp>
        <p:nvSpPr>
          <p:cNvPr id="47" name="I(t)"/>
          <p:cNvSpPr/>
          <p:nvPr/>
        </p:nvSpPr>
        <p:spPr>
          <a:xfrm>
            <a:off x="3246120" y="1856231"/>
            <a:ext cx="169164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44146"/>
            </a:solidFill>
          </a:ln>
        </p:spPr>
        <p:txBody>
          <a:bodyPr wrap="square" anchor="mid" lIns="91440" rIns="91440" tIns="45720" bIns="45720">
            <a:normAutofit fontScale="85000" lnSpcReduction="15000"/>
          </a:bodyPr>
          <a:lstStyle/>
          <a:p>
            <a:pPr algn="ctr"/>
            <a:r>
              <a:rPr lang="en-US" sz="2000" b="1">
                <a:solidFill>
                  <a:srgbClr val="B44146"/>
                </a:solidFill>
                <a:latin typeface="Aptos Display"/>
              </a:rPr>
              <a:t>I(t)</a:t>
            </a:r>
          </a:p>
          <a:p>
            <a:pPr algn="ctr"/>
            <a:r>
              <a:rPr lang="en-US" sz="1500" b="1">
                <a:solidFill>
                  <a:srgbClr val="B44146"/>
                </a:solidFill>
                <a:latin typeface="Aptos"/>
              </a:rPr>
              <a:t>Infected</a:t>
            </a:r>
          </a:p>
        </p:txBody>
      </p:sp>
      <p:sp>
        <p:nvSpPr>
          <p:cNvPr id="48" name="T(t)"/>
          <p:cNvSpPr/>
          <p:nvPr/>
        </p:nvSpPr>
        <p:spPr>
          <a:xfrm>
            <a:off x="5742432" y="1856231"/>
            <a:ext cx="1691640" cy="713232"/>
          </a:xfrm>
          <a:prstGeom prst="roundRect">
            <a:avLst/>
          </a:prstGeom>
          <a:solidFill>
            <a:srgbClr val="FFF7E0"/>
          </a:solidFill>
          <a:ln w="12700">
            <a:solidFill>
              <a:srgbClr val="CC9900"/>
            </a:solidFill>
          </a:ln>
        </p:spPr>
        <p:txBody>
          <a:bodyPr wrap="square" anchor="mid" lIns="91440" rIns="91440" tIns="45720" bIns="45720">
            <a:normAutofit fontScale="85000" lnSpcReduction="15000"/>
          </a:bodyPr>
          <a:lstStyle/>
          <a:p>
            <a:pPr algn="ctr"/>
            <a:r>
              <a:rPr lang="en-US" sz="2000" b="1">
                <a:solidFill>
                  <a:srgbClr val="CC9900"/>
                </a:solidFill>
                <a:latin typeface="Aptos Display"/>
              </a:rPr>
              <a:t>T(t)</a:t>
            </a:r>
          </a:p>
          <a:p>
            <a:pPr algn="ctr"/>
            <a:r>
              <a:rPr lang="en-US" sz="1500" b="1">
                <a:solidFill>
                  <a:srgbClr val="CC9900"/>
                </a:solidFill>
                <a:latin typeface="Aptos"/>
              </a:rPr>
              <a:t>Treated</a:t>
            </a:r>
          </a:p>
        </p:txBody>
      </p:sp>
      <p:sp>
        <p:nvSpPr>
          <p:cNvPr id="49" name="A(t)"/>
          <p:cNvSpPr/>
          <p:nvPr/>
        </p:nvSpPr>
        <p:spPr>
          <a:xfrm>
            <a:off x="8247888" y="1856231"/>
            <a:ext cx="1691640" cy="713232"/>
          </a:xfrm>
          <a:prstGeom prst="roundRect">
            <a:avLst/>
          </a:prstGeom>
          <a:solidFill>
            <a:srgbClr val="E6F7F4"/>
          </a:solidFill>
          <a:ln w="12700">
            <a:solidFill>
              <a:srgbClr val="007E70"/>
            </a:solidFill>
          </a:ln>
        </p:spPr>
        <p:txBody>
          <a:bodyPr wrap="square" anchor="mid" lIns="91440" rIns="91440" tIns="45720" bIns="45720">
            <a:normAutofit fontScale="85000" lnSpcReduction="15000"/>
          </a:bodyPr>
          <a:lstStyle/>
          <a:p>
            <a:pPr algn="ctr"/>
            <a:r>
              <a:rPr lang="en-US" sz="2000" b="1">
                <a:solidFill>
                  <a:srgbClr val="007E70"/>
                </a:solidFill>
                <a:latin typeface="Aptos Display"/>
              </a:rPr>
              <a:t>A(t)</a:t>
            </a:r>
          </a:p>
          <a:p>
            <a:pPr algn="ctr"/>
            <a:r>
              <a:rPr lang="en-US" sz="1500" b="1">
                <a:solidFill>
                  <a:srgbClr val="007E70"/>
                </a:solidFill>
                <a:latin typeface="Aptos"/>
              </a:rPr>
              <a:t>AIDS stage</a:t>
            </a:r>
          </a:p>
        </p:txBody>
      </p:sp>
      <p:cxnSp>
        <p:nvCxnSpPr>
          <p:cNvPr id="50" name="Arrow 50"/>
          <p:cNvCxnSpPr/>
          <p:nvPr/>
        </p:nvCxnSpPr>
        <p:spPr>
          <a:xfrm>
            <a:off x="2441448" y="2212848"/>
            <a:ext cx="804671" cy="0"/>
          </a:xfrm>
          <a:prstGeom prst="line">
            <a:avLst/>
          </a:prstGeom>
          <a:ln w="19050">
            <a:solidFill>
              <a:srgbClr val="14203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Arrow 51"/>
          <p:cNvCxnSpPr/>
          <p:nvPr/>
        </p:nvCxnSpPr>
        <p:spPr>
          <a:xfrm>
            <a:off x="4937760" y="2212848"/>
            <a:ext cx="804671" cy="0"/>
          </a:xfrm>
          <a:prstGeom prst="line">
            <a:avLst/>
          </a:prstGeom>
          <a:ln w="19050">
            <a:solidFill>
              <a:srgbClr val="14203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Arrow 52"/>
          <p:cNvCxnSpPr/>
          <p:nvPr/>
        </p:nvCxnSpPr>
        <p:spPr>
          <a:xfrm>
            <a:off x="7434072" y="2212848"/>
            <a:ext cx="813815" cy="0"/>
          </a:xfrm>
          <a:prstGeom prst="line">
            <a:avLst/>
          </a:prstGeom>
          <a:ln w="19050">
            <a:solidFill>
              <a:srgbClr val="14203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 53"/>
          <p:cNvSpPr txBox="1"/>
          <p:nvPr/>
        </p:nvSpPr>
        <p:spPr>
          <a:xfrm>
            <a:off x="2267712" y="1353312"/>
            <a:ext cx="114300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c"/>
            <a:r>
              <a:rPr lang="en-US" sz="1000" b="0">
                <a:solidFill>
                  <a:srgbClr val="52606C"/>
                </a:solidFill>
                <a:latin typeface="Aptos"/>
              </a:rPr>
              <a:t>effective transmission</a:t>
            </a:r>
          </a:p>
        </p:txBody>
      </p:sp>
      <p:sp>
        <p:nvSpPr>
          <p:cNvPr id="54" name="Text 54"/>
          <p:cNvSpPr txBox="1"/>
          <p:nvPr/>
        </p:nvSpPr>
        <p:spPr>
          <a:xfrm>
            <a:off x="4700016" y="1353312"/>
            <a:ext cx="114300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c"/>
            <a:r>
              <a:rPr lang="en-US" sz="1000" b="0">
                <a:solidFill>
                  <a:srgbClr val="52606C"/>
                </a:solidFill>
                <a:latin typeface="Aptos"/>
              </a:rPr>
              <a:t>testing and treatment</a:t>
            </a:r>
          </a:p>
        </p:txBody>
      </p:sp>
      <p:sp>
        <p:nvSpPr>
          <p:cNvPr id="55" name="Text 55"/>
          <p:cNvSpPr txBox="1"/>
          <p:nvPr/>
        </p:nvSpPr>
        <p:spPr>
          <a:xfrm>
            <a:off x="7059168" y="2779776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c"/>
            <a:r>
              <a:rPr lang="en-US" sz="1000" b="0">
                <a:solidFill>
                  <a:srgbClr val="52606C"/>
                </a:solidFill>
                <a:latin typeface="Aptos"/>
              </a:rPr>
              <a:t>reduced progression</a:t>
            </a:r>
          </a:p>
        </p:txBody>
      </p:sp>
      <p:sp>
        <p:nvSpPr>
          <p:cNvPr id="56" name="Text 56"/>
          <p:cNvSpPr txBox="1"/>
          <p:nvPr/>
        </p:nvSpPr>
        <p:spPr>
          <a:xfrm>
            <a:off x="914400" y="4224528"/>
            <a:ext cx="4846320" cy="960120"/>
          </a:xfrm>
          <a:prstGeom prst="rect">
            <a:avLst/>
          </a:prstGeom>
          <a:solidFill>
            <a:srgbClr val="E8F2FA"/>
          </a:solidFill>
          <a:ln w="9525">
            <a:solidFill>
              <a:srgbClr val="004A8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State variables</a:t>
            </a:r>
          </a:p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S susceptible, I infected, T treated, A AIDS-stage population.</a:t>
            </a:r>
          </a:p>
        </p:txBody>
      </p:sp>
      <p:sp>
        <p:nvSpPr>
          <p:cNvPr id="57" name="Text 57"/>
          <p:cNvSpPr txBox="1"/>
          <p:nvPr/>
        </p:nvSpPr>
        <p:spPr>
          <a:xfrm>
            <a:off x="6355080" y="4224528"/>
            <a:ext cx="4709160" cy="960120"/>
          </a:xfrm>
          <a:prstGeom prst="rect">
            <a:avLst/>
          </a:prstGeom>
          <a:solidFill>
            <a:srgbClr val="FFF7E0"/>
          </a:solidFill>
          <a:ln w="9525">
            <a:solidFill>
              <a:srgbClr val="CC990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Controls</a:t>
            </a:r>
          </a:p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u1 awareness, u2 safer behaviour, u3 testing, u4 adherence.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58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Fractional-Order Model and Analysis Evidence</a:t>
            </a:r>
          </a:p>
        </p:txBody>
      </p:sp>
      <p:sp>
        <p:nvSpPr>
          <p:cNvPr id="59" name="Text 59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60" name="Text 60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61" name="Text 61"/>
          <p:cNvSpPr txBox="1"/>
          <p:nvPr/>
        </p:nvSpPr>
        <p:spPr>
          <a:xfrm>
            <a:off x="658368" y="1115568"/>
            <a:ext cx="530352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Objective 1: model formulation</a:t>
            </a:r>
          </a:p>
        </p:txBody>
      </p:sp>
      <p:sp>
        <p:nvSpPr>
          <p:cNvPr id="62" name="Text 62"/>
          <p:cNvSpPr txBox="1"/>
          <p:nvPr/>
        </p:nvSpPr>
        <p:spPr>
          <a:xfrm>
            <a:off x="694944" y="1517904"/>
            <a:ext cx="5303520" cy="438912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000" b="1">
                <a:solidFill>
                  <a:srgbClr val="142030"/>
                </a:solidFill>
                <a:latin typeface="Aptos"/>
              </a:rPr>
              <a:t>D_C^q X(t) = F(t, X(t)),    0 &lt; q &lt;= 1</a:t>
            </a:r>
          </a:p>
        </p:txBody>
      </p:sp>
      <p:sp>
        <p:nvSpPr>
          <p:cNvPr id="63" name="Text 63"/>
          <p:cNvSpPr txBox="1"/>
          <p:nvPr/>
        </p:nvSpPr>
        <p:spPr>
          <a:xfrm>
            <a:off x="749808" y="2130552"/>
            <a:ext cx="5623560" cy="141732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300" b="0">
                <a:solidFill>
                  <a:srgbClr val="142030"/>
                </a:solidFill>
                <a:latin typeface="Aptos"/>
              </a:rPr>
              <a:t>lambda(t) = beta_eff(I + eta T)/N</a:t>
            </a:r>
          </a:p>
          <a:p>
            <a:pPr algn="l"/>
            <a:r>
              <a:rPr lang="en-US" sz="1300" b="0">
                <a:solidFill>
                  <a:srgbClr val="142030"/>
                </a:solidFill>
                <a:latin typeface="Aptos"/>
              </a:rPr>
              <a:t>D_C^q S = Lambda - lambda(t)S - mu S</a:t>
            </a:r>
          </a:p>
          <a:p>
            <a:pPr algn="l"/>
            <a:r>
              <a:rPr lang="en-US" sz="1300" b="0">
                <a:solidFill>
                  <a:srgbClr val="142030"/>
                </a:solidFill>
                <a:latin typeface="Aptos"/>
              </a:rPr>
              <a:t>D_C^q I = lambda(t)S - (tau_eff + delta + mu)I</a:t>
            </a:r>
          </a:p>
          <a:p>
            <a:pPr algn="l"/>
            <a:r>
              <a:rPr lang="en-US" sz="1300" b="0">
                <a:solidFill>
                  <a:srgbClr val="142030"/>
                </a:solidFill>
                <a:latin typeface="Aptos"/>
              </a:rPr>
              <a:t>D_C^q T = tau_eff I - (rho_eff + mu)T</a:t>
            </a:r>
          </a:p>
          <a:p>
            <a:pPr algn="l"/>
            <a:r>
              <a:rPr lang="en-US" sz="1300" b="0">
                <a:solidFill>
                  <a:srgbClr val="142030"/>
                </a:solidFill>
                <a:latin typeface="Aptos"/>
              </a:rPr>
              <a:t>D_C^q A = delta I + rho_eff T - (d + mu)A</a:t>
            </a:r>
          </a:p>
        </p:txBody>
      </p:sp>
      <p:sp>
        <p:nvSpPr>
          <p:cNvPr id="64" name="Text 64"/>
          <p:cNvSpPr txBox="1"/>
          <p:nvPr/>
        </p:nvSpPr>
        <p:spPr>
          <a:xfrm>
            <a:off x="749808" y="3730752"/>
            <a:ext cx="5623560" cy="987552"/>
          </a:xfrm>
          <a:prstGeom prst="rect">
            <a:avLst/>
          </a:prstGeom>
          <a:solidFill>
            <a:srgbClr val="FFF7E0"/>
          </a:solidFill>
          <a:ln w="9525">
            <a:solidFill>
              <a:srgbClr val="CC990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300" b="0">
                <a:solidFill>
                  <a:srgbClr val="142030"/>
                </a:solidFill>
                <a:latin typeface="Aptos"/>
              </a:rPr>
              <a:t>Intervention-adjusted rates</a:t>
            </a:r>
          </a:p>
          <a:p>
            <a:pPr algn="l"/>
            <a:r>
              <a:rPr lang="en-US" sz="1300" b="0">
                <a:solidFill>
                  <a:srgbClr val="142030"/>
                </a:solidFill>
                <a:latin typeface="Aptos"/>
              </a:rPr>
              <a:t>beta_eff = beta0(1-u1)(1-u2)</a:t>
            </a:r>
          </a:p>
          <a:p>
            <a:pPr algn="l"/>
            <a:r>
              <a:rPr lang="en-US" sz="1300" b="0">
                <a:solidFill>
                  <a:srgbClr val="142030"/>
                </a:solidFill>
                <a:latin typeface="Aptos"/>
              </a:rPr>
              <a:t>tau_eff = tau(1+u3)</a:t>
            </a:r>
          </a:p>
          <a:p>
            <a:pPr algn="l"/>
            <a:r>
              <a:rPr lang="en-US" sz="1300" b="0">
                <a:solidFill>
                  <a:srgbClr val="142030"/>
                </a:solidFill>
                <a:latin typeface="Aptos"/>
              </a:rPr>
              <a:t>rho_eff = rho(1-u4)</a:t>
            </a:r>
          </a:p>
        </p:txBody>
      </p:sp>
      <p:sp>
        <p:nvSpPr>
          <p:cNvPr id="65" name="Text 65"/>
          <p:cNvSpPr txBox="1"/>
          <p:nvPr/>
        </p:nvSpPr>
        <p:spPr>
          <a:xfrm>
            <a:off x="6720840" y="1143000"/>
            <a:ext cx="434340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Objective 2: analysis completed</a:t>
            </a:r>
          </a:p>
        </p:txBody>
      </p:sp>
      <p:sp>
        <p:nvSpPr>
          <p:cNvPr id="66" name="Text 66"/>
          <p:cNvSpPr txBox="1"/>
          <p:nvPr/>
        </p:nvSpPr>
        <p:spPr>
          <a:xfrm>
            <a:off x="6720840" y="1572768"/>
            <a:ext cx="4343400" cy="676656"/>
          </a:xfrm>
          <a:prstGeom prst="rect">
            <a:avLst/>
          </a:prstGeom>
          <a:solidFill>
            <a:srgbClr val="E8F2FA"/>
          </a:solidFill>
          <a:ln w="9525">
            <a:solidFill>
              <a:srgbClr val="004A8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200" b="0">
                <a:solidFill>
                  <a:srgbClr val="142030"/>
                </a:solidFill>
                <a:latin typeface="Aptos"/>
              </a:rPr>
              <a:t>Positivity</a:t>
            </a:r>
          </a:p>
          <a:p>
            <a:pPr algn="l"/>
            <a:r>
              <a:rPr lang="en-US" sz="1200" b="0">
                <a:solidFill>
                  <a:srgbClr val="142030"/>
                </a:solidFill>
                <a:latin typeface="Aptos"/>
              </a:rPr>
              <a:t>Boundary derivatives are nonnegative, so S, I, T, A stay nonnegative.</a:t>
            </a:r>
          </a:p>
        </p:txBody>
      </p:sp>
      <p:sp>
        <p:nvSpPr>
          <p:cNvPr id="67" name="Text 67"/>
          <p:cNvSpPr txBox="1"/>
          <p:nvPr/>
        </p:nvSpPr>
        <p:spPr>
          <a:xfrm>
            <a:off x="6720840" y="2395728"/>
            <a:ext cx="4343400" cy="676656"/>
          </a:xfrm>
          <a:prstGeom prst="rect">
            <a:avLst/>
          </a:prstGeom>
          <a:solidFill>
            <a:srgbClr val="E6F7F4"/>
          </a:solidFill>
          <a:ln w="9525">
            <a:solidFill>
              <a:srgbClr val="007E7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200" b="0">
                <a:solidFill>
                  <a:srgbClr val="142030"/>
                </a:solidFill>
                <a:latin typeface="Aptos"/>
              </a:rPr>
              <a:t>Boundedness</a:t>
            </a:r>
          </a:p>
          <a:p>
            <a:pPr algn="l"/>
            <a:r>
              <a:rPr lang="en-US" sz="1200" b="0">
                <a:solidFill>
                  <a:srgbClr val="142030"/>
                </a:solidFill>
                <a:latin typeface="Aptos"/>
              </a:rPr>
              <a:t>D_C^q N = Lambda - mu N - dA &lt;= Lambda - mu N.</a:t>
            </a:r>
          </a:p>
        </p:txBody>
      </p:sp>
      <p:sp>
        <p:nvSpPr>
          <p:cNvPr id="68" name="Text 68"/>
          <p:cNvSpPr txBox="1"/>
          <p:nvPr/>
        </p:nvSpPr>
        <p:spPr>
          <a:xfrm>
            <a:off x="6720840" y="3218688"/>
            <a:ext cx="4343400" cy="713232"/>
          </a:xfrm>
          <a:prstGeom prst="rect">
            <a:avLst/>
          </a:prstGeom>
          <a:solidFill>
            <a:srgbClr val="FFF7E0"/>
          </a:solidFill>
          <a:ln w="9525">
            <a:solidFill>
              <a:srgbClr val="CC990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200" b="0">
                <a:solidFill>
                  <a:srgbClr val="142030"/>
                </a:solidFill>
                <a:latin typeface="Aptos"/>
              </a:rPr>
              <a:t>DFE and R0</a:t>
            </a:r>
          </a:p>
          <a:p>
            <a:pPr algn="l"/>
            <a:r>
              <a:rPr lang="en-US" sz="1200" b="0">
                <a:solidFill>
                  <a:srgbClr val="142030"/>
                </a:solidFill>
                <a:latin typeface="Aptos"/>
              </a:rPr>
              <a:t>E0=(Lambda/mu,0,0,0); R0 is obtained by next-generation method.</a:t>
            </a:r>
          </a:p>
        </p:txBody>
      </p:sp>
      <p:sp>
        <p:nvSpPr>
          <p:cNvPr id="69" name="Text 69"/>
          <p:cNvSpPr txBox="1"/>
          <p:nvPr/>
        </p:nvSpPr>
        <p:spPr>
          <a:xfrm>
            <a:off x="6720840" y="4096512"/>
            <a:ext cx="4343400" cy="713232"/>
          </a:xfrm>
          <a:prstGeom prst="rect">
            <a:avLst/>
          </a:prstGeom>
          <a:solidFill>
            <a:srgbClr val="E6F7F4"/>
          </a:solidFill>
          <a:ln w="9525">
            <a:solidFill>
              <a:srgbClr val="007E7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200" b="0">
                <a:solidFill>
                  <a:srgbClr val="142030"/>
                </a:solidFill>
                <a:latin typeface="Aptos"/>
              </a:rPr>
              <a:t>Fractional stability</a:t>
            </a:r>
          </a:p>
          <a:p>
            <a:pPr algn="l"/>
            <a:r>
              <a:rPr lang="en-US" sz="1200" b="0">
                <a:solidFill>
                  <a:srgbClr val="142030"/>
                </a:solidFill>
                <a:latin typeface="Aptos"/>
              </a:rPr>
              <a:t>DFE stability uses |arg(lambda_i)| &gt; q*pi/2 when R0 &lt; 1.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Text 70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Numerical Scheme + Implementation</a:t>
            </a:r>
          </a:p>
        </p:txBody>
      </p:sp>
      <p:sp>
        <p:nvSpPr>
          <p:cNvPr id="71" name="Text 71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72" name="Text 72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73" name="Text 73"/>
          <p:cNvSpPr txBox="1"/>
          <p:nvPr/>
        </p:nvSpPr>
        <p:spPr>
          <a:xfrm>
            <a:off x="658368" y="1234440"/>
            <a:ext cx="470916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Numerical idea</a:t>
            </a:r>
          </a:p>
        </p:txBody>
      </p:sp>
      <p:sp>
        <p:nvSpPr>
          <p:cNvPr id="74" name="Text 74"/>
          <p:cNvSpPr txBox="1"/>
          <p:nvPr/>
        </p:nvSpPr>
        <p:spPr>
          <a:xfrm>
            <a:off x="749808" y="1627632"/>
            <a:ext cx="4937760" cy="242316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Time interval is divided into discrete steps.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A predictor estimates the next state.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A corrector updates the state using fractional-memory weights.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The same engine is used for baseline, memory, intervention, and sensitivity experiments.</a:t>
            </a:r>
          </a:p>
        </p:txBody>
      </p:sp>
      <p:sp>
        <p:nvSpPr>
          <p:cNvPr id="75" name="Text 75"/>
          <p:cNvSpPr txBox="1"/>
          <p:nvPr/>
        </p:nvSpPr>
        <p:spPr>
          <a:xfrm>
            <a:off x="6355080" y="1170432"/>
            <a:ext cx="4297680" cy="749808"/>
          </a:xfrm>
          <a:prstGeom prst="rect">
            <a:avLst/>
          </a:prstGeom>
          <a:solidFill>
            <a:srgbClr val="E8F2FA"/>
          </a:solidFill>
          <a:ln w="9525">
            <a:solidFill>
              <a:srgbClr val="004A8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Inputs</a:t>
            </a:r>
          </a:p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parameters, initial conditions, q, controls</a:t>
            </a:r>
          </a:p>
        </p:txBody>
      </p:sp>
      <p:sp>
        <p:nvSpPr>
          <p:cNvPr id="76" name="Text 76"/>
          <p:cNvSpPr txBox="1"/>
          <p:nvPr/>
        </p:nvSpPr>
        <p:spPr>
          <a:xfrm>
            <a:off x="6355080" y="2084831"/>
            <a:ext cx="4297680" cy="749808"/>
          </a:xfrm>
          <a:prstGeom prst="rect">
            <a:avLst/>
          </a:prstGeom>
          <a:solidFill>
            <a:srgbClr val="E6F7F4"/>
          </a:solidFill>
          <a:ln w="9525">
            <a:solidFill>
              <a:srgbClr val="007E7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Solver</a:t>
            </a:r>
          </a:p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fractional ABM-type numerical method</a:t>
            </a:r>
          </a:p>
        </p:txBody>
      </p:sp>
      <p:sp>
        <p:nvSpPr>
          <p:cNvPr id="77" name="Text 77"/>
          <p:cNvSpPr txBox="1"/>
          <p:nvPr/>
        </p:nvSpPr>
        <p:spPr>
          <a:xfrm>
            <a:off x="6355080" y="2999232"/>
            <a:ext cx="4297680" cy="749808"/>
          </a:xfrm>
          <a:prstGeom prst="rect">
            <a:avLst/>
          </a:prstGeom>
          <a:solidFill>
            <a:srgbClr val="FFF7E0"/>
          </a:solidFill>
          <a:ln w="9525">
            <a:solidFill>
              <a:srgbClr val="CC990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Outputs</a:t>
            </a:r>
          </a:p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trajectories, R0, scenarios, sensitivity</a:t>
            </a:r>
          </a:p>
        </p:txBody>
      </p:sp>
      <p:sp>
        <p:nvSpPr>
          <p:cNvPr id="78" name="Text 78"/>
          <p:cNvSpPr txBox="1"/>
          <p:nvPr/>
        </p:nvSpPr>
        <p:spPr>
          <a:xfrm>
            <a:off x="6355080" y="3913632"/>
            <a:ext cx="429768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B44146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Presentation</a:t>
            </a:r>
          </a:p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moving graphs during the live demo</a:t>
            </a:r>
          </a:p>
        </p:txBody>
      </p:sp>
      <p:cxnSp>
        <p:nvCxnSpPr>
          <p:cNvPr id="79" name="Arrow 79"/>
          <p:cNvCxnSpPr/>
          <p:nvPr/>
        </p:nvCxnSpPr>
        <p:spPr>
          <a:xfrm>
            <a:off x="8503920" y="1920240"/>
            <a:ext cx="0" cy="164591"/>
          </a:xfrm>
          <a:prstGeom prst="line">
            <a:avLst/>
          </a:prstGeom>
          <a:ln w="19050">
            <a:solidFill>
              <a:srgbClr val="52606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Arrow 80"/>
          <p:cNvCxnSpPr/>
          <p:nvPr/>
        </p:nvCxnSpPr>
        <p:spPr>
          <a:xfrm>
            <a:off x="8503920" y="2834640"/>
            <a:ext cx="0" cy="164591"/>
          </a:xfrm>
          <a:prstGeom prst="line">
            <a:avLst/>
          </a:prstGeom>
          <a:ln w="19050">
            <a:solidFill>
              <a:srgbClr val="52606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Arrow 81"/>
          <p:cNvCxnSpPr/>
          <p:nvPr/>
        </p:nvCxnSpPr>
        <p:spPr>
          <a:xfrm>
            <a:off x="8503920" y="3749039"/>
            <a:ext cx="0" cy="164592"/>
          </a:xfrm>
          <a:prstGeom prst="line">
            <a:avLst/>
          </a:prstGeom>
          <a:ln w="19050">
            <a:solidFill>
              <a:srgbClr val="52606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Text 82"/>
          <p:cNvSpPr txBox="1"/>
          <p:nvPr/>
        </p:nvSpPr>
        <p:spPr>
          <a:xfrm>
            <a:off x="896112" y="5166360"/>
            <a:ext cx="9921240" cy="658368"/>
          </a:xfrm>
          <a:prstGeom prst="rect">
            <a:avLst/>
          </a:prstGeom>
          <a:solidFill>
            <a:srgbClr val="FFF7E0"/>
          </a:solidFill>
          <a:ln w="9525">
            <a:solidFill>
              <a:srgbClr val="CC990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600" b="0">
                <a:solidFill>
                  <a:srgbClr val="142030"/>
                </a:solidFill>
                <a:latin typeface="Aptos"/>
              </a:rPr>
              <a:t>Presentation link: the mathematical model is explained in the slides; moving graphs are shown separately during the live demonstration.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Text 84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Baseline Simulation Result</a:t>
            </a:r>
          </a:p>
        </p:txBody>
      </p:sp>
      <p:sp>
        <p:nvSpPr>
          <p:cNvPr id="85" name="Text 85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86" name="Text 86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pic>
        <p:nvPicPr>
          <p:cNvPr id="83" name="presentation_baseline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292608" y="1078992"/>
            <a:ext cx="11631168" cy="3931920"/>
          </a:xfrm>
          <a:prstGeom prst="rect">
            <a:avLst/>
          </a:prstGeom>
        </p:spPr>
      </p:pic>
      <p:sp>
        <p:nvSpPr>
          <p:cNvPr id="87" name="Text 87"/>
          <p:cNvSpPr txBox="1"/>
          <p:nvPr/>
        </p:nvSpPr>
        <p:spPr>
          <a:xfrm>
            <a:off x="585216" y="5321808"/>
            <a:ext cx="11018520" cy="621792"/>
          </a:xfrm>
          <a:prstGeom prst="rect">
            <a:avLst/>
          </a:prstGeom>
          <a:solidFill>
            <a:srgbClr val="E6F7F4"/>
          </a:solidFill>
          <a:ln w="9525">
            <a:solidFill>
              <a:srgbClr val="007E7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▶ R0 = 0.430 &lt; 1. The infected class starts at I(0)=150 and declines to I=3.1; treatment remains visible at T=94.3. Source: submitted report, Chapter 6 baseline simulation.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Text 89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Simulation Results: Intervention Comparison</a:t>
            </a:r>
          </a:p>
        </p:txBody>
      </p:sp>
      <p:sp>
        <p:nvSpPr>
          <p:cNvPr id="90" name="Text 90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91" name="Text 91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pic>
        <p:nvPicPr>
          <p:cNvPr id="88" name="presentation_interventions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384048" y="1078992"/>
            <a:ext cx="11430000" cy="3730752"/>
          </a:xfrm>
          <a:prstGeom prst="rect">
            <a:avLst/>
          </a:prstGeom>
        </p:spPr>
      </p:pic>
      <p:sp>
        <p:nvSpPr>
          <p:cNvPr id="92" name="Text 92"/>
          <p:cNvSpPr txBox="1"/>
          <p:nvPr/>
        </p:nvSpPr>
        <p:spPr>
          <a:xfrm>
            <a:off x="585216" y="5321808"/>
            <a:ext cx="11018520" cy="621792"/>
          </a:xfrm>
          <a:prstGeom prst="rect">
            <a:avLst/>
          </a:prstGeom>
          <a:solidFill>
            <a:srgbClr val="E6F7F4"/>
          </a:solidFill>
          <a:ln w="9525">
            <a:solidFill>
              <a:srgbClr val="007E7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▶ Lower curves mean fewer infected individuals. Combined strategies act on transmission, treatment movement, and AIDS progression together. Source: submitted report, Chapter 6 intervention comparison.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Text 94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Simulation Results: Fractional Memory</a:t>
            </a:r>
          </a:p>
        </p:txBody>
      </p:sp>
      <p:sp>
        <p:nvSpPr>
          <p:cNvPr id="95" name="Text 95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96" name="Text 96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pic>
        <p:nvPicPr>
          <p:cNvPr id="93" name="presentation_memory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347472" y="1078992"/>
            <a:ext cx="11503152" cy="3922776"/>
          </a:xfrm>
          <a:prstGeom prst="rect">
            <a:avLst/>
          </a:prstGeom>
        </p:spPr>
      </p:pic>
      <p:sp>
        <p:nvSpPr>
          <p:cNvPr id="97" name="Text 97"/>
          <p:cNvSpPr txBox="1"/>
          <p:nvPr/>
        </p:nvSpPr>
        <p:spPr>
          <a:xfrm>
            <a:off x="585216" y="5321808"/>
            <a:ext cx="11018520" cy="621792"/>
          </a:xfrm>
          <a:prstGeom prst="rect">
            <a:avLst/>
          </a:prstGeom>
          <a:solidFill>
            <a:srgbClr val="FFF7E0"/>
          </a:solidFill>
          <a:ln w="9525">
            <a:solidFill>
              <a:srgbClr val="CC990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▶ q = 1 is the ordinary model; q &lt; 1 introduces memory. The curve separation shows the computational effect of fractional memory. Source: submitted report, Chapter 6 memory comparison.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Text 99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Dashboard and Sensitivity Evidence</a:t>
            </a:r>
          </a:p>
        </p:txBody>
      </p:sp>
      <p:sp>
        <p:nvSpPr>
          <p:cNvPr id="100" name="Text 100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101" name="Text 101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pic>
        <p:nvPicPr>
          <p:cNvPr id="98" name="presentation_sensitivity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585216" y="1024128"/>
            <a:ext cx="11018520" cy="4187952"/>
          </a:xfrm>
          <a:prstGeom prst="rect">
            <a:avLst/>
          </a:prstGeom>
        </p:spPr>
      </p:pic>
      <p:sp>
        <p:nvSpPr>
          <p:cNvPr id="102" name="Text 102"/>
          <p:cNvSpPr txBox="1"/>
          <p:nvPr/>
        </p:nvSpPr>
        <p:spPr>
          <a:xfrm>
            <a:off x="585216" y="5413248"/>
            <a:ext cx="11018520" cy="548640"/>
          </a:xfrm>
          <a:prstGeom prst="rect">
            <a:avLst/>
          </a:prstGeom>
          <a:solidFill>
            <a:srgbClr val="E6F7F4"/>
          </a:solidFill>
          <a:ln w="9525">
            <a:solidFill>
              <a:srgbClr val="007E7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▶ Sensitivity index: U_p^R0=(partial R0/partial p)(p/R0). Positive bars increase R0; negative bars reduce R0. Source: submitted report, Chapter 6 sensitivity analysis.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Text 104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Live Dashboard Demonstration</a:t>
            </a:r>
          </a:p>
        </p:txBody>
      </p:sp>
      <p:sp>
        <p:nvSpPr>
          <p:cNvPr id="105" name="Text 105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106" name="Text 106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107" name="Text 107"/>
          <p:cNvSpPr txBox="1"/>
          <p:nvPr/>
        </p:nvSpPr>
        <p:spPr>
          <a:xfrm>
            <a:off x="658368" y="1234440"/>
            <a:ext cx="507492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Open during the defense</a:t>
            </a:r>
          </a:p>
        </p:txBody>
      </p:sp>
      <p:sp>
        <p:nvSpPr>
          <p:cNvPr id="108" name="Text 108"/>
          <p:cNvSpPr txBox="1"/>
          <p:nvPr/>
        </p:nvSpPr>
        <p:spPr>
          <a:xfrm>
            <a:off x="749808" y="1664208"/>
            <a:ext cx="5029200" cy="731520"/>
          </a:xfrm>
          <a:prstGeom prst="rect">
            <a:avLst/>
          </a:prstGeom>
          <a:solidFill>
            <a:srgbClr val="E8F2FA"/>
          </a:solidFill>
          <a:ln w="9525">
            <a:solidFill>
              <a:srgbClr val="004A8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800" b="0">
                <a:solidFill>
                  <a:srgbClr val="142030"/>
                </a:solidFill>
                <a:latin typeface="Aptos"/>
              </a:rPr>
              <a:t>Dashboard link</a:t>
            </a:r>
          </a:p>
          <a:p>
            <a:pPr algn="l"/>
            <a:r>
              <a:rPr lang="en-US" sz="1800" b="0">
                <a:solidFill>
                  <a:srgbClr val="142030"/>
                </a:solidFill>
                <a:latin typeface="Aptos"/>
              </a:rPr>
              <a:t>https://hiv-model.onrender.com/</a:t>
            </a:r>
          </a:p>
        </p:txBody>
      </p:sp>
      <p:sp>
        <p:nvSpPr>
          <p:cNvPr id="109" name="Text 109"/>
          <p:cNvSpPr txBox="1"/>
          <p:nvPr/>
        </p:nvSpPr>
        <p:spPr>
          <a:xfrm>
            <a:off x="768096" y="2788920"/>
            <a:ext cx="5120640" cy="164592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600" b="0">
                <a:solidFill>
                  <a:srgbClr val="142030"/>
                </a:solidFill>
                <a:latin typeface="Aptos"/>
              </a:rPr>
              <a:t>Run the baseline simulation.</a:t>
            </a:r>
          </a:p>
          <a:p>
            <a:pPr algn="l">
              <a:buChar char="•"/>
              <a:buFont typeface="Arial"/>
            </a:pPr>
            <a:r>
              <a:rPr lang="en-US" sz="1600" b="0">
                <a:solidFill>
                  <a:srgbClr val="142030"/>
                </a:solidFill>
                <a:latin typeface="Aptos"/>
              </a:rPr>
              <a:t>Show the final state summary and interpretation.</a:t>
            </a:r>
          </a:p>
          <a:p>
            <a:pPr algn="l">
              <a:buChar char="•"/>
              <a:buFont typeface="Arial"/>
            </a:pPr>
            <a:r>
              <a:rPr lang="en-US" sz="1600" b="0">
                <a:solidFill>
                  <a:srgbClr val="142030"/>
                </a:solidFill>
                <a:latin typeface="Aptos"/>
              </a:rPr>
              <a:t>Compare no intervention with combined intervention.</a:t>
            </a:r>
          </a:p>
          <a:p>
            <a:pPr algn="l">
              <a:buChar char="•"/>
              <a:buFont typeface="Arial"/>
            </a:pPr>
            <a:r>
              <a:rPr lang="en-US" sz="1600" b="0">
                <a:solidFill>
                  <a:srgbClr val="142030"/>
                </a:solidFill>
                <a:latin typeface="Aptos"/>
              </a:rPr>
              <a:t>Change q to show the fractional memory effect.</a:t>
            </a:r>
          </a:p>
        </p:txBody>
      </p:sp>
      <p:pic>
        <p:nvPicPr>
          <p:cNvPr id="103" name="dashboardBaselineFigure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6583680" y="1417320"/>
            <a:ext cx="4297680" cy="233172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Text 110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Conclusion + Recommendations</a:t>
            </a:r>
          </a:p>
        </p:txBody>
      </p:sp>
      <p:sp>
        <p:nvSpPr>
          <p:cNvPr id="111" name="Text 111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112" name="Text 112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113" name="Text 113"/>
          <p:cNvSpPr txBox="1"/>
          <p:nvPr/>
        </p:nvSpPr>
        <p:spPr>
          <a:xfrm>
            <a:off x="658368" y="1234440"/>
            <a:ext cx="470916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Conclusion</a:t>
            </a:r>
          </a:p>
        </p:txBody>
      </p:sp>
      <p:sp>
        <p:nvSpPr>
          <p:cNvPr id="114" name="Text 114"/>
          <p:cNvSpPr txBox="1"/>
          <p:nvPr/>
        </p:nvSpPr>
        <p:spPr>
          <a:xfrm>
            <a:off x="713232" y="1627632"/>
            <a:ext cx="4800600" cy="288036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The SITA HIV model was extended using fractional memory.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Behavioural interventions were represented through effective rates.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Numerical simulations support combined intervention strategies.</a:t>
            </a:r>
          </a:p>
        </p:txBody>
      </p:sp>
      <p:sp>
        <p:nvSpPr>
          <p:cNvPr id="115" name="Text 115"/>
          <p:cNvSpPr txBox="1"/>
          <p:nvPr/>
        </p:nvSpPr>
        <p:spPr>
          <a:xfrm>
            <a:off x="6080760" y="1234440"/>
            <a:ext cx="466344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Recommendations</a:t>
            </a:r>
          </a:p>
        </p:txBody>
      </p:sp>
      <p:sp>
        <p:nvSpPr>
          <p:cNvPr id="116" name="Text 116"/>
          <p:cNvSpPr txBox="1"/>
          <p:nvPr/>
        </p:nvSpPr>
        <p:spPr>
          <a:xfrm>
            <a:off x="6144768" y="1627632"/>
            <a:ext cx="4800600" cy="288036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Calibrate parameters with Rwanda-specific data.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Extend the model using age, gender, or stochastic structure.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Compare other fractional operators.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Improve the dashboard into an educational decision-support tool.</a:t>
            </a:r>
          </a:p>
        </p:txBody>
      </p:sp>
      <p:sp>
        <p:nvSpPr>
          <p:cNvPr id="117" name="Text 117"/>
          <p:cNvSpPr txBox="1"/>
          <p:nvPr/>
        </p:nvSpPr>
        <p:spPr>
          <a:xfrm>
            <a:off x="868680" y="5349240"/>
            <a:ext cx="10195560" cy="640080"/>
          </a:xfrm>
          <a:prstGeom prst="rect">
            <a:avLst/>
          </a:prstGeom>
          <a:solidFill>
            <a:srgbClr val="E6F7F4"/>
          </a:solidFill>
          <a:ln w="9525">
            <a:solidFill>
              <a:srgbClr val="007E7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700" b="0">
                <a:solidFill>
                  <a:srgbClr val="142030"/>
                </a:solidFill>
                <a:latin typeface="Aptos"/>
              </a:rPr>
              <a:t>Final message: the work connects mathematical analysis, numerical simulation, and a working dashboard for communicating HIV intervention dynamics.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TA Professional">
  <a:themeElements>
    <a:clrScheme name="SITA">
      <a:dk1>
        <a:srgbClr val="0A1B30"/>
      </a:dk1>
      <a:lt1>
        <a:srgbClr val="FFFFFF"/>
      </a:lt1>
      <a:dk2>
        <a:srgbClr val="142030"/>
      </a:dk2>
      <a:lt2>
        <a:srgbClr val="F7FAFC"/>
      </a:lt2>
      <a:accent1>
        <a:srgbClr val="007E70"/>
      </a:accent1>
      <a:accent2>
        <a:srgbClr val="CC9900"/>
      </a:accent2>
      <a:accent3>
        <a:srgbClr val="004A80"/>
      </a:accent3>
      <a:accent4>
        <a:srgbClr val="B44146"/>
      </a:accent4>
      <a:accent5>
        <a:srgbClr val="7A8794"/>
      </a:accent5>
      <a:accent6>
        <a:srgbClr val="C7D5E1"/>
      </a:accent6>
      <a:hlink>
        <a:srgbClr val="004A80"/>
      </a:hlink>
      <a:folHlink>
        <a:srgbClr val="007E70"/>
      </a:folHlink>
    </a:clrScheme>
    <a:fontScheme name="Aptos">
      <a:majorFont>
        <a:latin typeface="Aptos Display"/>
      </a:majorFont>
      <a:minorFont>
        <a:latin typeface="Aptos"/>
      </a:minorFont>
    </a:fontScheme>
    <a:fmtScheme name="Clean">
      <a:fillStyleLst>
        <a:solidFill>
          <a:schemeClr val="phClr"/>
        </a:solidFill>
      </a:fillStyleLst>
      <a:lnStyleLst>
        <a:ln w="12700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lt1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WPS Presentation</Application>
  <PresentationFormat>On-screen Show (16:9)</PresentationFormat>
  <Slides>13</Slides>
  <Company>University of Rwanda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 Fractional-Order Compartmental Model of HIV Transmission with Social Behaviour Interventions</dc:title>
  <dc:creator>NDACYAYISABA Lambert</dc:creator>
  <cp:lastModifiedBy>Codex</cp:lastModifiedBy>
  <dcterms:created xsi:type="dcterms:W3CDTF">2026-06-11T00:00:00Z</dcterms:created>
  <dcterms:modified xsi:type="dcterms:W3CDTF">2026-06-11T00:00:00Z</dcterms:modified>
</cp:coreProperties>
</file>