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1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Rectangle 1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B30">
              <a:alpha val="22000"/>
            </a:srgbClr>
          </a:solidFill>
          <a:ln>
            <a:noFill/>
          </a:ln>
        </p:spPr>
        <p:txBody>
          <a:bodyPr/>
          <a:lstStyle/>
          <a:p/>
        </p:txBody>
      </p:sp>
      <p:pic>
        <p:nvPicPr>
          <p:cNvPr id="13" name="Picture 13"/>
          <p:cNvPicPr>
            <a:picLocks noChangeAspect="0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384048"/>
            <a:ext cx="566928" cy="566928"/>
          </a:xfrm>
          <a:prstGeom prst="rect">
            <a:avLst/>
          </a:prstGeom>
        </p:spPr>
      </p:pic>
      <p:sp>
        <p:nvSpPr>
          <p:cNvPr id="14" name="TextBox 14"/>
          <p:cNvSpPr txBox="1"/>
          <p:nvPr/>
        </p:nvSpPr>
        <p:spPr>
          <a:xfrm>
            <a:off x="8321040" y="438912"/>
            <a:ext cx="329184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University of Rwanda</a:t>
            </a:r>
            <a:endParaRPr lang="en-US" sz="1200"/>
          </a:p>
          <a:p>
            <a:pPr algn="r"/>
            <a:r>
              <a:rPr lang="en-US" sz="1200" b="0">
                <a:solidFill>
                  <a:srgbClr val="FFFFFF"/>
                </a:solidFill>
                <a:latin typeface="Aptos"/>
              </a:rPr>
              <a:t>College of Science and Technology</a:t>
            </a:r>
            <a:endParaRPr lang="en-US" sz="1200"/>
          </a:p>
        </p:txBody>
      </p:sp>
      <p:sp>
        <p:nvSpPr>
          <p:cNvPr id="15" name="TextBox 15"/>
          <p:cNvSpPr txBox="1"/>
          <p:nvPr/>
        </p:nvSpPr>
        <p:spPr>
          <a:xfrm>
            <a:off x="594360" y="2121408"/>
            <a:ext cx="5303520" cy="12344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3300" b="1">
                <a:solidFill>
                  <a:srgbClr val="FFFFFF"/>
                </a:solidFill>
                <a:latin typeface="Aptos"/>
              </a:rPr>
              <a:t>Fractional-Order</a:t>
            </a:r>
            <a:endParaRPr lang="en-US" sz="3300"/>
          </a:p>
          <a:p>
            <a:pPr algn="l"/>
            <a:r>
              <a:rPr lang="en-US" sz="3300" b="1">
                <a:solidFill>
                  <a:srgbClr val="FFFFFF"/>
                </a:solidFill>
                <a:latin typeface="Aptos"/>
              </a:rPr>
              <a:t>HIV SITA Model</a:t>
            </a:r>
            <a:endParaRPr lang="en-US" sz="3300"/>
          </a:p>
        </p:txBody>
      </p:sp>
      <p:sp>
        <p:nvSpPr>
          <p:cNvPr id="16" name="TextBox 16"/>
          <p:cNvSpPr txBox="1"/>
          <p:nvPr/>
        </p:nvSpPr>
        <p:spPr>
          <a:xfrm>
            <a:off x="621792" y="3419856"/>
            <a:ext cx="539496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700" b="0">
                <a:solidFill>
                  <a:srgbClr val="FFFFFF"/>
                </a:solidFill>
                <a:latin typeface="Aptos"/>
              </a:rPr>
              <a:t>Social behaviour interventions and memory effects</a:t>
            </a:r>
            <a:endParaRPr lang="en-US" sz="1700"/>
          </a:p>
        </p:txBody>
      </p:sp>
      <p:sp>
        <p:nvSpPr>
          <p:cNvPr id="17" name="TextBox 17"/>
          <p:cNvSpPr txBox="1"/>
          <p:nvPr/>
        </p:nvSpPr>
        <p:spPr>
          <a:xfrm>
            <a:off x="640080" y="4069080"/>
            <a:ext cx="493776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NDACYAYISABA Lambert</a:t>
            </a:r>
            <a:endParaRPr lang="en-US" sz="1300"/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Supervisor: Dr. MUHIRWA Jean Pierre</a:t>
            </a:r>
            <a:endParaRPr lang="en-US" sz="1300"/>
          </a:p>
          <a:p>
            <a:pPr algn="l"/>
            <a:r>
              <a:rPr lang="en-US" sz="1300" b="0">
                <a:solidFill>
                  <a:srgbClr val="FFFFFF"/>
                </a:solidFill>
                <a:latin typeface="Aptos"/>
              </a:rPr>
              <a:t>Kigali, Rwanda</a:t>
            </a:r>
            <a:endParaRPr lang="en-US" sz="1300"/>
          </a:p>
        </p:txBody>
      </p:sp>
      <p:sp>
        <p:nvSpPr>
          <p:cNvPr id="18" name="Rectangle 18"/>
          <p:cNvSpPr/>
          <p:nvPr/>
        </p:nvSpPr>
        <p:spPr>
          <a:xfrm>
            <a:off x="640080" y="5029200"/>
            <a:ext cx="2423160" cy="32004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9" name="Rectangle 19"/>
          <p:cNvSpPr/>
          <p:nvPr/>
        </p:nvSpPr>
        <p:spPr>
          <a:xfrm>
            <a:off x="3127248" y="5029200"/>
            <a:ext cx="2011680" cy="32004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20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Background / Motivation</a:t>
            </a:r>
            <a:endParaRPr lang="en-US" sz="2200"/>
          </a:p>
        </p:txBody>
      </p:sp>
      <p:sp>
        <p:nvSpPr>
          <p:cNvPr id="21" name="TextBox 21"/>
          <p:cNvSpPr txBox="1"/>
          <p:nvPr/>
        </p:nvSpPr>
        <p:spPr>
          <a:xfrm>
            <a:off x="502920" y="658368"/>
            <a:ext cx="88696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000" b="0">
                <a:solidFill>
                  <a:srgbClr val="525E6C"/>
                </a:solidFill>
                <a:latin typeface="Aptos"/>
              </a:rPr>
              <a:t>Rwanda-aware public-health motivation</a:t>
            </a:r>
            <a:endParaRPr lang="en-US" sz="1000"/>
          </a:p>
        </p:txBody>
      </p:sp>
      <p:sp>
        <p:nvSpPr>
          <p:cNvPr id="22" name="Rectangle 22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23" name="Rectangle 23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4" name="Bullets 24"/>
          <p:cNvSpPr txBox="1"/>
          <p:nvPr/>
        </p:nvSpPr>
        <p:spPr>
          <a:xfrm>
            <a:off x="594360" y="1325880"/>
            <a:ext cx="5852160" cy="20116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900">
                <a:solidFill>
                  <a:srgbClr val="142030"/>
                </a:solidFill>
                <a:latin typeface="Aptos"/>
              </a:rPr>
              <a:t>HIV transmission is shaped by biology, treatment access, and social behaviour.</a:t>
            </a:r>
            <a:endParaRPr lang="en-US" sz="1900"/>
          </a:p>
          <a:p>
            <a:pPr marL="285750" indent="-171450">
              <a:buFont typeface="Arial"/>
              <a:buChar char="•"/>
            </a:pPr>
            <a:r>
              <a:rPr lang="en-US" sz="1900">
                <a:solidFill>
                  <a:srgbClr val="142030"/>
                </a:solidFill>
                <a:latin typeface="Aptos"/>
              </a:rPr>
              <a:t>Awareness, safer behaviour, testing, treatment-seeking, and adherence can change long-term outcomes.</a:t>
            </a:r>
            <a:endParaRPr lang="en-US" sz="1900"/>
          </a:p>
          <a:p>
            <a:pPr marL="285750" indent="-171450">
              <a:buFont typeface="Arial"/>
              <a:buChar char="•"/>
            </a:pPr>
            <a:r>
              <a:rPr lang="en-US" sz="1900">
                <a:solidFill>
                  <a:srgbClr val="142030"/>
                </a:solidFill>
                <a:latin typeface="Aptos"/>
              </a:rPr>
              <a:t>In Rwanda, prevention and adherence support remain important alongside treatment progress.</a:t>
            </a:r>
            <a:endParaRPr lang="en-US" sz="1900"/>
          </a:p>
        </p:txBody>
      </p:sp>
      <p:sp>
        <p:nvSpPr>
          <p:cNvPr id="25" name="Rectangle 25"/>
          <p:cNvSpPr/>
          <p:nvPr/>
        </p:nvSpPr>
        <p:spPr>
          <a:xfrm>
            <a:off x="685800" y="3886200"/>
            <a:ext cx="5303520" cy="86868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26" name="Rectangle 26"/>
          <p:cNvSpPr/>
          <p:nvPr/>
        </p:nvSpPr>
        <p:spPr>
          <a:xfrm>
            <a:off x="685800" y="3886200"/>
            <a:ext cx="73152" cy="86868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27" name="TextBox 27"/>
          <p:cNvSpPr txBox="1"/>
          <p:nvPr/>
        </p:nvSpPr>
        <p:spPr>
          <a:xfrm>
            <a:off x="850392" y="3995928"/>
            <a:ext cx="504748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>Why mathematics?</a:t>
            </a:r>
            <a:endParaRPr lang="en-US" sz="1300"/>
          </a:p>
        </p:txBody>
      </p:sp>
      <p:sp>
        <p:nvSpPr>
          <p:cNvPr id="28" name="TextBox 28"/>
          <p:cNvSpPr txBox="1"/>
          <p:nvPr/>
        </p:nvSpPr>
        <p:spPr>
          <a:xfrm>
            <a:off x="850392" y="4242816"/>
            <a:ext cx="5047488" cy="4846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A model gives a controlled way to compare intervention strategies and understand possible long-term behaviour.</a:t>
            </a:r>
            <a:endParaRPr lang="en-US" sz="1500"/>
          </a:p>
        </p:txBody>
      </p:sp>
      <p:sp>
        <p:nvSpPr>
          <p:cNvPr id="29" name="Rectangle 29"/>
          <p:cNvSpPr/>
          <p:nvPr/>
        </p:nvSpPr>
        <p:spPr>
          <a:xfrm>
            <a:off x="7360920" y="1298448"/>
            <a:ext cx="2331720" cy="768096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" name="TextBox 30"/>
          <p:cNvSpPr txBox="1"/>
          <p:nvPr/>
        </p:nvSpPr>
        <p:spPr>
          <a:xfrm>
            <a:off x="7434072" y="1463040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Rwanda context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HIV prevention</a:t>
            </a:r>
            <a:endParaRPr lang="en-US" sz="1400"/>
          </a:p>
        </p:txBody>
      </p:sp>
      <p:sp>
        <p:nvSpPr>
          <p:cNvPr id="31" name="Rectangle 31"/>
          <p:cNvSpPr/>
          <p:nvPr/>
        </p:nvSpPr>
        <p:spPr>
          <a:xfrm>
            <a:off x="7360920" y="2240280"/>
            <a:ext cx="2331720" cy="76809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32" name="TextBox 32"/>
          <p:cNvSpPr txBox="1"/>
          <p:nvPr/>
        </p:nvSpPr>
        <p:spPr>
          <a:xfrm>
            <a:off x="7434072" y="2404872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Mechanism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Social behaviour</a:t>
            </a:r>
            <a:endParaRPr lang="en-US" sz="1400"/>
          </a:p>
        </p:txBody>
      </p:sp>
      <p:sp>
        <p:nvSpPr>
          <p:cNvPr id="33" name="Rectangle 33"/>
          <p:cNvSpPr/>
          <p:nvPr/>
        </p:nvSpPr>
        <p:spPr>
          <a:xfrm>
            <a:off x="7360920" y="3182112"/>
            <a:ext cx="2331720" cy="76809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4" name="TextBox 34"/>
          <p:cNvSpPr txBox="1"/>
          <p:nvPr/>
        </p:nvSpPr>
        <p:spPr>
          <a:xfrm>
            <a:off x="7434072" y="3346704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Method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Fractional memory</a:t>
            </a:r>
            <a:endParaRPr lang="en-US" sz="1400"/>
          </a:p>
        </p:txBody>
      </p:sp>
      <p:sp>
        <p:nvSpPr>
          <p:cNvPr id="35" name="Rectangle 35"/>
          <p:cNvSpPr/>
          <p:nvPr/>
        </p:nvSpPr>
        <p:spPr>
          <a:xfrm>
            <a:off x="7360920" y="4123944"/>
            <a:ext cx="2331720" cy="768096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" name="TextBox 36"/>
          <p:cNvSpPr txBox="1"/>
          <p:nvPr/>
        </p:nvSpPr>
        <p:spPr>
          <a:xfrm>
            <a:off x="7434072" y="4288536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Output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Simulation evidence</a:t>
            </a:r>
            <a:endParaRPr lang="en-US" sz="1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Box 37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Problem Statement</a:t>
            </a:r>
            <a:endParaRPr lang="en-US" sz="2200"/>
          </a:p>
        </p:txBody>
      </p:sp>
      <p:sp>
        <p:nvSpPr>
          <p:cNvPr id="38" name="Rectangle 38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39" name="Rectangle 39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40" name="Rectangle 40"/>
          <p:cNvSpPr/>
          <p:nvPr/>
        </p:nvSpPr>
        <p:spPr>
          <a:xfrm>
            <a:off x="621792" y="1325880"/>
            <a:ext cx="5257800" cy="2057400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41" name="Rectangle 41"/>
          <p:cNvSpPr/>
          <p:nvPr/>
        </p:nvSpPr>
        <p:spPr>
          <a:xfrm>
            <a:off x="621792" y="1325880"/>
            <a:ext cx="73152" cy="2057400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42" name="TextBox 42"/>
          <p:cNvSpPr txBox="1"/>
          <p:nvPr/>
        </p:nvSpPr>
        <p:spPr>
          <a:xfrm>
            <a:off x="786384" y="1435608"/>
            <a:ext cx="50017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4A80"/>
                </a:solidFill>
                <a:latin typeface="Aptos"/>
              </a:rPr>
              <a:t>Limitations in ordinary modelling</a:t>
            </a:r>
            <a:endParaRPr lang="en-US" sz="1300"/>
          </a:p>
        </p:txBody>
      </p:sp>
      <p:sp>
        <p:nvSpPr>
          <p:cNvPr id="43" name="TextBox 43"/>
          <p:cNvSpPr txBox="1"/>
          <p:nvPr/>
        </p:nvSpPr>
        <p:spPr>
          <a:xfrm>
            <a:off x="786384" y="1682496"/>
            <a:ext cx="5001768" cy="167335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Ordinary models usually depend only on the present state. HIV-related behaviour may depend on past awareness, stigma, testing history, and adherence.</a:t>
            </a:r>
            <a:endParaRPr lang="en-US" sz="1500"/>
          </a:p>
        </p:txBody>
      </p:sp>
      <p:sp>
        <p:nvSpPr>
          <p:cNvPr id="44" name="Rectangle 44"/>
          <p:cNvSpPr/>
          <p:nvPr/>
        </p:nvSpPr>
        <p:spPr>
          <a:xfrm>
            <a:off x="6263640" y="1325880"/>
            <a:ext cx="5257800" cy="205740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45" name="Rectangle 45"/>
          <p:cNvSpPr/>
          <p:nvPr/>
        </p:nvSpPr>
        <p:spPr>
          <a:xfrm>
            <a:off x="6263640" y="1325880"/>
            <a:ext cx="73152" cy="205740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46" name="TextBox 46"/>
          <p:cNvSpPr txBox="1"/>
          <p:nvPr/>
        </p:nvSpPr>
        <p:spPr>
          <a:xfrm>
            <a:off x="6428232" y="1435608"/>
            <a:ext cx="50017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>Need addressed by this project</a:t>
            </a:r>
            <a:endParaRPr lang="en-US" sz="1300"/>
          </a:p>
        </p:txBody>
      </p:sp>
      <p:sp>
        <p:nvSpPr>
          <p:cNvPr id="47" name="TextBox 47"/>
          <p:cNvSpPr txBox="1"/>
          <p:nvPr/>
        </p:nvSpPr>
        <p:spPr>
          <a:xfrm>
            <a:off x="6428232" y="1682496"/>
            <a:ext cx="5001768" cy="167335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Include memory using a Caputo derivative, represent behavioural interventions through effective rates, and compare scenarios through simulation.</a:t>
            </a:r>
            <a:endParaRPr lang="en-US" sz="1500"/>
          </a:p>
        </p:txBody>
      </p:sp>
      <p:sp>
        <p:nvSpPr>
          <p:cNvPr id="48" name="Rectangle 48"/>
          <p:cNvSpPr/>
          <p:nvPr/>
        </p:nvSpPr>
        <p:spPr>
          <a:xfrm>
            <a:off x="1143000" y="4069080"/>
            <a:ext cx="9784080" cy="86868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49" name="Rectangle 49"/>
          <p:cNvSpPr/>
          <p:nvPr/>
        </p:nvSpPr>
        <p:spPr>
          <a:xfrm>
            <a:off x="1143000" y="4069080"/>
            <a:ext cx="73152" cy="86868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0" name="TextBox 50"/>
          <p:cNvSpPr txBox="1"/>
          <p:nvPr/>
        </p:nvSpPr>
        <p:spPr>
          <a:xfrm>
            <a:off x="1307592" y="4178808"/>
            <a:ext cx="952804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>Research focus</a:t>
            </a:r>
            <a:endParaRPr lang="en-US" sz="1300"/>
          </a:p>
        </p:txBody>
      </p:sp>
      <p:sp>
        <p:nvSpPr>
          <p:cNvPr id="51" name="TextBox 51"/>
          <p:cNvSpPr txBox="1"/>
          <p:nvPr/>
        </p:nvSpPr>
        <p:spPr>
          <a:xfrm>
            <a:off x="1307592" y="4425696"/>
            <a:ext cx="9528048" cy="4846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How do fractional memory and social behaviour interventions affect simulated HIV dynamics in a SITA framework?</a:t>
            </a:r>
            <a:endParaRPr lang="en-US" sz="1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extBox 52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Objectives</a:t>
            </a:r>
            <a:endParaRPr lang="en-US" sz="2200"/>
          </a:p>
        </p:txBody>
      </p:sp>
      <p:sp>
        <p:nvSpPr>
          <p:cNvPr id="53" name="Rectangle 53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54" name="Rectangle 54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55" name="TextBox 55"/>
          <p:cNvSpPr txBox="1"/>
          <p:nvPr/>
        </p:nvSpPr>
        <p:spPr>
          <a:xfrm>
            <a:off x="640080" y="1207008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Main objective</a:t>
            </a:r>
            <a:endParaRPr lang="en-US" sz="1500"/>
          </a:p>
        </p:txBody>
      </p:sp>
      <p:sp>
        <p:nvSpPr>
          <p:cNvPr id="56" name="TextBox 56"/>
          <p:cNvSpPr txBox="1"/>
          <p:nvPr/>
        </p:nvSpPr>
        <p:spPr>
          <a:xfrm>
            <a:off x="640080" y="1572768"/>
            <a:ext cx="507492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800" b="0">
                <a:solidFill>
                  <a:srgbClr val="142030"/>
                </a:solidFill>
                <a:latin typeface="Aptos"/>
              </a:rPr>
              <a:t>To formulate, analyse, and simulate a fractional-order SITA HIV transmission model incorporating social behaviour interventions.</a:t>
            </a:r>
            <a:endParaRPr lang="en-US" sz="1800"/>
          </a:p>
        </p:txBody>
      </p:sp>
      <p:sp>
        <p:nvSpPr>
          <p:cNvPr id="57" name="TextBox 57"/>
          <p:cNvSpPr txBox="1"/>
          <p:nvPr/>
        </p:nvSpPr>
        <p:spPr>
          <a:xfrm>
            <a:off x="640080" y="2542032"/>
            <a:ext cx="438912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Specific objectives</a:t>
            </a:r>
            <a:endParaRPr lang="en-US" sz="1500"/>
          </a:p>
        </p:txBody>
      </p:sp>
      <p:sp>
        <p:nvSpPr>
          <p:cNvPr id="58" name="Bullets 58"/>
          <p:cNvSpPr txBox="1"/>
          <p:nvPr/>
        </p:nvSpPr>
        <p:spPr>
          <a:xfrm>
            <a:off x="640080" y="2907792"/>
            <a:ext cx="5303520" cy="22402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Formulate the SITA model with Caputo derivative.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Derive threshold quantities including R0.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Establish core analytical properties.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Implement a numerical simulation scheme.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Compare interventions, memory effects, and sensitivity.</a:t>
            </a:r>
            <a:endParaRPr lang="en-US" sz="1700"/>
          </a:p>
        </p:txBody>
      </p:sp>
      <p:sp>
        <p:nvSpPr>
          <p:cNvPr id="59" name="Rectangle 59"/>
          <p:cNvSpPr/>
          <p:nvPr/>
        </p:nvSpPr>
        <p:spPr>
          <a:xfrm>
            <a:off x="7360920" y="1234440"/>
            <a:ext cx="2331720" cy="768096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60" name="TextBox 60"/>
          <p:cNvSpPr txBox="1"/>
          <p:nvPr/>
        </p:nvSpPr>
        <p:spPr>
          <a:xfrm>
            <a:off x="7434072" y="1399032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Model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formulation</a:t>
            </a:r>
            <a:endParaRPr lang="en-US" sz="1400"/>
          </a:p>
        </p:txBody>
      </p:sp>
      <p:sp>
        <p:nvSpPr>
          <p:cNvPr id="61" name="Rectangle 61"/>
          <p:cNvSpPr/>
          <p:nvPr/>
        </p:nvSpPr>
        <p:spPr>
          <a:xfrm>
            <a:off x="7360920" y="2167128"/>
            <a:ext cx="2331720" cy="768096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62" name="TextBox 62"/>
          <p:cNvSpPr txBox="1"/>
          <p:nvPr/>
        </p:nvSpPr>
        <p:spPr>
          <a:xfrm>
            <a:off x="7434072" y="2331720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Mathematical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analysis</a:t>
            </a:r>
            <a:endParaRPr lang="en-US" sz="1400"/>
          </a:p>
        </p:txBody>
      </p:sp>
      <p:sp>
        <p:nvSpPr>
          <p:cNvPr id="63" name="Rectangle 63"/>
          <p:cNvSpPr/>
          <p:nvPr/>
        </p:nvSpPr>
        <p:spPr>
          <a:xfrm>
            <a:off x="7360920" y="3099816"/>
            <a:ext cx="2331720" cy="768096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4" name="TextBox 64"/>
          <p:cNvSpPr txBox="1"/>
          <p:nvPr/>
        </p:nvSpPr>
        <p:spPr>
          <a:xfrm>
            <a:off x="7434072" y="3264408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Numerical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simulation</a:t>
            </a:r>
            <a:endParaRPr lang="en-US" sz="1400"/>
          </a:p>
        </p:txBody>
      </p:sp>
      <p:sp>
        <p:nvSpPr>
          <p:cNvPr id="65" name="Rectangle 65"/>
          <p:cNvSpPr/>
          <p:nvPr/>
        </p:nvSpPr>
        <p:spPr>
          <a:xfrm>
            <a:off x="7360920" y="4032504"/>
            <a:ext cx="2331720" cy="768096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66" name="TextBox 66"/>
          <p:cNvSpPr txBox="1"/>
          <p:nvPr/>
        </p:nvSpPr>
        <p:spPr>
          <a:xfrm>
            <a:off x="7434072" y="4197096"/>
            <a:ext cx="2185416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Results</a:t>
            </a:r>
            <a:endParaRPr lang="en-US" sz="1400"/>
          </a:p>
          <a:p>
            <a:pPr algn="ctr"/>
            <a:r>
              <a:rPr lang="en-US" sz="1400" b="1">
                <a:solidFill>
                  <a:srgbClr val="FFFFFF"/>
                </a:solidFill>
                <a:latin typeface="Aptos"/>
              </a:rPr>
              <a:t>interpretation</a:t>
            </a:r>
            <a:endParaRPr 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67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Model Diagram: SITA</a:t>
            </a:r>
            <a:endParaRPr lang="en-US" sz="2200"/>
          </a:p>
        </p:txBody>
      </p:sp>
      <p:sp>
        <p:nvSpPr>
          <p:cNvPr id="68" name="Rectangle 68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69" name="Rectangle 69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70" name="Rectangle 70"/>
          <p:cNvSpPr/>
          <p:nvPr/>
        </p:nvSpPr>
        <p:spPr>
          <a:xfrm>
            <a:off x="960120" y="2011680"/>
            <a:ext cx="1691640" cy="777240"/>
          </a:xfrm>
          <a:prstGeom prst="rect">
            <a:avLst/>
          </a:prstGeom>
          <a:solidFill>
            <a:srgbClr val="E8F2FA"/>
          </a:solidFill>
          <a:ln>
            <a:solidFill>
              <a:srgbClr val="E8F2FA"/>
            </a:solidFill>
          </a:ln>
        </p:spPr>
        <p:txBody>
          <a:bodyPr/>
          <a:lstStyle/>
          <a:p/>
        </p:txBody>
      </p:sp>
      <p:sp>
        <p:nvSpPr>
          <p:cNvPr id="71" name="TextBox 71"/>
          <p:cNvSpPr txBox="1"/>
          <p:nvPr/>
        </p:nvSpPr>
        <p:spPr>
          <a:xfrm>
            <a:off x="105156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S(t)</a:t>
            </a:r>
            <a:endParaRPr lang="en-US" sz="1500"/>
          </a:p>
          <a:p>
            <a:pPr algn="ctr"/>
            <a:r>
              <a:rPr lang="en-US" sz="1500" b="1">
                <a:solidFill>
                  <a:srgbClr val="004A80"/>
                </a:solidFill>
                <a:latin typeface="Aptos"/>
              </a:rPr>
              <a:t>Susceptible</a:t>
            </a:r>
            <a:endParaRPr lang="en-US" sz="1500"/>
          </a:p>
        </p:txBody>
      </p:sp>
      <p:sp>
        <p:nvSpPr>
          <p:cNvPr id="72" name="Rectangle 72"/>
          <p:cNvSpPr/>
          <p:nvPr/>
        </p:nvSpPr>
        <p:spPr>
          <a:xfrm>
            <a:off x="3337560" y="2011680"/>
            <a:ext cx="1691640" cy="777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/>
          <a:lstStyle/>
          <a:p/>
        </p:txBody>
      </p:sp>
      <p:sp>
        <p:nvSpPr>
          <p:cNvPr id="73" name="TextBox 73"/>
          <p:cNvSpPr txBox="1"/>
          <p:nvPr/>
        </p:nvSpPr>
        <p:spPr>
          <a:xfrm>
            <a:off x="342900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I(t)</a:t>
            </a:r>
            <a:endParaRPr lang="en-US" sz="1500"/>
          </a:p>
          <a:p>
            <a:pPr algn="ctr"/>
            <a:r>
              <a:rPr lang="en-US" sz="1500" b="1">
                <a:solidFill>
                  <a:srgbClr val="B44146"/>
                </a:solidFill>
                <a:latin typeface="Aptos"/>
              </a:rPr>
              <a:t>Infected</a:t>
            </a:r>
            <a:endParaRPr lang="en-US" sz="1500"/>
          </a:p>
        </p:txBody>
      </p:sp>
      <p:sp>
        <p:nvSpPr>
          <p:cNvPr id="74" name="Rectangle 74"/>
          <p:cNvSpPr/>
          <p:nvPr/>
        </p:nvSpPr>
        <p:spPr>
          <a:xfrm>
            <a:off x="5715000" y="2011680"/>
            <a:ext cx="1691640" cy="777240"/>
          </a:xfrm>
          <a:prstGeom prst="rect">
            <a:avLst/>
          </a:prstGeom>
          <a:solidFill>
            <a:srgbClr val="FFF7E0"/>
          </a:solidFill>
          <a:ln>
            <a:solidFill>
              <a:srgbClr val="FFF7E0"/>
            </a:solidFill>
          </a:ln>
        </p:spPr>
        <p:txBody>
          <a:bodyPr/>
          <a:lstStyle/>
          <a:p/>
        </p:txBody>
      </p:sp>
      <p:sp>
        <p:nvSpPr>
          <p:cNvPr id="75" name="TextBox 75"/>
          <p:cNvSpPr txBox="1"/>
          <p:nvPr/>
        </p:nvSpPr>
        <p:spPr>
          <a:xfrm>
            <a:off x="5806440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T(t)</a:t>
            </a:r>
            <a:endParaRPr lang="en-US" sz="1500"/>
          </a:p>
          <a:p>
            <a:pPr algn="ctr"/>
            <a:r>
              <a:rPr lang="en-US" sz="1500" b="1">
                <a:solidFill>
                  <a:srgbClr val="CC9900"/>
                </a:solidFill>
                <a:latin typeface="Aptos"/>
              </a:rPr>
              <a:t>Treated</a:t>
            </a:r>
            <a:endParaRPr lang="en-US" sz="1500"/>
          </a:p>
        </p:txBody>
      </p:sp>
      <p:sp>
        <p:nvSpPr>
          <p:cNvPr id="76" name="Rectangle 76"/>
          <p:cNvSpPr/>
          <p:nvPr/>
        </p:nvSpPr>
        <p:spPr>
          <a:xfrm>
            <a:off x="8092440" y="2011680"/>
            <a:ext cx="1691640" cy="777240"/>
          </a:xfrm>
          <a:prstGeom prst="rect">
            <a:avLst/>
          </a:prstGeom>
          <a:solidFill>
            <a:srgbClr val="E6F7F4"/>
          </a:solidFill>
          <a:ln>
            <a:solidFill>
              <a:srgbClr val="E6F7F4"/>
            </a:solidFill>
          </a:ln>
        </p:spPr>
        <p:txBody>
          <a:bodyPr/>
          <a:lstStyle/>
          <a:p/>
        </p:txBody>
      </p:sp>
      <p:sp>
        <p:nvSpPr>
          <p:cNvPr id="77" name="TextBox 77"/>
          <p:cNvSpPr txBox="1"/>
          <p:nvPr/>
        </p:nvSpPr>
        <p:spPr>
          <a:xfrm>
            <a:off x="8183879" y="2167128"/>
            <a:ext cx="1508760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A(t)</a:t>
            </a:r>
            <a:endParaRPr lang="en-US" sz="1500"/>
          </a:p>
          <a:p>
            <a:pPr algn="ctr"/>
            <a:r>
              <a:rPr lang="en-US" sz="1500" b="1">
                <a:solidFill>
                  <a:srgbClr val="007E70"/>
                </a:solidFill>
                <a:latin typeface="Aptos"/>
              </a:rPr>
              <a:t>AIDS stage</a:t>
            </a:r>
            <a:endParaRPr lang="en-US" sz="1500"/>
          </a:p>
        </p:txBody>
      </p:sp>
      <p:sp>
        <p:nvSpPr>
          <p:cNvPr id="78" name="TextBox 78"/>
          <p:cNvSpPr txBox="1"/>
          <p:nvPr/>
        </p:nvSpPr>
        <p:spPr>
          <a:xfrm>
            <a:off x="2395728" y="1572768"/>
            <a:ext cx="868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900" b="0">
                <a:solidFill>
                  <a:srgbClr val="525E6C"/>
                </a:solidFill>
                <a:latin typeface="Aptos"/>
              </a:rPr>
              <a:t>effective</a:t>
            </a:r>
            <a:endParaRPr lang="en-US" sz="900"/>
          </a:p>
          <a:p>
            <a:pPr algn="ctr"/>
            <a:r>
              <a:rPr lang="en-US" sz="900" b="0">
                <a:solidFill>
                  <a:srgbClr val="525E6C"/>
                </a:solidFill>
                <a:latin typeface="Aptos"/>
              </a:rPr>
              <a:t>transmission</a:t>
            </a:r>
            <a:endParaRPr lang="en-US" sz="900"/>
          </a:p>
        </p:txBody>
      </p:sp>
      <p:sp>
        <p:nvSpPr>
          <p:cNvPr id="79" name="TextBox 79"/>
          <p:cNvSpPr txBox="1"/>
          <p:nvPr/>
        </p:nvSpPr>
        <p:spPr>
          <a:xfrm>
            <a:off x="4718304" y="1572768"/>
            <a:ext cx="86868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900" b="0">
                <a:solidFill>
                  <a:srgbClr val="525E6C"/>
                </a:solidFill>
                <a:latin typeface="Aptos"/>
              </a:rPr>
              <a:t>testing and</a:t>
            </a:r>
            <a:endParaRPr lang="en-US" sz="900"/>
          </a:p>
          <a:p>
            <a:pPr algn="ctr"/>
            <a:r>
              <a:rPr lang="en-US" sz="900" b="0">
                <a:solidFill>
                  <a:srgbClr val="525E6C"/>
                </a:solidFill>
                <a:latin typeface="Aptos"/>
              </a:rPr>
              <a:t>treatment</a:t>
            </a:r>
            <a:endParaRPr lang="en-US" sz="900"/>
          </a:p>
        </p:txBody>
      </p:sp>
      <p:sp>
        <p:nvSpPr>
          <p:cNvPr id="80" name="TextBox 80"/>
          <p:cNvSpPr txBox="1"/>
          <p:nvPr/>
        </p:nvSpPr>
        <p:spPr>
          <a:xfrm>
            <a:off x="4709160" y="3044952"/>
            <a:ext cx="3291840" cy="3200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ctr"/>
            <a:r>
              <a:rPr lang="en-US" sz="1000" b="0">
                <a:solidFill>
                  <a:srgbClr val="525E6C"/>
                </a:solidFill>
                <a:latin typeface="Aptos"/>
              </a:rPr>
              <a:t>progression / reduced progression</a:t>
            </a:r>
            <a:endParaRPr lang="en-US" sz="1000"/>
          </a:p>
        </p:txBody>
      </p:sp>
      <p:sp>
        <p:nvSpPr>
          <p:cNvPr id="81" name="Rectangle 81"/>
          <p:cNvSpPr/>
          <p:nvPr/>
        </p:nvSpPr>
        <p:spPr>
          <a:xfrm>
            <a:off x="868680" y="4160520"/>
            <a:ext cx="4800600" cy="713232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82" name="Rectangle 82"/>
          <p:cNvSpPr/>
          <p:nvPr/>
        </p:nvSpPr>
        <p:spPr>
          <a:xfrm>
            <a:off x="868680" y="4160520"/>
            <a:ext cx="73152" cy="713232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83" name="TextBox 83"/>
          <p:cNvSpPr txBox="1"/>
          <p:nvPr/>
        </p:nvSpPr>
        <p:spPr>
          <a:xfrm>
            <a:off x="1033272" y="4270248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4A80"/>
                </a:solidFill>
                <a:latin typeface="Aptos"/>
              </a:rPr>
              <a:t>State variables</a:t>
            </a:r>
            <a:endParaRPr lang="en-US" sz="1300"/>
          </a:p>
        </p:txBody>
      </p:sp>
      <p:sp>
        <p:nvSpPr>
          <p:cNvPr id="84" name="TextBox 84"/>
          <p:cNvSpPr txBox="1"/>
          <p:nvPr/>
        </p:nvSpPr>
        <p:spPr>
          <a:xfrm>
            <a:off x="1033272" y="4517136"/>
            <a:ext cx="454456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S susceptible, I infected, T treated, A AIDS-stage population.</a:t>
            </a:r>
            <a:endParaRPr lang="en-US" sz="1500"/>
          </a:p>
        </p:txBody>
      </p:sp>
      <p:sp>
        <p:nvSpPr>
          <p:cNvPr id="85" name="Rectangle 85"/>
          <p:cNvSpPr/>
          <p:nvPr/>
        </p:nvSpPr>
        <p:spPr>
          <a:xfrm>
            <a:off x="6263640" y="4160520"/>
            <a:ext cx="4800600" cy="713232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86" name="Rectangle 86"/>
          <p:cNvSpPr/>
          <p:nvPr/>
        </p:nvSpPr>
        <p:spPr>
          <a:xfrm>
            <a:off x="6263640" y="4160520"/>
            <a:ext cx="73152" cy="713232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87" name="TextBox 87"/>
          <p:cNvSpPr txBox="1"/>
          <p:nvPr/>
        </p:nvSpPr>
        <p:spPr>
          <a:xfrm>
            <a:off x="6428232" y="4270248"/>
            <a:ext cx="45445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>Controls</a:t>
            </a:r>
            <a:endParaRPr lang="en-US" sz="1300"/>
          </a:p>
        </p:txBody>
      </p:sp>
      <p:sp>
        <p:nvSpPr>
          <p:cNvPr id="88" name="TextBox 88"/>
          <p:cNvSpPr txBox="1"/>
          <p:nvPr/>
        </p:nvSpPr>
        <p:spPr>
          <a:xfrm>
            <a:off x="6428232" y="4517136"/>
            <a:ext cx="454456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u1 awareness, u2 safer behaviour, u3 testing, u4 adherence.</a:t>
            </a:r>
            <a:endParaRPr lang="en-US" sz="15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extBox 89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Fractional-Order Model</a:t>
            </a:r>
            <a:endParaRPr lang="en-US" sz="2200"/>
          </a:p>
        </p:txBody>
      </p:sp>
      <p:sp>
        <p:nvSpPr>
          <p:cNvPr id="90" name="Rectangle 90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1" name="Rectangle 91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92" name="TextBox 92"/>
          <p:cNvSpPr txBox="1"/>
          <p:nvPr/>
        </p:nvSpPr>
        <p:spPr>
          <a:xfrm>
            <a:off x="640080" y="1188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Caputo memory form</a:t>
            </a:r>
            <a:endParaRPr lang="en-US" sz="1500"/>
          </a:p>
        </p:txBody>
      </p:sp>
      <p:sp>
        <p:nvSpPr>
          <p:cNvPr id="93" name="TextBox 93"/>
          <p:cNvSpPr txBox="1"/>
          <p:nvPr/>
        </p:nvSpPr>
        <p:spPr>
          <a:xfrm>
            <a:off x="713232" y="1627632"/>
            <a:ext cx="5120640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D^q_C X(t) = F(t, X(t)),    0 &lt; q &lt;= 1</a:t>
            </a:r>
            <a:endParaRPr lang="en-US" sz="2200"/>
          </a:p>
        </p:txBody>
      </p:sp>
      <p:sp>
        <p:nvSpPr>
          <p:cNvPr id="94" name="TextBox 94"/>
          <p:cNvSpPr txBox="1"/>
          <p:nvPr/>
        </p:nvSpPr>
        <p:spPr>
          <a:xfrm>
            <a:off x="713232" y="2331720"/>
            <a:ext cx="557784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D^q_C S = Lambda - beta_eff S(I + eta T) - mu S</a:t>
            </a:r>
            <a:endParaRPr lang="en-US" sz="1600"/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D^q_C I = beta_eff S(I + eta T) - (tau_eff + delta + mu)I</a:t>
            </a:r>
            <a:endParaRPr lang="en-US" sz="1600"/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D^q_C T = tau_eff I - (rho_eff + mu)T</a:t>
            </a:r>
            <a:endParaRPr lang="en-US" sz="1600"/>
          </a:p>
          <a:p>
            <a:pPr algn="l"/>
            <a:r>
              <a:rPr lang="en-US" sz="1600" b="0">
                <a:solidFill>
                  <a:srgbClr val="142030"/>
                </a:solidFill>
                <a:latin typeface="Aptos"/>
              </a:rPr>
              <a:t>D^q_C A = delta I + rho_eff T - (d + mu)A</a:t>
            </a:r>
            <a:endParaRPr lang="en-US" sz="1600"/>
          </a:p>
        </p:txBody>
      </p:sp>
      <p:sp>
        <p:nvSpPr>
          <p:cNvPr id="95" name="Rectangle 95"/>
          <p:cNvSpPr/>
          <p:nvPr/>
        </p:nvSpPr>
        <p:spPr>
          <a:xfrm>
            <a:off x="6812280" y="1444752"/>
            <a:ext cx="4160520" cy="141732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96" name="Rectangle 96"/>
          <p:cNvSpPr/>
          <p:nvPr/>
        </p:nvSpPr>
        <p:spPr>
          <a:xfrm>
            <a:off x="6812280" y="1444752"/>
            <a:ext cx="73152" cy="141732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97" name="TextBox 97"/>
          <p:cNvSpPr txBox="1"/>
          <p:nvPr/>
        </p:nvSpPr>
        <p:spPr>
          <a:xfrm>
            <a:off x="6976872" y="1554480"/>
            <a:ext cx="390448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>Intervention-adjusted rates</a:t>
            </a:r>
            <a:endParaRPr lang="en-US" sz="1300"/>
          </a:p>
        </p:txBody>
      </p:sp>
      <p:sp>
        <p:nvSpPr>
          <p:cNvPr id="98" name="TextBox 98"/>
          <p:cNvSpPr txBox="1"/>
          <p:nvPr/>
        </p:nvSpPr>
        <p:spPr>
          <a:xfrm>
            <a:off x="6976872" y="1801368"/>
            <a:ext cx="3904488" cy="10332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beta_eff = beta0(1-u1)(1-u2)</a:t>
            </a:r>
            <a:endParaRPr lang="en-US" sz="1500"/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tau_eff = tau(1+u3)</a:t>
            </a:r>
            <a:endParaRPr lang="en-US" sz="1500"/>
          </a:p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rho_eff = rho(1-u4)</a:t>
            </a:r>
            <a:endParaRPr lang="en-US" sz="1500"/>
          </a:p>
        </p:txBody>
      </p:sp>
      <p:sp>
        <p:nvSpPr>
          <p:cNvPr id="99" name="Rectangle 99"/>
          <p:cNvSpPr/>
          <p:nvPr/>
        </p:nvSpPr>
        <p:spPr>
          <a:xfrm>
            <a:off x="6812280" y="3337560"/>
            <a:ext cx="4160520" cy="109728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00" name="Rectangle 100"/>
          <p:cNvSpPr/>
          <p:nvPr/>
        </p:nvSpPr>
        <p:spPr>
          <a:xfrm>
            <a:off x="6812280" y="3337560"/>
            <a:ext cx="73152" cy="109728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1" name="TextBox 101"/>
          <p:cNvSpPr txBox="1"/>
          <p:nvPr/>
        </p:nvSpPr>
        <p:spPr>
          <a:xfrm>
            <a:off x="6976872" y="3447288"/>
            <a:ext cx="390448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>Meaning of q</a:t>
            </a:r>
            <a:endParaRPr lang="en-US" sz="1300"/>
          </a:p>
        </p:txBody>
      </p:sp>
      <p:sp>
        <p:nvSpPr>
          <p:cNvPr id="102" name="TextBox 102"/>
          <p:cNvSpPr txBox="1"/>
          <p:nvPr/>
        </p:nvSpPr>
        <p:spPr>
          <a:xfrm>
            <a:off x="6976872" y="3694176"/>
            <a:ext cx="3904488" cy="71323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q = 1 gives the ordinary model. q &lt; 1 carries memory of past states.</a:t>
            </a:r>
            <a:endParaRPr lang="en-US" sz="15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03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Numerical Scheme + Implementation</a:t>
            </a:r>
            <a:endParaRPr lang="en-US" sz="2200"/>
          </a:p>
        </p:txBody>
      </p:sp>
      <p:sp>
        <p:nvSpPr>
          <p:cNvPr id="104" name="Rectangle 104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Rectangle 105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Bullets 106"/>
          <p:cNvSpPr txBox="1"/>
          <p:nvPr/>
        </p:nvSpPr>
        <p:spPr>
          <a:xfrm>
            <a:off x="658368" y="1325880"/>
            <a:ext cx="5257800" cy="20574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Time interval is divided into discrete steps.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A predictor estimates the next state.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A corrector updates the state using fractional-memory weights.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The same engine is used for baseline, memory, intervention, and sensitivity experiments.</a:t>
            </a:r>
            <a:endParaRPr lang="en-US" sz="1800"/>
          </a:p>
        </p:txBody>
      </p:sp>
      <p:sp>
        <p:nvSpPr>
          <p:cNvPr id="107" name="Rectangle 107"/>
          <p:cNvSpPr/>
          <p:nvPr/>
        </p:nvSpPr>
        <p:spPr>
          <a:xfrm>
            <a:off x="6492240" y="1170432"/>
            <a:ext cx="4343400" cy="566928"/>
          </a:xfrm>
          <a:prstGeom prst="rect">
            <a:avLst/>
          </a:prstGeom>
          <a:solidFill>
            <a:srgbClr val="E8F2FA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Rectangle 108"/>
          <p:cNvSpPr/>
          <p:nvPr/>
        </p:nvSpPr>
        <p:spPr>
          <a:xfrm>
            <a:off x="6492240" y="1170432"/>
            <a:ext cx="73152" cy="566928"/>
          </a:xfrm>
          <a:prstGeom prst="rect">
            <a:avLst/>
          </a:prstGeom>
          <a:solidFill>
            <a:srgbClr val="004A80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TextBox 109"/>
          <p:cNvSpPr txBox="1"/>
          <p:nvPr/>
        </p:nvSpPr>
        <p:spPr>
          <a:xfrm>
            <a:off x="6656832" y="1280160"/>
            <a:ext cx="40873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4A80"/>
                </a:solidFill>
                <a:latin typeface="Aptos"/>
              </a:rPr>
              <a:t/>
            </a:r>
            <a:endParaRPr lang="en-US" sz="1300"/>
          </a:p>
        </p:txBody>
      </p:sp>
      <p:sp>
        <p:nvSpPr>
          <p:cNvPr id="110" name="TextBox 110"/>
          <p:cNvSpPr txBox="1"/>
          <p:nvPr/>
        </p:nvSpPr>
        <p:spPr>
          <a:xfrm>
            <a:off x="6656832" y="1527048"/>
            <a:ext cx="408736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Inputs: parameters, initial conditions, q, controls</a:t>
            </a:r>
            <a:endParaRPr lang="en-US" sz="1500"/>
          </a:p>
        </p:txBody>
      </p:sp>
      <p:sp>
        <p:nvSpPr>
          <p:cNvPr id="111" name="Rectangle 111"/>
          <p:cNvSpPr/>
          <p:nvPr/>
        </p:nvSpPr>
        <p:spPr>
          <a:xfrm>
            <a:off x="6492240" y="1956816"/>
            <a:ext cx="4343400" cy="566928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Rectangle 112"/>
          <p:cNvSpPr/>
          <p:nvPr/>
        </p:nvSpPr>
        <p:spPr>
          <a:xfrm>
            <a:off x="6492240" y="1956816"/>
            <a:ext cx="73152" cy="566928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3" name="TextBox 113"/>
          <p:cNvSpPr txBox="1"/>
          <p:nvPr/>
        </p:nvSpPr>
        <p:spPr>
          <a:xfrm>
            <a:off x="6656832" y="2066544"/>
            <a:ext cx="40873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/>
            </a:r>
            <a:endParaRPr lang="en-US" sz="1300"/>
          </a:p>
        </p:txBody>
      </p:sp>
      <p:sp>
        <p:nvSpPr>
          <p:cNvPr id="114" name="TextBox 114"/>
          <p:cNvSpPr txBox="1"/>
          <p:nvPr/>
        </p:nvSpPr>
        <p:spPr>
          <a:xfrm>
            <a:off x="6656832" y="2313432"/>
            <a:ext cx="408736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ABM-type solver</a:t>
            </a:r>
            <a:endParaRPr lang="en-US" sz="1500"/>
          </a:p>
        </p:txBody>
      </p:sp>
      <p:sp>
        <p:nvSpPr>
          <p:cNvPr id="115" name="Rectangle 115"/>
          <p:cNvSpPr/>
          <p:nvPr/>
        </p:nvSpPr>
        <p:spPr>
          <a:xfrm>
            <a:off x="6492240" y="2743200"/>
            <a:ext cx="4343400" cy="566928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Rectangle 116"/>
          <p:cNvSpPr/>
          <p:nvPr/>
        </p:nvSpPr>
        <p:spPr>
          <a:xfrm>
            <a:off x="6492240" y="2743200"/>
            <a:ext cx="73152" cy="566928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TextBox 117"/>
          <p:cNvSpPr txBox="1"/>
          <p:nvPr/>
        </p:nvSpPr>
        <p:spPr>
          <a:xfrm>
            <a:off x="6656832" y="2852928"/>
            <a:ext cx="40873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/>
            </a:r>
            <a:endParaRPr lang="en-US" sz="1300"/>
          </a:p>
        </p:txBody>
      </p:sp>
      <p:sp>
        <p:nvSpPr>
          <p:cNvPr id="118" name="TextBox 118"/>
          <p:cNvSpPr txBox="1"/>
          <p:nvPr/>
        </p:nvSpPr>
        <p:spPr>
          <a:xfrm>
            <a:off x="6656832" y="3099816"/>
            <a:ext cx="408736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Outputs: trajectories, R0, scenarios, sensitivity</a:t>
            </a:r>
            <a:endParaRPr lang="en-US" sz="1500"/>
          </a:p>
        </p:txBody>
      </p:sp>
      <p:sp>
        <p:nvSpPr>
          <p:cNvPr id="119" name="Rectangle 119"/>
          <p:cNvSpPr/>
          <p:nvPr/>
        </p:nvSpPr>
        <p:spPr>
          <a:xfrm>
            <a:off x="6492240" y="3529584"/>
            <a:ext cx="4343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Rectangle 120"/>
          <p:cNvSpPr/>
          <p:nvPr/>
        </p:nvSpPr>
        <p:spPr>
          <a:xfrm>
            <a:off x="6492240" y="3529584"/>
            <a:ext cx="73152" cy="566928"/>
          </a:xfrm>
          <a:prstGeom prst="rect">
            <a:avLst/>
          </a:prstGeom>
          <a:solidFill>
            <a:srgbClr val="B4414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TextBox 121"/>
          <p:cNvSpPr txBox="1"/>
          <p:nvPr/>
        </p:nvSpPr>
        <p:spPr>
          <a:xfrm>
            <a:off x="6656832" y="3639312"/>
            <a:ext cx="40873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B44146"/>
                </a:solidFill>
                <a:latin typeface="Aptos"/>
              </a:rPr>
              <a:t/>
            </a:r>
            <a:endParaRPr lang="en-US" sz="1300"/>
          </a:p>
        </p:txBody>
      </p:sp>
      <p:sp>
        <p:nvSpPr>
          <p:cNvPr id="122" name="TextBox 122"/>
          <p:cNvSpPr txBox="1"/>
          <p:nvPr/>
        </p:nvSpPr>
        <p:spPr>
          <a:xfrm>
            <a:off x="6656832" y="3886200"/>
            <a:ext cx="4087368" cy="18288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Interactive visualization during live demo</a:t>
            </a:r>
            <a:endParaRPr lang="en-US" sz="1500"/>
          </a:p>
        </p:txBody>
      </p:sp>
      <p:sp>
        <p:nvSpPr>
          <p:cNvPr id="123" name="Rectangle 123"/>
          <p:cNvSpPr/>
          <p:nvPr/>
        </p:nvSpPr>
        <p:spPr>
          <a:xfrm>
            <a:off x="1097280" y="4800600"/>
            <a:ext cx="9601200" cy="658368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Rectangle 124"/>
          <p:cNvSpPr/>
          <p:nvPr/>
        </p:nvSpPr>
        <p:spPr>
          <a:xfrm>
            <a:off x="1097280" y="4800600"/>
            <a:ext cx="73152" cy="658368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TextBox 125"/>
          <p:cNvSpPr txBox="1"/>
          <p:nvPr/>
        </p:nvSpPr>
        <p:spPr>
          <a:xfrm>
            <a:off x="1261872" y="4910328"/>
            <a:ext cx="93451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>Important distinction</a:t>
            </a:r>
            <a:endParaRPr lang="en-US" sz="1300"/>
          </a:p>
        </p:txBody>
      </p:sp>
      <p:sp>
        <p:nvSpPr>
          <p:cNvPr id="126" name="TextBox 126"/>
          <p:cNvSpPr txBox="1"/>
          <p:nvPr/>
        </p:nvSpPr>
        <p:spPr>
          <a:xfrm>
            <a:off x="1261872" y="5157216"/>
            <a:ext cx="9345168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The slides explain the research; the live simulator is used only during the demo to show moving graphs.</a:t>
            </a:r>
            <a:endParaRPr lang="en-US" sz="15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27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Simulation Results: Intervention Comparison</a:t>
            </a:r>
            <a:endParaRPr lang="en-US" sz="2200"/>
          </a:p>
        </p:txBody>
      </p:sp>
      <p:sp>
        <p:nvSpPr>
          <p:cNvPr id="128" name="Rectangle 128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Rectangle 129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30" name="Picture 130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6400800" cy="3538728"/>
          </a:xfrm>
          <a:prstGeom prst="rect">
            <a:avLst/>
          </a:prstGeom>
        </p:spPr>
      </p:pic>
      <p:sp>
        <p:nvSpPr>
          <p:cNvPr id="131" name="Bullets 131"/>
          <p:cNvSpPr txBox="1"/>
          <p:nvPr/>
        </p:nvSpPr>
        <p:spPr>
          <a:xfrm>
            <a:off x="7315200" y="1353312"/>
            <a:ext cx="4069080" cy="214884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Single interventions help, but each targets only one mechanism.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Combined intervention acts on transmission, treatment uptake, and progression.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The combined strategy gives stronger simulated control than isolated changes.</a:t>
            </a:r>
            <a:endParaRPr lang="en-US" sz="1800"/>
          </a:p>
        </p:txBody>
      </p:sp>
      <p:sp>
        <p:nvSpPr>
          <p:cNvPr id="132" name="Rectangle 132"/>
          <p:cNvSpPr/>
          <p:nvPr/>
        </p:nvSpPr>
        <p:spPr>
          <a:xfrm>
            <a:off x="7333488" y="4133087"/>
            <a:ext cx="3840480" cy="731520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33" name="Rectangle 133"/>
          <p:cNvSpPr/>
          <p:nvPr/>
        </p:nvSpPr>
        <p:spPr>
          <a:xfrm>
            <a:off x="7333488" y="4133087"/>
            <a:ext cx="73152" cy="73152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4" name="TextBox 134"/>
          <p:cNvSpPr txBox="1"/>
          <p:nvPr/>
        </p:nvSpPr>
        <p:spPr>
          <a:xfrm>
            <a:off x="7498080" y="4242815"/>
            <a:ext cx="358444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>Public-health meaning</a:t>
            </a:r>
            <a:endParaRPr lang="en-US" sz="1300"/>
          </a:p>
        </p:txBody>
      </p:sp>
      <p:sp>
        <p:nvSpPr>
          <p:cNvPr id="135" name="TextBox 135"/>
          <p:cNvSpPr txBox="1"/>
          <p:nvPr/>
        </p:nvSpPr>
        <p:spPr>
          <a:xfrm>
            <a:off x="7498080" y="4489703"/>
            <a:ext cx="3584448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Prevention and treatment support should work together.</a:t>
            </a:r>
            <a:endParaRPr lang="en-US" sz="15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extBox 136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Simulation Results: Fractional Memory</a:t>
            </a:r>
            <a:endParaRPr lang="en-US" sz="2200"/>
          </a:p>
        </p:txBody>
      </p:sp>
      <p:sp>
        <p:nvSpPr>
          <p:cNvPr id="137" name="Rectangle 137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38" name="Rectangle 138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pic>
        <p:nvPicPr>
          <p:cNvPr id="139" name="Picture 139"/>
          <p:cNvPicPr>
            <a:picLocks noChangeAspect="0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70432"/>
            <a:ext cx="6400800" cy="3538728"/>
          </a:xfrm>
          <a:prstGeom prst="rect">
            <a:avLst/>
          </a:prstGeom>
        </p:spPr>
      </p:pic>
      <p:sp>
        <p:nvSpPr>
          <p:cNvPr id="140" name="Bullets 140"/>
          <p:cNvSpPr txBox="1"/>
          <p:nvPr/>
        </p:nvSpPr>
        <p:spPr>
          <a:xfrm>
            <a:off x="7315200" y="1417320"/>
            <a:ext cx="4069080" cy="1828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q = 1 represents the ordinary model.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Smaller q values strengthen the memory effect.</a:t>
            </a:r>
            <a:endParaRPr lang="en-US" sz="1800"/>
          </a:p>
          <a:p>
            <a:pPr marL="285750" indent="-171450">
              <a:buFont typeface="Arial"/>
              <a:buChar char="•"/>
            </a:pPr>
            <a:r>
              <a:rPr lang="en-US" sz="1800">
                <a:solidFill>
                  <a:srgbClr val="142030"/>
                </a:solidFill>
                <a:latin typeface="Aptos"/>
              </a:rPr>
              <a:t>Different q values produce visibly different trajectories.</a:t>
            </a:r>
            <a:endParaRPr lang="en-US" sz="1800"/>
          </a:p>
        </p:txBody>
      </p:sp>
      <p:sp>
        <p:nvSpPr>
          <p:cNvPr id="141" name="Rectangle 141"/>
          <p:cNvSpPr/>
          <p:nvPr/>
        </p:nvSpPr>
        <p:spPr>
          <a:xfrm>
            <a:off x="7333488" y="3977639"/>
            <a:ext cx="3840480" cy="822960"/>
          </a:xfrm>
          <a:prstGeom prst="rect">
            <a:avLst/>
          </a:prstGeom>
          <a:solidFill>
            <a:srgbClr val="FFF7E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Rectangle 142"/>
          <p:cNvSpPr/>
          <p:nvPr/>
        </p:nvSpPr>
        <p:spPr>
          <a:xfrm>
            <a:off x="7333488" y="3977639"/>
            <a:ext cx="73152" cy="8229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TextBox 143"/>
          <p:cNvSpPr txBox="1"/>
          <p:nvPr/>
        </p:nvSpPr>
        <p:spPr>
          <a:xfrm>
            <a:off x="7498080" y="4087367"/>
            <a:ext cx="358444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CC9900"/>
                </a:solidFill>
                <a:latin typeface="Aptos"/>
              </a:rPr>
              <a:t>Defense point</a:t>
            </a:r>
            <a:endParaRPr lang="en-US" sz="1300"/>
          </a:p>
        </p:txBody>
      </p:sp>
      <p:sp>
        <p:nvSpPr>
          <p:cNvPr id="144" name="TextBox 144"/>
          <p:cNvSpPr txBox="1"/>
          <p:nvPr/>
        </p:nvSpPr>
        <p:spPr>
          <a:xfrm>
            <a:off x="7498080" y="4334255"/>
            <a:ext cx="3584448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Fractional calculus is not decorative; it changes the simulated dynamics.</a:t>
            </a:r>
            <a:endParaRPr lang="en-US" sz="15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Box 145"/>
          <p:cNvSpPr txBox="1"/>
          <p:nvPr/>
        </p:nvSpPr>
        <p:spPr>
          <a:xfrm>
            <a:off x="502920" y="256032"/>
            <a:ext cx="7589520" cy="38404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2200" b="1">
                <a:solidFill>
                  <a:srgbClr val="142030"/>
                </a:solidFill>
                <a:latin typeface="Aptos"/>
              </a:rPr>
              <a:t>Live Demo, Conclusion + Recommendations</a:t>
            </a:r>
            <a:endParaRPr lang="en-US" sz="2200"/>
          </a:p>
        </p:txBody>
      </p:sp>
      <p:sp>
        <p:nvSpPr>
          <p:cNvPr id="146" name="Rectangle 146"/>
          <p:cNvSpPr/>
          <p:nvPr/>
        </p:nvSpPr>
        <p:spPr>
          <a:xfrm>
            <a:off x="502920" y="859536"/>
            <a:ext cx="1828800" cy="2286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Rectangle 147"/>
          <p:cNvSpPr/>
          <p:nvPr/>
        </p:nvSpPr>
        <p:spPr>
          <a:xfrm>
            <a:off x="2359152" y="859536"/>
            <a:ext cx="6766560" cy="22860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48" name="TextBox 148"/>
          <p:cNvSpPr txBox="1"/>
          <p:nvPr/>
        </p:nvSpPr>
        <p:spPr>
          <a:xfrm>
            <a:off x="685800" y="123444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Live demo plan</a:t>
            </a:r>
            <a:endParaRPr lang="en-US" sz="1500"/>
          </a:p>
        </p:txBody>
      </p:sp>
      <p:sp>
        <p:nvSpPr>
          <p:cNvPr id="149" name="Bullets 149"/>
          <p:cNvSpPr txBox="1"/>
          <p:nvPr/>
        </p:nvSpPr>
        <p:spPr>
          <a:xfrm>
            <a:off x="685800" y="1627632"/>
            <a:ext cx="4846320" cy="2194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Open the deployed simulator.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Run the moving SITA graph.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Compare no intervention with combined intervention.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Compare q = 1 with q &lt; 1.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Show scenario and sensitivity views briefly.</a:t>
            </a:r>
            <a:endParaRPr lang="en-US" sz="1700"/>
          </a:p>
        </p:txBody>
      </p:sp>
      <p:sp>
        <p:nvSpPr>
          <p:cNvPr id="150" name="TextBox 150"/>
          <p:cNvSpPr txBox="1"/>
          <p:nvPr/>
        </p:nvSpPr>
        <p:spPr>
          <a:xfrm>
            <a:off x="6355080" y="1234440"/>
            <a:ext cx="3657600" cy="292608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1">
                <a:solidFill>
                  <a:srgbClr val="CC9900"/>
                </a:solidFill>
                <a:latin typeface="Aptos"/>
              </a:rPr>
              <a:t>Conclusion</a:t>
            </a:r>
            <a:endParaRPr lang="en-US" sz="1500"/>
          </a:p>
        </p:txBody>
      </p:sp>
      <p:sp>
        <p:nvSpPr>
          <p:cNvPr id="151" name="Bullets 151"/>
          <p:cNvSpPr txBox="1"/>
          <p:nvPr/>
        </p:nvSpPr>
        <p:spPr>
          <a:xfrm>
            <a:off x="6355080" y="1627632"/>
            <a:ext cx="4983480" cy="219456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The SITA HIV model was extended using fractional memory.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Behavioural interventions were represented through effective rates.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Simulations support combined intervention strategies.</a:t>
            </a:r>
            <a:endParaRPr lang="en-US" sz="1700"/>
          </a:p>
          <a:p>
            <a:pPr marL="285750" indent="-171450">
              <a:buFont typeface="Arial"/>
              <a:buChar char="•"/>
            </a:pPr>
            <a:r>
              <a:rPr lang="en-US" sz="1700">
                <a:solidFill>
                  <a:srgbClr val="142030"/>
                </a:solidFill>
                <a:latin typeface="Aptos"/>
              </a:rPr>
              <a:t>Future work should calibrate parameters with Rwanda-specific data.</a:t>
            </a:r>
            <a:endParaRPr lang="en-US" sz="1700"/>
          </a:p>
        </p:txBody>
      </p:sp>
      <p:sp>
        <p:nvSpPr>
          <p:cNvPr id="152" name="Rectangle 152"/>
          <p:cNvSpPr/>
          <p:nvPr/>
        </p:nvSpPr>
        <p:spPr>
          <a:xfrm>
            <a:off x="1005840" y="4736592"/>
            <a:ext cx="10058400" cy="713232"/>
          </a:xfrm>
          <a:prstGeom prst="rect">
            <a:avLst/>
          </a:prstGeom>
          <a:solidFill>
            <a:srgbClr val="E6F7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Rectangle 153"/>
          <p:cNvSpPr/>
          <p:nvPr/>
        </p:nvSpPr>
        <p:spPr>
          <a:xfrm>
            <a:off x="1005840" y="4736592"/>
            <a:ext cx="73152" cy="713232"/>
          </a:xfrm>
          <a:prstGeom prst="rect">
            <a:avLst/>
          </a:prstGeom>
          <a:solidFill>
            <a:srgbClr val="007E7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4" name="TextBox 154"/>
          <p:cNvSpPr txBox="1"/>
          <p:nvPr/>
        </p:nvSpPr>
        <p:spPr>
          <a:xfrm>
            <a:off x="1170432" y="4846320"/>
            <a:ext cx="9802368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300" b="1">
                <a:solidFill>
                  <a:srgbClr val="007E70"/>
                </a:solidFill>
                <a:latin typeface="Aptos"/>
              </a:rPr>
              <a:t>Final message</a:t>
            </a:r>
            <a:endParaRPr lang="en-US" sz="1300"/>
          </a:p>
        </p:txBody>
      </p:sp>
      <p:sp>
        <p:nvSpPr>
          <p:cNvPr id="155" name="TextBox 155"/>
          <p:cNvSpPr txBox="1"/>
          <p:nvPr/>
        </p:nvSpPr>
        <p:spPr>
          <a:xfrm>
            <a:off x="1170432" y="5093208"/>
            <a:ext cx="980236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US" sz="1500" b="0">
                <a:solidFill>
                  <a:srgbClr val="142030"/>
                </a:solidFill>
                <a:latin typeface="Aptos"/>
              </a:rPr>
              <a:t>This project connects mathematical analysis, numerical simulation, and a working interactive tool for explaining HIV intervention dynamics.</a:t>
            </a:r>
            <a:endParaRPr lang="en-US" sz="15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acHIV">
  <a:themeElements>
    <a:clrScheme name="FracHIV">
      <a:dk1>
        <a:srgbClr val="0A1B30"/>
      </a:dk1>
      <a:lt1>
        <a:srgbClr val="FFFFFF"/>
      </a:lt1>
      <a:dk2>
        <a:srgbClr val="142030"/>
      </a:dk2>
      <a:lt2>
        <a:srgbClr val="E8F2FA"/>
      </a:lt2>
      <a:accent1>
        <a:srgbClr val="007E70"/>
      </a:accent1>
      <a:accent2>
        <a:srgbClr val="004A80"/>
      </a:accent2>
      <a:accent3>
        <a:srgbClr val="CC9900"/>
      </a:accent3>
      <a:accent4>
        <a:srgbClr val="B44146"/>
      </a:accent4>
      <a:accent5>
        <a:srgbClr val="525E6C"/>
      </a:accent5>
      <a:accent6>
        <a:srgbClr val="D8E2EB"/>
      </a:accent6>
      <a:hlink>
        <a:srgbClr val="004A80"/>
      </a:hlink>
      <a:folHlink>
        <a:srgbClr val="007E70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Fractional-Order HIV SITA Model</dc:title>
  <dc:creator>NDACYAYISABA Lambert</dc:creator>
  <cp:lastModifiedBy>Codex</cp:lastModifiedBy>
  <dcterms:created xsi:type="dcterms:W3CDTF">2026-06-11T09:53:30Z</dcterms:created>
  <dcterms:modified xsi:type="dcterms:W3CDTF">2026-06-11T09:53:30Z</dcterms:modified>
</cp:coreProperties>
</file>