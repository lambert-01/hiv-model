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1999" cy="68580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/Relationships>
</file>

<file path=ppt/slideLayouts/_rels/slideLayout1.xml.rels>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i_cover_background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logo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731520" cy="73152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8046720" y="438912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r"/>
            <a:r>
              <a:rPr lang="en-US" sz="1200" b="0">
                <a:solidFill>
                  <a:srgbClr val="FFFFFF"/>
                </a:solidFill>
                <a:latin typeface="Aptos"/>
              </a:rPr>
              <a:t>University of Rwanda</a:t>
            </a:r>
          </a:p>
          <a:p>
            <a:pPr algn="r"/>
            <a:r>
              <a:rPr lang="en-US" sz="1200" b="0">
                <a:solidFill>
                  <a:srgbClr val="FFFFFF"/>
                </a:solidFill>
                <a:latin typeface="Aptos"/>
              </a:rPr>
              <a:t>College of Science and Technology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30352" y="1664208"/>
            <a:ext cx="6812280" cy="3383280"/>
          </a:xfrm>
          <a:prstGeom prst="rect">
            <a:avLst/>
          </a:prstGeom>
          <a:solidFill>
            <a:srgbClr val="0A1B3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6" name="Text 6"/>
          <p:cNvSpPr txBox="1"/>
          <p:nvPr/>
        </p:nvSpPr>
        <p:spPr>
          <a:xfrm>
            <a:off x="749808" y="1755648"/>
            <a:ext cx="6446520" cy="162763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A Fractional-Order Compartmental Model</a:t>
            </a:r>
          </a:p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of HIV Transmission</a:t>
            </a:r>
          </a:p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with Social Behaviour Interventions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86384" y="3474720"/>
            <a:ext cx="62636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0">
                <a:solidFill>
                  <a:srgbClr val="FFFFFF"/>
                </a:solidFill>
                <a:latin typeface="Aptos"/>
              </a:rPr>
              <a:t>Fractional SITA dynamics and dashboard simulation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786384" y="4069080"/>
            <a:ext cx="5303520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300" b="0">
                <a:solidFill>
                  <a:srgbClr val="FFFFFF"/>
                </a:solidFill>
                <a:latin typeface="Aptos"/>
              </a:rPr>
              <a:t>NDACYAYISABA Lambert</a:t>
            </a:r>
          </a:p>
          <a:p>
            <a:pPr algn="l"/>
            <a:r>
              <a:rPr lang="en-US" sz="1300" b="0">
                <a:solidFill>
                  <a:srgbClr val="FFFFFF"/>
                </a:solidFill>
                <a:latin typeface="Aptos"/>
              </a:rPr>
              <a:t>Supervisor: Dr. MUHIRWA Jean Pierre</a:t>
            </a:r>
          </a:p>
          <a:p>
            <a:pPr algn="l"/>
            <a:r>
              <a:rPr lang="en-US" sz="1300" b="0">
                <a:solidFill>
                  <a:srgbClr val="FFFFFF"/>
                </a:solidFill>
                <a:latin typeface="Aptos"/>
              </a:rPr>
              <a:t>Kigali, Rwanda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86384" y="5010912"/>
            <a:ext cx="3429000" cy="36576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0" name="Text 10"/>
          <p:cNvSpPr txBox="1"/>
          <p:nvPr/>
        </p:nvSpPr>
        <p:spPr>
          <a:xfrm>
            <a:off x="4315968" y="5010912"/>
            <a:ext cx="2743200" cy="36576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Background / Motivation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3" name="Text 13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58368" y="1261872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Rwanda-aware public-health motivation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49808" y="1664208"/>
            <a:ext cx="5623560" cy="20574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HIV transmission is shaped by biology, treatment access, and social behaviour.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Awareness, safer behaviour, testing, treatment-seeking, and adherence can change long-term outcomes.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In Rwanda, prevention and adherence support remain important alongside treatment progress.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41248" y="4224528"/>
            <a:ext cx="5303520" cy="868680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Why mathematics?</a:t>
            </a:r>
          </a:p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A model gives a controlled way to compare intervention strategies and understand possible long-term behaviour.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720840" y="1234440"/>
            <a:ext cx="3474720" cy="502920"/>
          </a:xfrm>
          <a:prstGeom prst="rect">
            <a:avLst/>
          </a:prstGeom>
          <a:solidFill>
            <a:srgbClr val="004A8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Context: HIV in Rwanda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720840" y="1965960"/>
            <a:ext cx="3474720" cy="502920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Mechanism: Behaviour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720840" y="2697480"/>
            <a:ext cx="3474720" cy="50292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Method: Fractional memory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720840" y="3429000"/>
            <a:ext cx="3474720" cy="502920"/>
          </a:xfrm>
          <a:prstGeom prst="rect">
            <a:avLst/>
          </a:prstGeom>
          <a:solidFill>
            <a:srgbClr val="B44146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Aptos"/>
              </a:rPr>
              <a:t>Output: Simulation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1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Problem Statement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23" name="Text 23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24" name="Text 24"/>
          <p:cNvSpPr txBox="1"/>
          <p:nvPr/>
        </p:nvSpPr>
        <p:spPr>
          <a:xfrm>
            <a:off x="658368" y="123444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Limitations in ordinary modelling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13232" y="1627632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Ordinary models usually depend only on the present state.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HIV-related behaviour may depend on past awareness, stigma, testing history, and adherence.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Social behaviour is often simplified into fixed rates.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080760" y="12344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Need addressed by this project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144768" y="1627632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Include memory using a Caputo fractional derivative.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Represent behavioural interventions through effective rates.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Use numerical simulation to compare scenarios clearly.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868680" y="5349240"/>
            <a:ext cx="10195560" cy="640080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0">
                <a:solidFill>
                  <a:srgbClr val="142030"/>
                </a:solidFill>
                <a:latin typeface="Aptos"/>
              </a:rPr>
              <a:t>Research focus: How do fractional memory and social behaviour interventions affect simulated HIV dynamics in a SITA framework?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29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Literature Review and Research Gap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31" name="Text 31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58368" y="123444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What existing studies show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713232" y="1627632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Classical HIV models commonly use ordinary differential equations and treatment compartments such as SICA/SITA.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Previous studies show that social behaviour, testing, safer sexual practices, stigma, and adherence influence HIV transmission.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Fractional-order epidemic models use Caputo derivatives to capture memory and hereditary effects.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080760" y="12344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Research gap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6144768" y="1627632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Existing work does not commonly combine fractional HIV dynamics.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It also does not commonly combine social behaviour intervention functions with an interactive simulation dashboard.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868680" y="5349240"/>
            <a:ext cx="10195560" cy="640080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0">
                <a:solidFill>
                  <a:srgbClr val="142030"/>
                </a:solidFill>
                <a:latin typeface="Aptos"/>
              </a:rPr>
              <a:t>Gap addressed: a fractional-order SITA model that connects memory effects, social behaviour interventions, numerical simulation, and dashboard exploration.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37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Objectives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39" name="Text 39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85800" y="1207008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Main objective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713232" y="1627632"/>
            <a:ext cx="5257800" cy="8686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0">
                <a:solidFill>
                  <a:srgbClr val="142030"/>
                </a:solidFill>
                <a:latin typeface="Aptos"/>
              </a:rPr>
              <a:t>To formulate, analyse, and computationally simulate a fractional-order SITA model of HIV transmission incorporating social behaviour interventions.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685800" y="2788920"/>
            <a:ext cx="521208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Specific objectives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768096" y="3182112"/>
            <a:ext cx="5303520" cy="19659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Formulate a fractional-order SITA HIV model using the Caputo derivative and social behaviour interventions.</a:t>
            </a:r>
          </a:p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Analyse positivity, boundedness, disease-free equilibrium, R0, and fractional stability.</a:t>
            </a:r>
          </a:p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Implement simulations and a Python dashboard to study memory effects, interventions, sensitivity, and epidemic trajectories.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6629400" y="1508760"/>
            <a:ext cx="3474720" cy="594360"/>
          </a:xfrm>
          <a:prstGeom prst="rect">
            <a:avLst/>
          </a:prstGeom>
          <a:solidFill>
            <a:srgbClr val="E8F2FA"/>
          </a:solidFill>
          <a:ln w="9525">
            <a:solidFill>
              <a:srgbClr val="004A8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c"/>
            <a:r>
              <a:rPr lang="en-US" sz="1600" b="1">
                <a:solidFill>
                  <a:srgbClr val="142030"/>
                </a:solidFill>
                <a:latin typeface="Aptos"/>
              </a:rPr>
              <a:t>1. Model formulation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6629400" y="2514600"/>
            <a:ext cx="3474720" cy="594360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c"/>
            <a:r>
              <a:rPr lang="en-US" sz="1600" b="1">
                <a:solidFill>
                  <a:srgbClr val="142030"/>
                </a:solidFill>
                <a:latin typeface="Aptos"/>
              </a:rPr>
              <a:t>2. Model analysis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6629400" y="3520440"/>
            <a:ext cx="3474720" cy="594360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c"/>
            <a:r>
              <a:rPr lang="en-US" sz="1600" b="1">
                <a:solidFill>
                  <a:srgbClr val="142030"/>
                </a:solidFill>
                <a:latin typeface="Aptos"/>
              </a:rPr>
              <a:t>3. Simulation dashboard</a:t>
            </a:r>
          </a:p>
        </p:txBody>
      </p:sp>
      <p:cxnSp>
        <p:nvCxnSpPr>
          <p:cNvPr id="47" name="Arrow 47"/>
          <p:cNvCxnSpPr/>
          <p:nvPr/>
        </p:nvCxnSpPr>
        <p:spPr>
          <a:xfrm>
            <a:off x="8366760" y="2103120"/>
            <a:ext cx="0" cy="411480"/>
          </a:xfrm>
          <a:prstGeom prst="line">
            <a:avLst/>
          </a:prstGeom>
          <a:ln w="19050">
            <a:solidFill>
              <a:srgbClr val="5260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Arrow 48"/>
          <p:cNvCxnSpPr/>
          <p:nvPr/>
        </p:nvCxnSpPr>
        <p:spPr>
          <a:xfrm>
            <a:off x="8366760" y="3108960"/>
            <a:ext cx="0" cy="411480"/>
          </a:xfrm>
          <a:prstGeom prst="line">
            <a:avLst/>
          </a:prstGeom>
          <a:ln w="19050">
            <a:solidFill>
              <a:srgbClr val="5260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49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Model Diagram: SITA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51" name="Text 51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52" name="S(t)"/>
          <p:cNvSpPr/>
          <p:nvPr/>
        </p:nvSpPr>
        <p:spPr>
          <a:xfrm>
            <a:off x="749808" y="1856231"/>
            <a:ext cx="1691640" cy="713232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004A80"/>
            </a:solidFill>
          </a:ln>
        </p:spPr>
        <p:txBody>
          <a:bodyPr wrap="square" anchor="mid" lIns="91440" rIns="91440" tIns="45720" bIns="45720">
            <a:normAutofit fontScale="85000" lnSpcReduction="15000"/>
          </a:bodyPr>
          <a:lstStyle/>
          <a:p>
            <a:pPr algn="ctr"/>
            <a:r>
              <a:rPr lang="en-US" sz="2000" b="1">
                <a:solidFill>
                  <a:srgbClr val="004A80"/>
                </a:solidFill>
                <a:latin typeface="Aptos Display"/>
              </a:rPr>
              <a:t>S(t)</a:t>
            </a:r>
          </a:p>
          <a:p>
            <a:pPr algn="ctr"/>
            <a:r>
              <a:rPr lang="en-US" sz="1500" b="1">
                <a:solidFill>
                  <a:srgbClr val="004A80"/>
                </a:solidFill>
                <a:latin typeface="Aptos"/>
              </a:rPr>
              <a:t>Susceptible</a:t>
            </a:r>
          </a:p>
        </p:txBody>
      </p:sp>
      <p:sp>
        <p:nvSpPr>
          <p:cNvPr id="53" name="I(t)"/>
          <p:cNvSpPr/>
          <p:nvPr/>
        </p:nvSpPr>
        <p:spPr>
          <a:xfrm>
            <a:off x="3246120" y="1856231"/>
            <a:ext cx="16916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4146"/>
            </a:solidFill>
          </a:ln>
        </p:spPr>
        <p:txBody>
          <a:bodyPr wrap="square" anchor="mid" lIns="91440" rIns="91440" tIns="45720" bIns="45720">
            <a:normAutofit fontScale="85000" lnSpcReduction="15000"/>
          </a:bodyPr>
          <a:lstStyle/>
          <a:p>
            <a:pPr algn="ctr"/>
            <a:r>
              <a:rPr lang="en-US" sz="2000" b="1">
                <a:solidFill>
                  <a:srgbClr val="B44146"/>
                </a:solidFill>
                <a:latin typeface="Aptos Display"/>
              </a:rPr>
              <a:t>I(t)</a:t>
            </a:r>
          </a:p>
          <a:p>
            <a:pPr algn="ctr"/>
            <a:r>
              <a:rPr lang="en-US" sz="1500" b="1">
                <a:solidFill>
                  <a:srgbClr val="B44146"/>
                </a:solidFill>
                <a:latin typeface="Aptos"/>
              </a:rPr>
              <a:t>Infected</a:t>
            </a:r>
          </a:p>
        </p:txBody>
      </p:sp>
      <p:sp>
        <p:nvSpPr>
          <p:cNvPr id="54" name="T(t)"/>
          <p:cNvSpPr/>
          <p:nvPr/>
        </p:nvSpPr>
        <p:spPr>
          <a:xfrm>
            <a:off x="5742432" y="1856231"/>
            <a:ext cx="1691640" cy="713232"/>
          </a:xfrm>
          <a:prstGeom prst="roundRect">
            <a:avLst/>
          </a:prstGeom>
          <a:solidFill>
            <a:srgbClr val="FFF7E0"/>
          </a:solidFill>
          <a:ln w="12700">
            <a:solidFill>
              <a:srgbClr val="CC9900"/>
            </a:solidFill>
          </a:ln>
        </p:spPr>
        <p:txBody>
          <a:bodyPr wrap="square" anchor="mid" lIns="91440" rIns="91440" tIns="45720" bIns="45720">
            <a:normAutofit fontScale="85000" lnSpcReduction="15000"/>
          </a:bodyPr>
          <a:lstStyle/>
          <a:p>
            <a:pPr algn="ctr"/>
            <a:r>
              <a:rPr lang="en-US" sz="2000" b="1">
                <a:solidFill>
                  <a:srgbClr val="CC9900"/>
                </a:solidFill>
                <a:latin typeface="Aptos Display"/>
              </a:rPr>
              <a:t>T(t)</a:t>
            </a:r>
          </a:p>
          <a:p>
            <a:pPr algn="ctr"/>
            <a:r>
              <a:rPr lang="en-US" sz="1500" b="1">
                <a:solidFill>
                  <a:srgbClr val="CC9900"/>
                </a:solidFill>
                <a:latin typeface="Aptos"/>
              </a:rPr>
              <a:t>Treated</a:t>
            </a:r>
          </a:p>
        </p:txBody>
      </p:sp>
      <p:sp>
        <p:nvSpPr>
          <p:cNvPr id="55" name="A(t)"/>
          <p:cNvSpPr/>
          <p:nvPr/>
        </p:nvSpPr>
        <p:spPr>
          <a:xfrm>
            <a:off x="8247888" y="1856231"/>
            <a:ext cx="1691640" cy="713232"/>
          </a:xfrm>
          <a:prstGeom prst="roundRect">
            <a:avLst/>
          </a:prstGeom>
          <a:solidFill>
            <a:srgbClr val="E6F7F4"/>
          </a:solidFill>
          <a:ln w="12700">
            <a:solidFill>
              <a:srgbClr val="007E70"/>
            </a:solidFill>
          </a:ln>
        </p:spPr>
        <p:txBody>
          <a:bodyPr wrap="square" anchor="mid" lIns="91440" rIns="91440" tIns="45720" bIns="45720">
            <a:normAutofit fontScale="85000" lnSpcReduction="15000"/>
          </a:bodyPr>
          <a:lstStyle/>
          <a:p>
            <a:pPr algn="ctr"/>
            <a:r>
              <a:rPr lang="en-US" sz="2000" b="1">
                <a:solidFill>
                  <a:srgbClr val="007E70"/>
                </a:solidFill>
                <a:latin typeface="Aptos Display"/>
              </a:rPr>
              <a:t>A(t)</a:t>
            </a:r>
          </a:p>
          <a:p>
            <a:pPr algn="ctr"/>
            <a:r>
              <a:rPr lang="en-US" sz="1500" b="1">
                <a:solidFill>
                  <a:srgbClr val="007E70"/>
                </a:solidFill>
                <a:latin typeface="Aptos"/>
              </a:rPr>
              <a:t>AIDS stage</a:t>
            </a:r>
          </a:p>
        </p:txBody>
      </p:sp>
      <p:cxnSp>
        <p:nvCxnSpPr>
          <p:cNvPr id="56" name="Arrow 56"/>
          <p:cNvCxnSpPr/>
          <p:nvPr/>
        </p:nvCxnSpPr>
        <p:spPr>
          <a:xfrm>
            <a:off x="2441448" y="2212848"/>
            <a:ext cx="804671" cy="0"/>
          </a:xfrm>
          <a:prstGeom prst="line">
            <a:avLst/>
          </a:prstGeom>
          <a:ln w="19050">
            <a:solidFill>
              <a:srgbClr val="1420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Arrow 57"/>
          <p:cNvCxnSpPr/>
          <p:nvPr/>
        </p:nvCxnSpPr>
        <p:spPr>
          <a:xfrm>
            <a:off x="4937760" y="2212848"/>
            <a:ext cx="804671" cy="0"/>
          </a:xfrm>
          <a:prstGeom prst="line">
            <a:avLst/>
          </a:prstGeom>
          <a:ln w="19050">
            <a:solidFill>
              <a:srgbClr val="1420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Arrow 58"/>
          <p:cNvCxnSpPr/>
          <p:nvPr/>
        </p:nvCxnSpPr>
        <p:spPr>
          <a:xfrm>
            <a:off x="7434072" y="2212848"/>
            <a:ext cx="813815" cy="0"/>
          </a:xfrm>
          <a:prstGeom prst="line">
            <a:avLst/>
          </a:prstGeom>
          <a:ln w="19050">
            <a:solidFill>
              <a:srgbClr val="1420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 59"/>
          <p:cNvSpPr txBox="1"/>
          <p:nvPr/>
        </p:nvSpPr>
        <p:spPr>
          <a:xfrm>
            <a:off x="2267712" y="1353312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c"/>
            <a:r>
              <a:rPr lang="en-US" sz="1000" b="0">
                <a:solidFill>
                  <a:srgbClr val="52606C"/>
                </a:solidFill>
                <a:latin typeface="Aptos"/>
              </a:rPr>
              <a:t>effective transmission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4700016" y="1353312"/>
            <a:ext cx="1143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c"/>
            <a:r>
              <a:rPr lang="en-US" sz="1000" b="0">
                <a:solidFill>
                  <a:srgbClr val="52606C"/>
                </a:solidFill>
                <a:latin typeface="Aptos"/>
              </a:rPr>
              <a:t>testing and treatment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7059168" y="2779776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c"/>
            <a:r>
              <a:rPr lang="en-US" sz="1000" b="0">
                <a:solidFill>
                  <a:srgbClr val="52606C"/>
                </a:solidFill>
                <a:latin typeface="Aptos"/>
              </a:rPr>
              <a:t>reduced progression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914400" y="4224528"/>
            <a:ext cx="4846320" cy="960120"/>
          </a:xfrm>
          <a:prstGeom prst="rect">
            <a:avLst/>
          </a:prstGeom>
          <a:solidFill>
            <a:srgbClr val="E8F2FA"/>
          </a:solidFill>
          <a:ln w="9525">
            <a:solidFill>
              <a:srgbClr val="004A8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State variables</a:t>
            </a:r>
          </a:p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S susceptible, I infected, T treated, A AIDS-stage population.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355080" y="4224528"/>
            <a:ext cx="4709160" cy="960120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Controls</a:t>
            </a:r>
          </a:p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u1 awareness, u2 safer behaviour, u3 testing, u4 adherence.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64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Fractional-Order Model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66" name="Text 66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67" name="Text 67"/>
          <p:cNvSpPr txBox="1"/>
          <p:nvPr/>
        </p:nvSpPr>
        <p:spPr>
          <a:xfrm>
            <a:off x="658368" y="12344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Caputo memory form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694944" y="1664208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1">
                <a:solidFill>
                  <a:srgbClr val="142030"/>
                </a:solidFill>
                <a:latin typeface="Aptos"/>
              </a:rPr>
              <a:t>D_C^q X(t) = F(t, X(t)),    0 &lt; q &lt;= 1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749808" y="2542032"/>
            <a:ext cx="5623560" cy="17373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600" b="0">
                <a:solidFill>
                  <a:srgbClr val="142030"/>
                </a:solidFill>
                <a:latin typeface="Aptos"/>
              </a:rPr>
              <a:t>D_C^q S = Lambda - beta_eff S(I + eta T) - mu S</a:t>
            </a:r>
          </a:p>
          <a:p>
            <a:pPr algn="l"/>
            <a:r>
              <a:rPr lang="en-US" sz="1600" b="0">
                <a:solidFill>
                  <a:srgbClr val="142030"/>
                </a:solidFill>
                <a:latin typeface="Aptos"/>
              </a:rPr>
              <a:t>D_C^q I = beta_eff S(I + eta T) - (tau_eff + delta + mu)I</a:t>
            </a:r>
          </a:p>
          <a:p>
            <a:pPr algn="l"/>
            <a:r>
              <a:rPr lang="en-US" sz="1600" b="0">
                <a:solidFill>
                  <a:srgbClr val="142030"/>
                </a:solidFill>
                <a:latin typeface="Aptos"/>
              </a:rPr>
              <a:t>D_C^q T = tau_eff I - (rho_eff + mu)T</a:t>
            </a:r>
          </a:p>
          <a:p>
            <a:pPr algn="l"/>
            <a:r>
              <a:rPr lang="en-US" sz="1600" b="0">
                <a:solidFill>
                  <a:srgbClr val="142030"/>
                </a:solidFill>
                <a:latin typeface="Aptos"/>
              </a:rPr>
              <a:t>D_C^q A = delta I + rho_eff T - (d + mu)A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6812280" y="1417320"/>
            <a:ext cx="4206240" cy="1325880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600" b="0">
                <a:solidFill>
                  <a:srgbClr val="142030"/>
                </a:solidFill>
                <a:latin typeface="Aptos"/>
              </a:rPr>
              <a:t>Intervention-adjusted rates</a:t>
            </a:r>
          </a:p>
          <a:p>
            <a:pPr algn="l"/>
            <a:r>
              <a:rPr lang="en-US" sz="1600" b="0">
                <a:solidFill>
                  <a:srgbClr val="142030"/>
                </a:solidFill>
                <a:latin typeface="Aptos"/>
              </a:rPr>
              <a:t>beta_eff = beta0(1-u1)(1-u2)</a:t>
            </a:r>
          </a:p>
          <a:p>
            <a:pPr algn="l"/>
            <a:r>
              <a:rPr lang="en-US" sz="1600" b="0">
                <a:solidFill>
                  <a:srgbClr val="142030"/>
                </a:solidFill>
                <a:latin typeface="Aptos"/>
              </a:rPr>
              <a:t>tau_eff = tau(1+u3)</a:t>
            </a:r>
          </a:p>
          <a:p>
            <a:pPr algn="l"/>
            <a:r>
              <a:rPr lang="en-US" sz="1600" b="0">
                <a:solidFill>
                  <a:srgbClr val="142030"/>
                </a:solidFill>
                <a:latin typeface="Aptos"/>
              </a:rPr>
              <a:t>rho_eff = rho(1-u4)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6812280" y="3474720"/>
            <a:ext cx="4206240" cy="960120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600" b="0">
                <a:solidFill>
                  <a:srgbClr val="142030"/>
                </a:solidFill>
                <a:latin typeface="Aptos"/>
              </a:rPr>
              <a:t>Meaning of q</a:t>
            </a:r>
          </a:p>
          <a:p>
            <a:pPr algn="l"/>
            <a:r>
              <a:rPr lang="en-US" sz="1600" b="0">
                <a:solidFill>
                  <a:srgbClr val="142030"/>
                </a:solidFill>
                <a:latin typeface="Aptos"/>
              </a:rPr>
              <a:t>q = 1 gives the ordinary model. q &lt; 1 carries memory of past states.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72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Numerical Scheme + Implementation</a:t>
            </a:r>
          </a:p>
        </p:txBody>
      </p:sp>
      <p:sp>
        <p:nvSpPr>
          <p:cNvPr id="73" name="Text 73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74" name="Text 74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75" name="Text 75"/>
          <p:cNvSpPr txBox="1"/>
          <p:nvPr/>
        </p:nvSpPr>
        <p:spPr>
          <a:xfrm>
            <a:off x="658368" y="123444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Numerical idea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749808" y="1627632"/>
            <a:ext cx="4937760" cy="24231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Time interval is divided into discrete steps.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A predictor estimates the next state.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A corrector updates the state using fractional-memory weights.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The same engine is used for baseline, memory, intervention, and sensitivity experiments.</a:t>
            </a:r>
          </a:p>
        </p:txBody>
      </p:sp>
      <p:sp>
        <p:nvSpPr>
          <p:cNvPr id="77" name="Text 77"/>
          <p:cNvSpPr txBox="1"/>
          <p:nvPr/>
        </p:nvSpPr>
        <p:spPr>
          <a:xfrm>
            <a:off x="6355080" y="1170432"/>
            <a:ext cx="4297680" cy="749808"/>
          </a:xfrm>
          <a:prstGeom prst="rect">
            <a:avLst/>
          </a:prstGeom>
          <a:solidFill>
            <a:srgbClr val="E8F2FA"/>
          </a:solidFill>
          <a:ln w="9525">
            <a:solidFill>
              <a:srgbClr val="004A8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Inputs</a:t>
            </a:r>
          </a:p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parameters, initial conditions, q, controls</a:t>
            </a:r>
          </a:p>
        </p:txBody>
      </p:sp>
      <p:sp>
        <p:nvSpPr>
          <p:cNvPr id="78" name="Text 78"/>
          <p:cNvSpPr txBox="1"/>
          <p:nvPr/>
        </p:nvSpPr>
        <p:spPr>
          <a:xfrm>
            <a:off x="6355080" y="2084831"/>
            <a:ext cx="4297680" cy="749808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Solver</a:t>
            </a:r>
          </a:p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fractional ABM-type numerical method</a:t>
            </a:r>
          </a:p>
        </p:txBody>
      </p:sp>
      <p:sp>
        <p:nvSpPr>
          <p:cNvPr id="79" name="Text 79"/>
          <p:cNvSpPr txBox="1"/>
          <p:nvPr/>
        </p:nvSpPr>
        <p:spPr>
          <a:xfrm>
            <a:off x="6355080" y="2999232"/>
            <a:ext cx="4297680" cy="749808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Outputs</a:t>
            </a:r>
          </a:p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trajectories, R0, scenarios, sensitivity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6355080" y="3913632"/>
            <a:ext cx="42976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B44146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Presentation</a:t>
            </a:r>
          </a:p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moving graphs during the live demo</a:t>
            </a:r>
          </a:p>
        </p:txBody>
      </p:sp>
      <p:cxnSp>
        <p:nvCxnSpPr>
          <p:cNvPr id="81" name="Arrow 81"/>
          <p:cNvCxnSpPr/>
          <p:nvPr/>
        </p:nvCxnSpPr>
        <p:spPr>
          <a:xfrm>
            <a:off x="8503920" y="1920240"/>
            <a:ext cx="0" cy="164591"/>
          </a:xfrm>
          <a:prstGeom prst="line">
            <a:avLst/>
          </a:prstGeom>
          <a:ln w="19050">
            <a:solidFill>
              <a:srgbClr val="5260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Arrow 82"/>
          <p:cNvCxnSpPr/>
          <p:nvPr/>
        </p:nvCxnSpPr>
        <p:spPr>
          <a:xfrm>
            <a:off x="8503920" y="2834640"/>
            <a:ext cx="0" cy="164591"/>
          </a:xfrm>
          <a:prstGeom prst="line">
            <a:avLst/>
          </a:prstGeom>
          <a:ln w="19050">
            <a:solidFill>
              <a:srgbClr val="5260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Arrow 83"/>
          <p:cNvCxnSpPr/>
          <p:nvPr/>
        </p:nvCxnSpPr>
        <p:spPr>
          <a:xfrm>
            <a:off x="8503920" y="3749039"/>
            <a:ext cx="0" cy="164592"/>
          </a:xfrm>
          <a:prstGeom prst="line">
            <a:avLst/>
          </a:prstGeom>
          <a:ln w="19050">
            <a:solidFill>
              <a:srgbClr val="5260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 84"/>
          <p:cNvSpPr txBox="1"/>
          <p:nvPr/>
        </p:nvSpPr>
        <p:spPr>
          <a:xfrm>
            <a:off x="896112" y="5166360"/>
            <a:ext cx="9921240" cy="658368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600" b="0">
                <a:solidFill>
                  <a:srgbClr val="142030"/>
                </a:solidFill>
                <a:latin typeface="Aptos"/>
              </a:rPr>
              <a:t>Presentation link: the mathematical model is explained in the slides; moving graphs are shown separately during the live demonstration.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86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Baseline Simulation Result</a:t>
            </a:r>
          </a:p>
        </p:txBody>
      </p:sp>
      <p:sp>
        <p:nvSpPr>
          <p:cNvPr id="87" name="Text 87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88" name="Text 88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pic>
        <p:nvPicPr>
          <p:cNvPr id="85" name="mainChartlinear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" y="1261872"/>
            <a:ext cx="6309360" cy="4251960"/>
          </a:xfrm>
          <a:prstGeom prst="rect">
            <a:avLst/>
          </a:prstGeom>
        </p:spPr>
      </p:pic>
      <p:sp>
        <p:nvSpPr>
          <p:cNvPr id="89" name="Text 89"/>
          <p:cNvSpPr txBox="1"/>
          <p:nvPr/>
        </p:nvSpPr>
        <p:spPr>
          <a:xfrm>
            <a:off x="7360920" y="12344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Computed baseline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7406640" y="1627632"/>
            <a:ext cx="3566160" cy="12344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R0 = 0.430, below the epidemic threshold.</a:t>
            </a:r>
          </a:p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Peak infected population is 150 at t = 0 years.</a:t>
            </a:r>
          </a:p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Final values after 50 years: I = 3.1, T = 94.3, A = 3.6.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7360920" y="3310128"/>
            <a:ext cx="3657600" cy="1024128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Interpretation</a:t>
            </a:r>
          </a:p>
          <a:p>
            <a:pPr algn="l"/>
            <a:r>
              <a:rPr lang="en-US" sz="1400" b="0">
                <a:solidFill>
                  <a:srgbClr val="142030"/>
                </a:solidFill>
                <a:latin typeface="Aptos"/>
              </a:rPr>
              <a:t>The baseline intervention-adjusted configuration leads toward disease-free behaviour in the simulation.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7360920" y="4645152"/>
            <a:ext cx="3657600" cy="694944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300" b="0">
                <a:solidFill>
                  <a:srgbClr val="142030"/>
                </a:solidFill>
                <a:latin typeface="Aptos"/>
              </a:rPr>
              <a:t>Defense point</a:t>
            </a:r>
          </a:p>
          <a:p>
            <a:pPr algn="l"/>
            <a:r>
              <a:rPr lang="en-US" sz="1300" b="0">
                <a:solidFill>
                  <a:srgbClr val="142030"/>
                </a:solidFill>
                <a:latin typeface="Aptos"/>
              </a:rPr>
              <a:t>These numbers come from the Python simulation engine and match the dashboard summary table.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94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Simulation Results: Intervention Comparison</a:t>
            </a:r>
          </a:p>
        </p:txBody>
      </p:sp>
      <p:sp>
        <p:nvSpPr>
          <p:cNvPr id="95" name="Text 95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96" name="Text 96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pic>
        <p:nvPicPr>
          <p:cNvPr id="93" name="combinedInterventionsChar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6217920" cy="4206240"/>
          </a:xfrm>
          <a:prstGeom prst="rect">
            <a:avLst/>
          </a:prstGeom>
        </p:spPr>
      </p:pic>
      <p:sp>
        <p:nvSpPr>
          <p:cNvPr id="97" name="Text 97"/>
          <p:cNvSpPr txBox="1"/>
          <p:nvPr/>
        </p:nvSpPr>
        <p:spPr>
          <a:xfrm>
            <a:off x="7360920" y="1325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Main interpretation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7406640" y="1719072"/>
            <a:ext cx="3520440" cy="19202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Single interventions help, but each targets only one mechanism.</a:t>
            </a:r>
          </a:p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Combined intervention acts on transmission, treatment uptake, and progression.</a:t>
            </a:r>
          </a:p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The combined strategy gives stronger simulated control than isolated changes.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7360920" y="4133087"/>
            <a:ext cx="3611880" cy="868680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Public-health meaning</a:t>
            </a:r>
          </a:p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Prevention and treatment support should work together.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101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Simulation Results: Fractional Memory</a:t>
            </a:r>
          </a:p>
        </p:txBody>
      </p:sp>
      <p:sp>
        <p:nvSpPr>
          <p:cNvPr id="102" name="Text 102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03" name="Text 103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pic>
        <p:nvPicPr>
          <p:cNvPr id="100" name="memoryChar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6217920" cy="4206240"/>
          </a:xfrm>
          <a:prstGeom prst="rect">
            <a:avLst/>
          </a:prstGeom>
        </p:spPr>
      </p:pic>
      <p:sp>
        <p:nvSpPr>
          <p:cNvPr id="104" name="Text 104"/>
          <p:cNvSpPr txBox="1"/>
          <p:nvPr/>
        </p:nvSpPr>
        <p:spPr>
          <a:xfrm>
            <a:off x="7360920" y="1325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Why q matters</a:t>
            </a:r>
          </a:p>
        </p:txBody>
      </p:sp>
      <p:sp>
        <p:nvSpPr>
          <p:cNvPr id="105" name="Text 105"/>
          <p:cNvSpPr txBox="1"/>
          <p:nvPr/>
        </p:nvSpPr>
        <p:spPr>
          <a:xfrm>
            <a:off x="7406640" y="1719072"/>
            <a:ext cx="3520440" cy="16916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q = 1 represents the ordinary model.</a:t>
            </a:r>
          </a:p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Smaller q values strengthen the memory effect.</a:t>
            </a:r>
          </a:p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Different q values produce visibly different trajectories.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7360920" y="4005072"/>
            <a:ext cx="3611880" cy="914400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Defense point</a:t>
            </a:r>
          </a:p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Fractional calculus is not decorative; it changes the simulated dynamics.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109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Dashboard and Sensitivity Evidence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pic>
        <p:nvPicPr>
          <p:cNvPr id="107" name="sensitivityChart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58368" y="1298448"/>
            <a:ext cx="6217920" cy="4206240"/>
          </a:xfrm>
          <a:prstGeom prst="rect">
            <a:avLst/>
          </a:prstGeom>
        </p:spPr>
      </p:pic>
      <p:sp>
        <p:nvSpPr>
          <p:cNvPr id="112" name="Text 112"/>
          <p:cNvSpPr txBox="1"/>
          <p:nvPr/>
        </p:nvSpPr>
        <p:spPr>
          <a:xfrm>
            <a:off x="7360920" y="1325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Main evidence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7406640" y="1719072"/>
            <a:ext cx="3520440" cy="16002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Transmission-related quantities dominate R0 sensitivity.</a:t>
            </a:r>
          </a:p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Safer behaviour and awareness reduce R0 strongly.</a:t>
            </a:r>
          </a:p>
          <a:p>
            <a:pPr algn="l">
              <a:buChar char="•"/>
              <a:buFont typeface="Arial"/>
            </a:pPr>
            <a:r>
              <a:rPr lang="en-US" sz="1500" b="0">
                <a:solidFill>
                  <a:srgbClr val="142030"/>
                </a:solidFill>
                <a:latin typeface="Aptos"/>
              </a:rPr>
              <a:t>Dashboard outputs support thesis discussion and live defense.</a:t>
            </a:r>
          </a:p>
        </p:txBody>
      </p:sp>
      <p:pic>
        <p:nvPicPr>
          <p:cNvPr id="108" name="dashboardBaselineFigur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7406640" y="3767328"/>
            <a:ext cx="3383280" cy="16276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115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Live Dashboard Demonstration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658368" y="1234440"/>
            <a:ext cx="5074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Open during the defense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749808" y="1664208"/>
            <a:ext cx="5029200" cy="731520"/>
          </a:xfrm>
          <a:prstGeom prst="rect">
            <a:avLst/>
          </a:prstGeom>
          <a:solidFill>
            <a:srgbClr val="E8F2FA"/>
          </a:solidFill>
          <a:ln w="9525">
            <a:solidFill>
              <a:srgbClr val="004A8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800" b="0">
                <a:solidFill>
                  <a:srgbClr val="142030"/>
                </a:solidFill>
                <a:latin typeface="Aptos"/>
              </a:rPr>
              <a:t>Dashboard link</a:t>
            </a:r>
          </a:p>
          <a:p>
            <a:pPr algn="l"/>
            <a:r>
              <a:rPr lang="en-US" sz="1800" b="0">
                <a:solidFill>
                  <a:srgbClr val="142030"/>
                </a:solidFill>
                <a:latin typeface="Aptos"/>
              </a:rPr>
              <a:t>https://hiv-model.onrender.com/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768096" y="2788920"/>
            <a:ext cx="5120640" cy="1645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Run the baseline simulation.</a:t>
            </a:r>
          </a:p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Show the final state summary and interpretation.</a:t>
            </a:r>
          </a:p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Compare no intervention with combined intervention.</a:t>
            </a:r>
          </a:p>
          <a:p>
            <a:pPr algn="l">
              <a:buChar char="•"/>
              <a:buFont typeface="Arial"/>
            </a:pPr>
            <a:r>
              <a:rPr lang="en-US" sz="1600" b="0">
                <a:solidFill>
                  <a:srgbClr val="142030"/>
                </a:solidFill>
                <a:latin typeface="Aptos"/>
              </a:rPr>
              <a:t>Change q to show the fractional memory effect.</a:t>
            </a:r>
          </a:p>
        </p:txBody>
      </p:sp>
      <p:pic>
        <p:nvPicPr>
          <p:cNvPr id="114" name="dashboardBaselineFigur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583680" y="1417320"/>
            <a:ext cx="4297680" cy="2331720"/>
          </a:xfrm>
          <a:prstGeom prst="rect">
            <a:avLst/>
          </a:prstGeom>
        </p:spPr>
      </p:pic>
      <p:sp>
        <p:nvSpPr>
          <p:cNvPr id="121" name="Text 121"/>
          <p:cNvSpPr txBox="1"/>
          <p:nvPr/>
        </p:nvSpPr>
        <p:spPr>
          <a:xfrm>
            <a:off x="6601968" y="4160520"/>
            <a:ext cx="4297680" cy="822960"/>
          </a:xfrm>
          <a:prstGeom prst="rect">
            <a:avLst/>
          </a:prstGeom>
          <a:solidFill>
            <a:srgbClr val="FFF7E0"/>
          </a:solidFill>
          <a:ln w="9525">
            <a:solidFill>
              <a:srgbClr val="CC990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After the demo</a:t>
            </a:r>
          </a:p>
          <a:p>
            <a:pPr algn="l"/>
            <a:r>
              <a:rPr lang="en-US" sz="1500" b="0">
                <a:solidFill>
                  <a:srgbClr val="142030"/>
                </a:solidFill>
                <a:latin typeface="Aptos"/>
              </a:rPr>
              <a:t>Return to the next slide for conclusion and recommendations.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122"/>
          <p:cNvSpPr txBox="1"/>
          <p:nvPr/>
        </p:nvSpPr>
        <p:spPr>
          <a:xfrm>
            <a:off x="502920" y="292608"/>
            <a:ext cx="100584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300" b="1">
                <a:solidFill>
                  <a:srgbClr val="0A1B30"/>
                </a:solidFill>
                <a:latin typeface="Aptos"/>
              </a:rPr>
              <a:t>Conclusion + Recommendations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502920" y="868680"/>
            <a:ext cx="1828800" cy="27432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2331720" y="868680"/>
            <a:ext cx="6949440" cy="27432"/>
          </a:xfrm>
          <a:prstGeom prst="rect">
            <a:avLst/>
          </a:prstGeom>
          <a:solidFill>
            <a:srgbClr val="007E70"/>
          </a:solidFill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2400" b="0">
                <a:solidFill>
                  <a:srgbClr val="142030"/>
                </a:solidFill>
                <a:latin typeface="Aptos"/>
              </a:rPr>
              <a:t/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658368" y="1234440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Conclusion</a:t>
            </a:r>
          </a:p>
        </p:txBody>
      </p:sp>
      <p:sp>
        <p:nvSpPr>
          <p:cNvPr id="126" name="Text 126"/>
          <p:cNvSpPr txBox="1"/>
          <p:nvPr/>
        </p:nvSpPr>
        <p:spPr>
          <a:xfrm>
            <a:off x="713232" y="1627632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The SITA HIV model was extended using fractional memory.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Behavioural interventions were represented through effective rates.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Numerical simulations support combined intervention strategies.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6080760" y="12344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500" b="1">
                <a:solidFill>
                  <a:srgbClr val="CC9900"/>
                </a:solidFill>
                <a:latin typeface="Aptos"/>
              </a:rPr>
              <a:t>Recommendations</a:t>
            </a:r>
          </a:p>
        </p:txBody>
      </p:sp>
      <p:sp>
        <p:nvSpPr>
          <p:cNvPr id="128" name="Text 128"/>
          <p:cNvSpPr txBox="1"/>
          <p:nvPr/>
        </p:nvSpPr>
        <p:spPr>
          <a:xfrm>
            <a:off x="6144768" y="1627632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Calibrate parameters with Rwanda-specific data.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Extend the model using age, gender, or stochastic structure.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Compare other fractional operators.</a:t>
            </a:r>
          </a:p>
          <a:p>
            <a:pPr algn="l">
              <a:buChar char="•"/>
              <a:buFont typeface="Arial"/>
            </a:pPr>
            <a:r>
              <a:rPr lang="en-US" sz="1800" b="0">
                <a:solidFill>
                  <a:srgbClr val="142030"/>
                </a:solidFill>
                <a:latin typeface="Aptos"/>
              </a:rPr>
              <a:t>Improve the dashboard into an educational decision-support tool.</a:t>
            </a:r>
          </a:p>
        </p:txBody>
      </p:sp>
      <p:sp>
        <p:nvSpPr>
          <p:cNvPr id="129" name="Text 129"/>
          <p:cNvSpPr txBox="1"/>
          <p:nvPr/>
        </p:nvSpPr>
        <p:spPr>
          <a:xfrm>
            <a:off x="868680" y="5349240"/>
            <a:ext cx="10195560" cy="640080"/>
          </a:xfrm>
          <a:prstGeom prst="rect">
            <a:avLst/>
          </a:prstGeom>
          <a:solidFill>
            <a:srgbClr val="E6F7F4"/>
          </a:solidFill>
          <a:ln w="9525">
            <a:solidFill>
              <a:srgbClr val="007E70"/>
            </a:solidFill>
          </a:ln>
        </p:spPr>
        <p:txBody>
          <a:bodyPr wrap="square" lIns="91440" rIns="91440" tIns="45720" bIns="45720">
            <a:normAutofit fontScale="85000" lnSpcReduction="20000"/>
          </a:bodyPr>
          <a:lstStyle/>
          <a:p>
            <a:pPr algn="l"/>
            <a:r>
              <a:rPr lang="en-US" sz="1700" b="0">
                <a:solidFill>
                  <a:srgbClr val="142030"/>
                </a:solidFill>
                <a:latin typeface="Aptos"/>
              </a:rPr>
              <a:t>Final message: the work connects mathematical analysis, numerical simulation, and a working dashboard for communicating HIV intervention dynamics.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TA Professional">
  <a:themeElements>
    <a:clrScheme name="SITA">
      <a:dk1>
        <a:srgbClr val="0A1B30"/>
      </a:dk1>
      <a:lt1>
        <a:srgbClr val="FFFFFF"/>
      </a:lt1>
      <a:dk2>
        <a:srgbClr val="142030"/>
      </a:dk2>
      <a:lt2>
        <a:srgbClr val="F7FAFC"/>
      </a:lt2>
      <a:accent1>
        <a:srgbClr val="007E70"/>
      </a:accent1>
      <a:accent2>
        <a:srgbClr val="CC9900"/>
      </a:accent2>
      <a:accent3>
        <a:srgbClr val="004A80"/>
      </a:accent3>
      <a:accent4>
        <a:srgbClr val="B44146"/>
      </a:accent4>
      <a:accent5>
        <a:srgbClr val="7A8794"/>
      </a:accent5>
      <a:accent6>
        <a:srgbClr val="C7D5E1"/>
      </a:accent6>
      <a:hlink>
        <a:srgbClr val="004A80"/>
      </a:hlink>
      <a:folHlink>
        <a:srgbClr val="007E70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Clean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WPS Presentation</Application>
  <PresentationFormat>On-screen Show (16:9)</PresentationFormat>
  <Slides>14</Slides>
  <Company>University of Rwanda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Fractional-Order Compartmental Model of HIV Transmission with Social Behaviour Interventions</dc:title>
  <dc:creator>NDACYAYISABA Lambert</dc:creator>
  <cp:lastModifiedBy>Codex</cp:lastModifiedBy>
  <dcterms:created xsi:type="dcterms:W3CDTF">2026-06-11T00:00:00Z</dcterms:created>
  <dcterms:modified xsi:type="dcterms:W3CDTF">2026-06-11T00:00:00Z</dcterms:modified>
</cp:coreProperties>
</file>