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4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1999" cy="68580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/>
</file>

<file path=ppt/_rels/presentation.xml.rels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Master" Target="slideMasters/slideMaster1.xml"/><Relationship Id="rId15" Type="http://schemas.openxmlformats.org/officeDocument/2006/relationships/theme" Target="theme/theme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ableStyles" Target="tableStyles.xml"/></Relationships>
</file>

<file path=ppt/slideLayouts/_rels/slideLayout1.xml.rels>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i_cover_background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pic>
        <p:nvPicPr>
          <p:cNvPr id="3" name="logo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731520" cy="731520"/>
          </a:xfrm>
          <a:prstGeom prst="rect">
            <a:avLst/>
          </a:prstGeom>
        </p:spPr>
      </p:pic>
      <p:sp>
        <p:nvSpPr>
          <p:cNvPr id="4" name="Text 4"/>
          <p:cNvSpPr txBox="1"/>
          <p:nvPr/>
        </p:nvSpPr>
        <p:spPr>
          <a:xfrm>
            <a:off x="8046720" y="438912"/>
            <a:ext cx="3566160" cy="5029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r"/>
            <a:r>
              <a:rPr lang="en-US" sz="1200" b="0">
                <a:solidFill>
                  <a:srgbClr val="FFFFFF"/>
                </a:solidFill>
                <a:latin typeface="Aptos"/>
              </a:rPr>
              <a:t>University of Rwanda</a:t>
            </a:r>
          </a:p>
          <a:p>
            <a:pPr algn="r"/>
            <a:r>
              <a:rPr lang="en-US" sz="1200" b="0">
                <a:solidFill>
                  <a:srgbClr val="FFFFFF"/>
                </a:solidFill>
                <a:latin typeface="Aptos"/>
              </a:rPr>
              <a:t>College of Science and Technology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30352" y="1664208"/>
            <a:ext cx="6812280" cy="3383280"/>
          </a:xfrm>
          <a:prstGeom prst="rect">
            <a:avLst/>
          </a:prstGeom>
          <a:solidFill>
            <a:srgbClr val="0A1B3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6" name="Text 6"/>
          <p:cNvSpPr txBox="1"/>
          <p:nvPr/>
        </p:nvSpPr>
        <p:spPr>
          <a:xfrm>
            <a:off x="749808" y="1901952"/>
            <a:ext cx="6400800" cy="12984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3200" b="1">
                <a:solidFill>
                  <a:srgbClr val="FFFFFF"/>
                </a:solidFill>
                <a:latin typeface="Aptos"/>
              </a:rPr>
              <a:t>Fractional-Order</a:t>
            </a:r>
          </a:p>
          <a:p>
            <a:pPr algn="l"/>
            <a:r>
              <a:rPr lang="en-US" sz="3200" b="1">
                <a:solidFill>
                  <a:srgbClr val="FFFFFF"/>
                </a:solidFill>
                <a:latin typeface="Aptos"/>
              </a:rPr>
              <a:t>HIV SITA Model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786384" y="3310128"/>
            <a:ext cx="6263640" cy="5029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FFFFFF"/>
                </a:solidFill>
                <a:latin typeface="Aptos"/>
              </a:rPr>
              <a:t>Social Behaviour Interventions and Memory Effects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786384" y="4069080"/>
            <a:ext cx="5303520" cy="74980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NDACYAYISABA Lambert</a:t>
            </a:r>
          </a:p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Supervisor: Dr. MUHIRWA Jean Pierre</a:t>
            </a:r>
          </a:p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Kigali, Rwanda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86384" y="5010912"/>
            <a:ext cx="3429000" cy="36576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0" name="Text 10"/>
          <p:cNvSpPr txBox="1"/>
          <p:nvPr/>
        </p:nvSpPr>
        <p:spPr>
          <a:xfrm>
            <a:off x="4315968" y="5010912"/>
            <a:ext cx="2743200" cy="36576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11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Background / Motivation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3" name="Text 13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58368" y="1261872"/>
            <a:ext cx="566928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Rwanda-aware public-health motivation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749808" y="1664208"/>
            <a:ext cx="5623560" cy="20574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HIV transmission is shaped by biology, treatment access, and social behaviour.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Awareness, safer behaviour, testing, treatment-seeking, and adherence can change long-term outcomes.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In Rwanda, prevention and adherence support remain important alongside treatment progress.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41248" y="4224528"/>
            <a:ext cx="5303520" cy="8686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Why mathematics?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A model gives a controlled way to compare intervention strategies and understand possible long-term behaviour.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6720840" y="1234440"/>
            <a:ext cx="3474720" cy="502920"/>
          </a:xfrm>
          <a:prstGeom prst="rect">
            <a:avLst/>
          </a:prstGeom>
          <a:solidFill>
            <a:srgbClr val="004A8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Context: HIV in Rwanda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6720840" y="1965960"/>
            <a:ext cx="3474720" cy="50292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Mechanism: Behaviour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6720840" y="2697480"/>
            <a:ext cx="3474720" cy="50292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Method: Fractional memory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6720840" y="3429000"/>
            <a:ext cx="3474720" cy="502920"/>
          </a:xfrm>
          <a:prstGeom prst="rect">
            <a:avLst/>
          </a:prstGeom>
          <a:solidFill>
            <a:srgbClr val="B44146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1">
                <a:solidFill>
                  <a:srgbClr val="FFFFFF"/>
                </a:solidFill>
                <a:latin typeface="Aptos"/>
              </a:rPr>
              <a:t>Output: Simulation evidence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21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Problem Statement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23" name="Text 23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24" name="Text 24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Limitations in ordinary modelling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713232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Ordinary models usually depend only on the present state.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HIV-related behaviour may depend on past awareness, stigma, testing history, and adherence.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Social behaviour is often simplified into fixed rates.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6080760" y="123444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Need addressed by this project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6144768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Include memory using a Caputo fractional derivative.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Represent behavioural interventions through effective rates.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Use numerical simulation to compare scenarios clearly.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68680" y="5349240"/>
            <a:ext cx="10195560" cy="6400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Research focus: How do fractional memory and social behaviour interventions affect simulated HIV dynamics in a SITA framework?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 29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Objectives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31" name="Text 31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32" name="Text 32"/>
          <p:cNvSpPr txBox="1"/>
          <p:nvPr/>
        </p:nvSpPr>
        <p:spPr>
          <a:xfrm>
            <a:off x="685800" y="1207008"/>
            <a:ext cx="521208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Main objective</a:t>
            </a:r>
          </a:p>
        </p:txBody>
      </p:sp>
      <p:sp>
        <p:nvSpPr>
          <p:cNvPr id="33" name="Text 33"/>
          <p:cNvSpPr txBox="1"/>
          <p:nvPr/>
        </p:nvSpPr>
        <p:spPr>
          <a:xfrm>
            <a:off x="713232" y="1627632"/>
            <a:ext cx="5257800" cy="86868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800" b="0">
                <a:solidFill>
                  <a:srgbClr val="142030"/>
                </a:solidFill>
                <a:latin typeface="Aptos"/>
              </a:rPr>
              <a:t>To formulate, analyse, and simulate a fractional-order SITA HIV transmission model incorporating social behaviour interventions.</a:t>
            </a:r>
          </a:p>
        </p:txBody>
      </p:sp>
      <p:sp>
        <p:nvSpPr>
          <p:cNvPr id="34" name="Text 34"/>
          <p:cNvSpPr txBox="1"/>
          <p:nvPr/>
        </p:nvSpPr>
        <p:spPr>
          <a:xfrm>
            <a:off x="685800" y="2788920"/>
            <a:ext cx="5212080" cy="347472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Specific objectives</a:t>
            </a:r>
          </a:p>
        </p:txBody>
      </p:sp>
      <p:sp>
        <p:nvSpPr>
          <p:cNvPr id="35" name="Text 35"/>
          <p:cNvSpPr txBox="1"/>
          <p:nvPr/>
        </p:nvSpPr>
        <p:spPr>
          <a:xfrm>
            <a:off x="768096" y="3182112"/>
            <a:ext cx="5303520" cy="19659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Formulate the SITA model with Caputo derivative.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Derive threshold quantities including R0.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Establish core analytical properties.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Implement a numerical simulation scheme.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Compare interventions, memory effects, and sensitivity.</a:t>
            </a:r>
          </a:p>
        </p:txBody>
      </p:sp>
      <p:sp>
        <p:nvSpPr>
          <p:cNvPr id="36" name="Text 36"/>
          <p:cNvSpPr txBox="1"/>
          <p:nvPr/>
        </p:nvSpPr>
        <p:spPr>
          <a:xfrm>
            <a:off x="6629400" y="1325880"/>
            <a:ext cx="3474720" cy="50292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700" b="1">
                <a:solidFill>
                  <a:srgbClr val="142030"/>
                </a:solidFill>
                <a:latin typeface="Aptos"/>
              </a:rPr>
              <a:t>Model formulation</a:t>
            </a:r>
          </a:p>
        </p:txBody>
      </p:sp>
      <p:sp>
        <p:nvSpPr>
          <p:cNvPr id="37" name="Text 37"/>
          <p:cNvSpPr txBox="1"/>
          <p:nvPr/>
        </p:nvSpPr>
        <p:spPr>
          <a:xfrm>
            <a:off x="6629400" y="2148840"/>
            <a:ext cx="3474720" cy="50292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700" b="1">
                <a:solidFill>
                  <a:srgbClr val="142030"/>
                </a:solidFill>
                <a:latin typeface="Aptos"/>
              </a:rPr>
              <a:t>Mathematical analysis</a:t>
            </a:r>
          </a:p>
        </p:txBody>
      </p:sp>
      <p:sp>
        <p:nvSpPr>
          <p:cNvPr id="38" name="Text 38"/>
          <p:cNvSpPr txBox="1"/>
          <p:nvPr/>
        </p:nvSpPr>
        <p:spPr>
          <a:xfrm>
            <a:off x="6629400" y="2971800"/>
            <a:ext cx="3474720" cy="50292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700" b="1">
                <a:solidFill>
                  <a:srgbClr val="142030"/>
                </a:solidFill>
                <a:latin typeface="Aptos"/>
              </a:rPr>
              <a:t>Numerical simulation</a:t>
            </a:r>
          </a:p>
        </p:txBody>
      </p:sp>
      <p:sp>
        <p:nvSpPr>
          <p:cNvPr id="39" name="Text 39"/>
          <p:cNvSpPr txBox="1"/>
          <p:nvPr/>
        </p:nvSpPr>
        <p:spPr>
          <a:xfrm>
            <a:off x="6629400" y="3794760"/>
            <a:ext cx="34747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B44146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700" b="1">
                <a:solidFill>
                  <a:srgbClr val="142030"/>
                </a:solidFill>
                <a:latin typeface="Aptos"/>
              </a:rPr>
              <a:t>Results interpretation</a:t>
            </a:r>
          </a:p>
        </p:txBody>
      </p:sp>
      <p:cxnSp>
        <p:nvCxnSpPr>
          <p:cNvPr id="40" name="Arrow 40"/>
          <p:cNvCxnSpPr/>
          <p:nvPr/>
        </p:nvCxnSpPr>
        <p:spPr>
          <a:xfrm>
            <a:off x="8366760" y="1828800"/>
            <a:ext cx="0" cy="320040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Arrow 41"/>
          <p:cNvCxnSpPr/>
          <p:nvPr/>
        </p:nvCxnSpPr>
        <p:spPr>
          <a:xfrm>
            <a:off x="8366760" y="2651760"/>
            <a:ext cx="0" cy="320040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Arrow 42"/>
          <p:cNvCxnSpPr/>
          <p:nvPr/>
        </p:nvCxnSpPr>
        <p:spPr>
          <a:xfrm>
            <a:off x="8366760" y="3474720"/>
            <a:ext cx="0" cy="320040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 43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Model Diagram: SITA</a:t>
            </a:r>
          </a:p>
        </p:txBody>
      </p:sp>
      <p:sp>
        <p:nvSpPr>
          <p:cNvPr id="44" name="Text 44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45" name="Text 45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46" name="S(t)"/>
          <p:cNvSpPr/>
          <p:nvPr/>
        </p:nvSpPr>
        <p:spPr>
          <a:xfrm>
            <a:off x="749808" y="1856231"/>
            <a:ext cx="1691640" cy="713232"/>
          </a:xfrm>
          <a:prstGeom prst="roundRect">
            <a:avLst/>
          </a:prstGeom>
          <a:solidFill>
            <a:srgbClr val="E8F2FA"/>
          </a:solidFill>
          <a:ln w="12700">
            <a:solidFill>
              <a:srgbClr val="004A8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004A80"/>
                </a:solidFill>
                <a:latin typeface="Aptos Display"/>
              </a:rPr>
              <a:t>S(t)</a:t>
            </a:r>
          </a:p>
          <a:p>
            <a:pPr algn="ctr"/>
            <a:r>
              <a:rPr lang="en-US" sz="1500" b="1">
                <a:solidFill>
                  <a:srgbClr val="004A80"/>
                </a:solidFill>
                <a:latin typeface="Aptos"/>
              </a:rPr>
              <a:t>Susceptible</a:t>
            </a:r>
          </a:p>
        </p:txBody>
      </p:sp>
      <p:sp>
        <p:nvSpPr>
          <p:cNvPr id="47" name="I(t)"/>
          <p:cNvSpPr/>
          <p:nvPr/>
        </p:nvSpPr>
        <p:spPr>
          <a:xfrm>
            <a:off x="3246120" y="1856231"/>
            <a:ext cx="169164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44146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B44146"/>
                </a:solidFill>
                <a:latin typeface="Aptos Display"/>
              </a:rPr>
              <a:t>I(t)</a:t>
            </a:r>
          </a:p>
          <a:p>
            <a:pPr algn="ctr"/>
            <a:r>
              <a:rPr lang="en-US" sz="1500" b="1">
                <a:solidFill>
                  <a:srgbClr val="B44146"/>
                </a:solidFill>
                <a:latin typeface="Aptos"/>
              </a:rPr>
              <a:t>Infected</a:t>
            </a:r>
          </a:p>
        </p:txBody>
      </p:sp>
      <p:sp>
        <p:nvSpPr>
          <p:cNvPr id="48" name="T(t)"/>
          <p:cNvSpPr/>
          <p:nvPr/>
        </p:nvSpPr>
        <p:spPr>
          <a:xfrm>
            <a:off x="5742432" y="1856231"/>
            <a:ext cx="1691640" cy="713232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CC990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CC9900"/>
                </a:solidFill>
                <a:latin typeface="Aptos Display"/>
              </a:rPr>
              <a:t>T(t)</a:t>
            </a:r>
          </a:p>
          <a:p>
            <a:pPr algn="ctr"/>
            <a:r>
              <a:rPr lang="en-US" sz="1500" b="1">
                <a:solidFill>
                  <a:srgbClr val="CC9900"/>
                </a:solidFill>
                <a:latin typeface="Aptos"/>
              </a:rPr>
              <a:t>Treated</a:t>
            </a:r>
          </a:p>
        </p:txBody>
      </p:sp>
      <p:sp>
        <p:nvSpPr>
          <p:cNvPr id="49" name="A(t)"/>
          <p:cNvSpPr/>
          <p:nvPr/>
        </p:nvSpPr>
        <p:spPr>
          <a:xfrm>
            <a:off x="8247888" y="1856231"/>
            <a:ext cx="1691640" cy="713232"/>
          </a:xfrm>
          <a:prstGeom prst="roundRect">
            <a:avLst/>
          </a:prstGeom>
          <a:solidFill>
            <a:srgbClr val="E6F7F4"/>
          </a:solidFill>
          <a:ln w="12700">
            <a:solidFill>
              <a:srgbClr val="007E70"/>
            </a:solidFill>
          </a:ln>
        </p:spPr>
        <p:txBody>
          <a:bodyPr wrap="square" anchor="mid" lIns="91440" rIns="91440" tIns="45720" bIns="45720">
            <a:normAutofit fontScale="85000" lnSpcReduction="15000"/>
          </a:bodyPr>
          <a:lstStyle/>
          <a:p>
            <a:pPr algn="ctr"/>
            <a:r>
              <a:rPr lang="en-US" sz="2000" b="1">
                <a:solidFill>
                  <a:srgbClr val="007E70"/>
                </a:solidFill>
                <a:latin typeface="Aptos Display"/>
              </a:rPr>
              <a:t>A(t)</a:t>
            </a:r>
          </a:p>
          <a:p>
            <a:pPr algn="ctr"/>
            <a:r>
              <a:rPr lang="en-US" sz="1500" b="1">
                <a:solidFill>
                  <a:srgbClr val="007E70"/>
                </a:solidFill>
                <a:latin typeface="Aptos"/>
              </a:rPr>
              <a:t>AIDS stage</a:t>
            </a:r>
          </a:p>
        </p:txBody>
      </p:sp>
      <p:cxnSp>
        <p:nvCxnSpPr>
          <p:cNvPr id="50" name="Arrow 50"/>
          <p:cNvCxnSpPr/>
          <p:nvPr/>
        </p:nvCxnSpPr>
        <p:spPr>
          <a:xfrm>
            <a:off x="2441448" y="2212848"/>
            <a:ext cx="804671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Arrow 51"/>
          <p:cNvCxnSpPr/>
          <p:nvPr/>
        </p:nvCxnSpPr>
        <p:spPr>
          <a:xfrm>
            <a:off x="4937760" y="2212848"/>
            <a:ext cx="804671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Arrow 52"/>
          <p:cNvCxnSpPr/>
          <p:nvPr/>
        </p:nvCxnSpPr>
        <p:spPr>
          <a:xfrm>
            <a:off x="7434072" y="2212848"/>
            <a:ext cx="813815" cy="0"/>
          </a:xfrm>
          <a:prstGeom prst="line">
            <a:avLst/>
          </a:prstGeom>
          <a:ln w="19050">
            <a:solidFill>
              <a:srgbClr val="14203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 53"/>
          <p:cNvSpPr txBox="1"/>
          <p:nvPr/>
        </p:nvSpPr>
        <p:spPr>
          <a:xfrm>
            <a:off x="2267712" y="1353312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effective transmission</a:t>
            </a:r>
          </a:p>
        </p:txBody>
      </p:sp>
      <p:sp>
        <p:nvSpPr>
          <p:cNvPr id="54" name="Text 54"/>
          <p:cNvSpPr txBox="1"/>
          <p:nvPr/>
        </p:nvSpPr>
        <p:spPr>
          <a:xfrm>
            <a:off x="4700016" y="1353312"/>
            <a:ext cx="114300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testing and treatment</a:t>
            </a:r>
          </a:p>
        </p:txBody>
      </p:sp>
      <p:sp>
        <p:nvSpPr>
          <p:cNvPr id="55" name="Text 55"/>
          <p:cNvSpPr txBox="1"/>
          <p:nvPr/>
        </p:nvSpPr>
        <p:spPr>
          <a:xfrm>
            <a:off x="7059168" y="2779776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c"/>
            <a:r>
              <a:rPr lang="en-US" sz="1000" b="0">
                <a:solidFill>
                  <a:srgbClr val="52606C"/>
                </a:solidFill>
                <a:latin typeface="Aptos"/>
              </a:rPr>
              <a:t>reduced progression</a:t>
            </a:r>
          </a:p>
        </p:txBody>
      </p:sp>
      <p:sp>
        <p:nvSpPr>
          <p:cNvPr id="56" name="Text 56"/>
          <p:cNvSpPr txBox="1"/>
          <p:nvPr/>
        </p:nvSpPr>
        <p:spPr>
          <a:xfrm>
            <a:off x="914400" y="4224528"/>
            <a:ext cx="4846320" cy="96012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State variables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S susceptible, I infected, T treated, A AIDS-stage population.</a:t>
            </a:r>
          </a:p>
        </p:txBody>
      </p:sp>
      <p:sp>
        <p:nvSpPr>
          <p:cNvPr id="57" name="Text 57"/>
          <p:cNvSpPr txBox="1"/>
          <p:nvPr/>
        </p:nvSpPr>
        <p:spPr>
          <a:xfrm>
            <a:off x="6355080" y="4224528"/>
            <a:ext cx="4709160" cy="96012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Controls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u1 awareness, u2 safer behaviour, u3 testing, u4 adherence.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58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Fractional-Order Model</a:t>
            </a:r>
          </a:p>
        </p:txBody>
      </p:sp>
      <p:sp>
        <p:nvSpPr>
          <p:cNvPr id="59" name="Text 59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60" name="Text 60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61" name="Text 61"/>
          <p:cNvSpPr txBox="1"/>
          <p:nvPr/>
        </p:nvSpPr>
        <p:spPr>
          <a:xfrm>
            <a:off x="658368" y="1234440"/>
            <a:ext cx="53035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Caputo memory form</a:t>
            </a:r>
          </a:p>
        </p:txBody>
      </p:sp>
      <p:sp>
        <p:nvSpPr>
          <p:cNvPr id="62" name="Text 62"/>
          <p:cNvSpPr txBox="1"/>
          <p:nvPr/>
        </p:nvSpPr>
        <p:spPr>
          <a:xfrm>
            <a:off x="694944" y="1664208"/>
            <a:ext cx="5303520" cy="56692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1">
                <a:solidFill>
                  <a:srgbClr val="142030"/>
                </a:solidFill>
                <a:latin typeface="Aptos"/>
              </a:rPr>
              <a:t>D_C^q X(t) = F(t, X(t)),    0 &lt; q &lt;= 1</a:t>
            </a:r>
          </a:p>
        </p:txBody>
      </p:sp>
      <p:sp>
        <p:nvSpPr>
          <p:cNvPr id="63" name="Text 63"/>
          <p:cNvSpPr txBox="1"/>
          <p:nvPr/>
        </p:nvSpPr>
        <p:spPr>
          <a:xfrm>
            <a:off x="749808" y="2542032"/>
            <a:ext cx="5623560" cy="1737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D_C^q S = Lambda - beta_eff S(I + eta T) - mu S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D_C^q I = beta_eff S(I + eta T) - (tau_eff + delta + mu)I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D_C^q T = tau_eff I - (rho_eff + mu)T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D_C^q A = delta I + rho_eff T - (d + mu)A</a:t>
            </a:r>
          </a:p>
        </p:txBody>
      </p:sp>
      <p:sp>
        <p:nvSpPr>
          <p:cNvPr id="64" name="Text 64"/>
          <p:cNvSpPr txBox="1"/>
          <p:nvPr/>
        </p:nvSpPr>
        <p:spPr>
          <a:xfrm>
            <a:off x="6812280" y="1417320"/>
            <a:ext cx="4206240" cy="132588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Intervention-adjusted rates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beta_eff = beta0(1-u1)(1-u2)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tau_eff = tau(1+u3)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rho_eff = rho(1-u4)</a:t>
            </a:r>
          </a:p>
        </p:txBody>
      </p:sp>
      <p:sp>
        <p:nvSpPr>
          <p:cNvPr id="65" name="Text 65"/>
          <p:cNvSpPr txBox="1"/>
          <p:nvPr/>
        </p:nvSpPr>
        <p:spPr>
          <a:xfrm>
            <a:off x="6812280" y="3474720"/>
            <a:ext cx="4206240" cy="96012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Meaning of q</a:t>
            </a:r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q = 1 gives the ordinary model. q &lt; 1 carries memory of past states.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 66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Numerical Scheme + Implementation</a:t>
            </a:r>
          </a:p>
        </p:txBody>
      </p:sp>
      <p:sp>
        <p:nvSpPr>
          <p:cNvPr id="67" name="Text 67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68" name="Text 68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69" name="Text 69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Numerical idea</a:t>
            </a:r>
          </a:p>
        </p:txBody>
      </p:sp>
      <p:sp>
        <p:nvSpPr>
          <p:cNvPr id="70" name="Text 70"/>
          <p:cNvSpPr txBox="1"/>
          <p:nvPr/>
        </p:nvSpPr>
        <p:spPr>
          <a:xfrm>
            <a:off x="749808" y="1627632"/>
            <a:ext cx="4937760" cy="24231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Time interval is divided into discrete steps.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 predictor estimates the next state.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A corrector updates the state using fractional-memory weights.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The same engine is used for baseline, memory, intervention, and sensitivity experiments.</a:t>
            </a:r>
          </a:p>
        </p:txBody>
      </p:sp>
      <p:sp>
        <p:nvSpPr>
          <p:cNvPr id="71" name="Text 71"/>
          <p:cNvSpPr txBox="1"/>
          <p:nvPr/>
        </p:nvSpPr>
        <p:spPr>
          <a:xfrm>
            <a:off x="6355080" y="1170432"/>
            <a:ext cx="4297680" cy="749808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Inputs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parameters, initial conditions, q, controls</a:t>
            </a:r>
          </a:p>
        </p:txBody>
      </p:sp>
      <p:sp>
        <p:nvSpPr>
          <p:cNvPr id="72" name="Text 72"/>
          <p:cNvSpPr txBox="1"/>
          <p:nvPr/>
        </p:nvSpPr>
        <p:spPr>
          <a:xfrm>
            <a:off x="6355080" y="2084831"/>
            <a:ext cx="4297680" cy="749808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Solver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fractional ABM-type numerical method</a:t>
            </a:r>
          </a:p>
        </p:txBody>
      </p:sp>
      <p:sp>
        <p:nvSpPr>
          <p:cNvPr id="73" name="Text 73"/>
          <p:cNvSpPr txBox="1"/>
          <p:nvPr/>
        </p:nvSpPr>
        <p:spPr>
          <a:xfrm>
            <a:off x="6355080" y="2999232"/>
            <a:ext cx="4297680" cy="749808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Outputs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trajectories, R0, scenarios, sensitivity</a:t>
            </a:r>
          </a:p>
        </p:txBody>
      </p:sp>
      <p:sp>
        <p:nvSpPr>
          <p:cNvPr id="74" name="Text 74"/>
          <p:cNvSpPr txBox="1"/>
          <p:nvPr/>
        </p:nvSpPr>
        <p:spPr>
          <a:xfrm>
            <a:off x="6355080" y="3913632"/>
            <a:ext cx="42976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B44146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Presentation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moving graphs during the live demo</a:t>
            </a:r>
          </a:p>
        </p:txBody>
      </p:sp>
      <p:cxnSp>
        <p:nvCxnSpPr>
          <p:cNvPr id="75" name="Arrow 75"/>
          <p:cNvCxnSpPr/>
          <p:nvPr/>
        </p:nvCxnSpPr>
        <p:spPr>
          <a:xfrm>
            <a:off x="8503920" y="1920240"/>
            <a:ext cx="0" cy="164591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Arrow 76"/>
          <p:cNvCxnSpPr/>
          <p:nvPr/>
        </p:nvCxnSpPr>
        <p:spPr>
          <a:xfrm>
            <a:off x="8503920" y="2834640"/>
            <a:ext cx="0" cy="164591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Arrow 77"/>
          <p:cNvCxnSpPr/>
          <p:nvPr/>
        </p:nvCxnSpPr>
        <p:spPr>
          <a:xfrm>
            <a:off x="8503920" y="3749039"/>
            <a:ext cx="0" cy="164592"/>
          </a:xfrm>
          <a:prstGeom prst="line">
            <a:avLst/>
          </a:prstGeom>
          <a:ln w="19050">
            <a:solidFill>
              <a:srgbClr val="52606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 78"/>
          <p:cNvSpPr txBox="1"/>
          <p:nvPr/>
        </p:nvSpPr>
        <p:spPr>
          <a:xfrm>
            <a:off x="896112" y="5166360"/>
            <a:ext cx="9921240" cy="658368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Presentation link: the mathematical model is explained in the slides; moving graphs are shown separately during the live demonstration.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 80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Baseline Simulation Result</a:t>
            </a:r>
          </a:p>
        </p:txBody>
      </p:sp>
      <p:sp>
        <p:nvSpPr>
          <p:cNvPr id="81" name="Text 81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82" name="Text 82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79" name="mainChartlinear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40080" y="1261872"/>
            <a:ext cx="6309360" cy="4251960"/>
          </a:xfrm>
          <a:prstGeom prst="rect">
            <a:avLst/>
          </a:prstGeom>
        </p:spPr>
      </p:pic>
      <p:sp>
        <p:nvSpPr>
          <p:cNvPr id="83" name="Text 83"/>
          <p:cNvSpPr txBox="1"/>
          <p:nvPr/>
        </p:nvSpPr>
        <p:spPr>
          <a:xfrm>
            <a:off x="7360920" y="123444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Computed baseline</a:t>
            </a:r>
          </a:p>
        </p:txBody>
      </p:sp>
      <p:sp>
        <p:nvSpPr>
          <p:cNvPr id="84" name="Text 84"/>
          <p:cNvSpPr txBox="1"/>
          <p:nvPr/>
        </p:nvSpPr>
        <p:spPr>
          <a:xfrm>
            <a:off x="7406640" y="1627632"/>
            <a:ext cx="3566160" cy="12344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R0 = 0.430, below the epidemic threshold.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Peak infected population is 150 at t = 0 years.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Final values after 50 years: I = 3.1, T = 94.3, A = 3.6.</a:t>
            </a:r>
          </a:p>
        </p:txBody>
      </p:sp>
      <p:sp>
        <p:nvSpPr>
          <p:cNvPr id="85" name="Text 85"/>
          <p:cNvSpPr txBox="1"/>
          <p:nvPr/>
        </p:nvSpPr>
        <p:spPr>
          <a:xfrm>
            <a:off x="7360920" y="3310128"/>
            <a:ext cx="3657600" cy="1024128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Interpretation</a:t>
            </a:r>
          </a:p>
          <a:p>
            <a:pPr algn="l"/>
            <a:r>
              <a:rPr lang="en-US" sz="1400" b="0">
                <a:solidFill>
                  <a:srgbClr val="142030"/>
                </a:solidFill>
                <a:latin typeface="Aptos"/>
              </a:rPr>
              <a:t>The baseline intervention-adjusted configuration leads toward disease-free behaviour in the simulation.</a:t>
            </a:r>
          </a:p>
        </p:txBody>
      </p:sp>
      <p:sp>
        <p:nvSpPr>
          <p:cNvPr id="86" name="Text 86"/>
          <p:cNvSpPr txBox="1"/>
          <p:nvPr/>
        </p:nvSpPr>
        <p:spPr>
          <a:xfrm>
            <a:off x="7360920" y="4645152"/>
            <a:ext cx="3657600" cy="694944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Defense point</a:t>
            </a:r>
          </a:p>
          <a:p>
            <a:pPr algn="l"/>
            <a:r>
              <a:rPr lang="en-US" sz="1300" b="0">
                <a:solidFill>
                  <a:srgbClr val="142030"/>
                </a:solidFill>
                <a:latin typeface="Aptos"/>
              </a:rPr>
              <a:t>These numbers come from the Python simulation engine and match the dashboard summary table.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88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Simulation Results: Intervention Comparison</a:t>
            </a:r>
          </a:p>
        </p:txBody>
      </p:sp>
      <p:sp>
        <p:nvSpPr>
          <p:cNvPr id="89" name="Text 89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90" name="Text 90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87" name="combinedInterventionsChart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" y="1298448"/>
            <a:ext cx="6217920" cy="4206240"/>
          </a:xfrm>
          <a:prstGeom prst="rect">
            <a:avLst/>
          </a:prstGeom>
        </p:spPr>
      </p:pic>
      <p:sp>
        <p:nvSpPr>
          <p:cNvPr id="91" name="Text 91"/>
          <p:cNvSpPr txBox="1"/>
          <p:nvPr/>
        </p:nvSpPr>
        <p:spPr>
          <a:xfrm>
            <a:off x="7360920" y="13258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Main interpretation</a:t>
            </a:r>
          </a:p>
        </p:txBody>
      </p:sp>
      <p:sp>
        <p:nvSpPr>
          <p:cNvPr id="92" name="Text 92"/>
          <p:cNvSpPr txBox="1"/>
          <p:nvPr/>
        </p:nvSpPr>
        <p:spPr>
          <a:xfrm>
            <a:off x="7406640" y="1719072"/>
            <a:ext cx="3520440" cy="19202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Single interventions help, but each targets only one mechanism.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Combined intervention acts on transmission, treatment uptake, and progression.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The combined strategy gives stronger simulated control than isolated changes.</a:t>
            </a:r>
          </a:p>
        </p:txBody>
      </p:sp>
      <p:sp>
        <p:nvSpPr>
          <p:cNvPr id="93" name="Text 93"/>
          <p:cNvSpPr txBox="1"/>
          <p:nvPr/>
        </p:nvSpPr>
        <p:spPr>
          <a:xfrm>
            <a:off x="7360920" y="4133087"/>
            <a:ext cx="3611880" cy="8686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Public-health meaning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Prevention and treatment support should work together.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 95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Simulation Results: Fractional Memory</a:t>
            </a:r>
          </a:p>
        </p:txBody>
      </p:sp>
      <p:sp>
        <p:nvSpPr>
          <p:cNvPr id="96" name="Text 96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97" name="Text 97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94" name="memoryChart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" y="1298448"/>
            <a:ext cx="6217920" cy="4206240"/>
          </a:xfrm>
          <a:prstGeom prst="rect">
            <a:avLst/>
          </a:prstGeom>
        </p:spPr>
      </p:pic>
      <p:sp>
        <p:nvSpPr>
          <p:cNvPr id="98" name="Text 98"/>
          <p:cNvSpPr txBox="1"/>
          <p:nvPr/>
        </p:nvSpPr>
        <p:spPr>
          <a:xfrm>
            <a:off x="7360920" y="13258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Why q matters</a:t>
            </a:r>
          </a:p>
        </p:txBody>
      </p:sp>
      <p:sp>
        <p:nvSpPr>
          <p:cNvPr id="99" name="Text 99"/>
          <p:cNvSpPr txBox="1"/>
          <p:nvPr/>
        </p:nvSpPr>
        <p:spPr>
          <a:xfrm>
            <a:off x="7406640" y="1719072"/>
            <a:ext cx="3520440" cy="16916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q = 1 represents the ordinary model.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Smaller q values strengthen the memory effect.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Different q values produce visibly different trajectories.</a:t>
            </a:r>
          </a:p>
        </p:txBody>
      </p:sp>
      <p:sp>
        <p:nvSpPr>
          <p:cNvPr id="100" name="Text 100"/>
          <p:cNvSpPr txBox="1"/>
          <p:nvPr/>
        </p:nvSpPr>
        <p:spPr>
          <a:xfrm>
            <a:off x="7360920" y="4005072"/>
            <a:ext cx="3611880" cy="91440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Defense point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Fractional calculus is not decorative; it changes the simulated dynamics.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 103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Dashboard and Sensitivity Evidence</a:t>
            </a:r>
          </a:p>
        </p:txBody>
      </p:sp>
      <p:sp>
        <p:nvSpPr>
          <p:cNvPr id="104" name="Text 104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05" name="Text 105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pic>
        <p:nvPicPr>
          <p:cNvPr id="101" name="sensitivityChart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" y="1298448"/>
            <a:ext cx="6217920" cy="4206240"/>
          </a:xfrm>
          <a:prstGeom prst="rect">
            <a:avLst/>
          </a:prstGeom>
        </p:spPr>
      </p:pic>
      <p:sp>
        <p:nvSpPr>
          <p:cNvPr id="106" name="Text 106"/>
          <p:cNvSpPr txBox="1"/>
          <p:nvPr/>
        </p:nvSpPr>
        <p:spPr>
          <a:xfrm>
            <a:off x="7360920" y="13258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Main evidence</a:t>
            </a:r>
          </a:p>
        </p:txBody>
      </p:sp>
      <p:sp>
        <p:nvSpPr>
          <p:cNvPr id="107" name="Text 107"/>
          <p:cNvSpPr txBox="1"/>
          <p:nvPr/>
        </p:nvSpPr>
        <p:spPr>
          <a:xfrm>
            <a:off x="7406640" y="1719072"/>
            <a:ext cx="3520440" cy="160020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Transmission-related quantities dominate R0 sensitivity.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Safer behaviour and awareness reduce R0 strongly.</a:t>
            </a:r>
          </a:p>
          <a:p>
            <a:pPr algn="l">
              <a:buChar char="•"/>
              <a:buFont typeface="Arial"/>
            </a:pPr>
            <a:r>
              <a:rPr lang="en-US" sz="1500" b="0">
                <a:solidFill>
                  <a:srgbClr val="142030"/>
                </a:solidFill>
                <a:latin typeface="Aptos"/>
              </a:rPr>
              <a:t>Dashboard outputs support thesis discussion and live defense.</a:t>
            </a:r>
          </a:p>
        </p:txBody>
      </p:sp>
      <p:pic>
        <p:nvPicPr>
          <p:cNvPr id="102" name="dashboardBaselineFigure.png"/>
          <p:cNvPicPr/>
          <p:nvPr/>
        </p:nvPicPr>
        <p:blipFill>
          <a:blip r:embed="rId3"/>
          <a:stretch>
            <a:fillRect/>
          </a:stretch>
        </p:blipFill>
        <p:spPr>
          <a:xfrm>
            <a:off x="7406640" y="3767328"/>
            <a:ext cx="3383280" cy="162763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 109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Live Dashboard Demonstration</a:t>
            </a:r>
          </a:p>
        </p:txBody>
      </p:sp>
      <p:sp>
        <p:nvSpPr>
          <p:cNvPr id="110" name="Text 110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11" name="Text 111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12" name="Text 112"/>
          <p:cNvSpPr txBox="1"/>
          <p:nvPr/>
        </p:nvSpPr>
        <p:spPr>
          <a:xfrm>
            <a:off x="658368" y="1234440"/>
            <a:ext cx="507492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Open during the defense</a:t>
            </a:r>
          </a:p>
        </p:txBody>
      </p:sp>
      <p:sp>
        <p:nvSpPr>
          <p:cNvPr id="113" name="Text 113"/>
          <p:cNvSpPr txBox="1"/>
          <p:nvPr/>
        </p:nvSpPr>
        <p:spPr>
          <a:xfrm>
            <a:off x="749808" y="1664208"/>
            <a:ext cx="5029200" cy="731520"/>
          </a:xfrm>
          <a:prstGeom prst="rect">
            <a:avLst/>
          </a:prstGeom>
          <a:solidFill>
            <a:srgbClr val="E8F2FA"/>
          </a:solidFill>
          <a:ln w="9525">
            <a:solidFill>
              <a:srgbClr val="004A8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800" b="0">
                <a:solidFill>
                  <a:srgbClr val="142030"/>
                </a:solidFill>
                <a:latin typeface="Aptos"/>
              </a:rPr>
              <a:t>Dashboard link</a:t>
            </a:r>
          </a:p>
          <a:p>
            <a:pPr algn="l"/>
            <a:r>
              <a:rPr lang="en-US" sz="1800" b="0">
                <a:solidFill>
                  <a:srgbClr val="142030"/>
                </a:solidFill>
                <a:latin typeface="Aptos"/>
              </a:rPr>
              <a:t>https://hiv-model.onrender.com/</a:t>
            </a:r>
          </a:p>
        </p:txBody>
      </p:sp>
      <p:sp>
        <p:nvSpPr>
          <p:cNvPr id="114" name="Text 114"/>
          <p:cNvSpPr txBox="1"/>
          <p:nvPr/>
        </p:nvSpPr>
        <p:spPr>
          <a:xfrm>
            <a:off x="768096" y="2788920"/>
            <a:ext cx="5120640" cy="164592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Run the baseline simulation.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Show the final state summary and interpretation.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Compare no intervention with combined intervention.</a:t>
            </a:r>
          </a:p>
          <a:p>
            <a:pPr algn="l">
              <a:buChar char="•"/>
              <a:buFont typeface="Arial"/>
            </a:pPr>
            <a:r>
              <a:rPr lang="en-US" sz="1600" b="0">
                <a:solidFill>
                  <a:srgbClr val="142030"/>
                </a:solidFill>
                <a:latin typeface="Aptos"/>
              </a:rPr>
              <a:t>Change q to show the fractional memory effect.</a:t>
            </a:r>
          </a:p>
        </p:txBody>
      </p:sp>
      <p:pic>
        <p:nvPicPr>
          <p:cNvPr id="108" name="dashboardBaselineFigure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583680" y="1417320"/>
            <a:ext cx="4297680" cy="2331720"/>
          </a:xfrm>
          <a:prstGeom prst="rect">
            <a:avLst/>
          </a:prstGeom>
        </p:spPr>
      </p:pic>
      <p:sp>
        <p:nvSpPr>
          <p:cNvPr id="115" name="Text 115"/>
          <p:cNvSpPr txBox="1"/>
          <p:nvPr/>
        </p:nvSpPr>
        <p:spPr>
          <a:xfrm>
            <a:off x="6601968" y="4160520"/>
            <a:ext cx="4297680" cy="822960"/>
          </a:xfrm>
          <a:prstGeom prst="rect">
            <a:avLst/>
          </a:prstGeom>
          <a:solidFill>
            <a:srgbClr val="FFF7E0"/>
          </a:solidFill>
          <a:ln w="9525">
            <a:solidFill>
              <a:srgbClr val="CC990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After the demo</a:t>
            </a:r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Return to the next slide for conclusion and recommendations.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Text 116"/>
          <p:cNvSpPr txBox="1"/>
          <p:nvPr/>
        </p:nvSpPr>
        <p:spPr>
          <a:xfrm>
            <a:off x="502920" y="29260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300" b="1">
                <a:solidFill>
                  <a:srgbClr val="0A1B30"/>
                </a:solidFill>
                <a:latin typeface="Aptos"/>
              </a:rPr>
              <a:t>Conclusion + Recommendations</a:t>
            </a:r>
          </a:p>
        </p:txBody>
      </p:sp>
      <p:sp>
        <p:nvSpPr>
          <p:cNvPr id="117" name="Text 117"/>
          <p:cNvSpPr txBox="1"/>
          <p:nvPr/>
        </p:nvSpPr>
        <p:spPr>
          <a:xfrm>
            <a:off x="502920" y="868680"/>
            <a:ext cx="1828800" cy="274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18" name="Text 118"/>
          <p:cNvSpPr txBox="1"/>
          <p:nvPr/>
        </p:nvSpPr>
        <p:spPr>
          <a:xfrm>
            <a:off x="2331720" y="868680"/>
            <a:ext cx="6949440" cy="274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2400" b="0">
                <a:solidFill>
                  <a:srgbClr val="142030"/>
                </a:solidFill>
                <a:latin typeface="Aptos"/>
              </a:rPr>
              <a:t/>
            </a:r>
          </a:p>
        </p:txBody>
      </p:sp>
      <p:sp>
        <p:nvSpPr>
          <p:cNvPr id="119" name="Text 119"/>
          <p:cNvSpPr txBox="1"/>
          <p:nvPr/>
        </p:nvSpPr>
        <p:spPr>
          <a:xfrm>
            <a:off x="658368" y="1234440"/>
            <a:ext cx="470916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Conclusion</a:t>
            </a:r>
          </a:p>
        </p:txBody>
      </p:sp>
      <p:sp>
        <p:nvSpPr>
          <p:cNvPr id="120" name="Text 120"/>
          <p:cNvSpPr txBox="1"/>
          <p:nvPr/>
        </p:nvSpPr>
        <p:spPr>
          <a:xfrm>
            <a:off x="713232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The SITA HIV model was extended using fractional memory.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Behavioural interventions were represented through effective rates.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Numerical simulations support combined intervention strategies.</a:t>
            </a:r>
          </a:p>
        </p:txBody>
      </p:sp>
      <p:sp>
        <p:nvSpPr>
          <p:cNvPr id="121" name="Text 121"/>
          <p:cNvSpPr txBox="1"/>
          <p:nvPr/>
        </p:nvSpPr>
        <p:spPr>
          <a:xfrm>
            <a:off x="6080760" y="1234440"/>
            <a:ext cx="4663440" cy="32004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Recommendations</a:t>
            </a:r>
          </a:p>
        </p:txBody>
      </p:sp>
      <p:sp>
        <p:nvSpPr>
          <p:cNvPr id="122" name="Text 122"/>
          <p:cNvSpPr txBox="1"/>
          <p:nvPr/>
        </p:nvSpPr>
        <p:spPr>
          <a:xfrm>
            <a:off x="6144768" y="1627632"/>
            <a:ext cx="4800600" cy="2880360"/>
          </a:xfrm>
          <a:prstGeom prst="rect">
            <a:avLst/>
          </a:prstGeom>
          <a:noFill/>
          <a:ln>
            <a:noFill/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Calibrate parameters with Rwanda-specific data.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Extend the model using age, gender, or stochastic structure.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Compare other fractional operators.</a:t>
            </a:r>
          </a:p>
          <a:p>
            <a:pPr algn="l">
              <a:buChar char="•"/>
              <a:buFont typeface="Arial"/>
            </a:pPr>
            <a:r>
              <a:rPr lang="en-US" sz="1800" b="0">
                <a:solidFill>
                  <a:srgbClr val="142030"/>
                </a:solidFill>
                <a:latin typeface="Aptos"/>
              </a:rPr>
              <a:t>Improve the dashboard into an educational decision-support tool.</a:t>
            </a:r>
          </a:p>
        </p:txBody>
      </p:sp>
      <p:sp>
        <p:nvSpPr>
          <p:cNvPr id="123" name="Text 123"/>
          <p:cNvSpPr txBox="1"/>
          <p:nvPr/>
        </p:nvSpPr>
        <p:spPr>
          <a:xfrm>
            <a:off x="868680" y="5349240"/>
            <a:ext cx="10195560" cy="640080"/>
          </a:xfrm>
          <a:prstGeom prst="rect">
            <a:avLst/>
          </a:prstGeom>
          <a:solidFill>
            <a:srgbClr val="E6F7F4"/>
          </a:solidFill>
          <a:ln w="9525">
            <a:solidFill>
              <a:srgbClr val="007E70"/>
            </a:solidFill>
          </a:ln>
        </p:spPr>
        <p:txBody>
          <a:bodyPr wrap="square" lIns="91440" rIns="91440" tIns="45720" bIns="45720">
            <a:normAutofit fontScale="85000" lnSpcReduction="20000"/>
          </a:bodyPr>
          <a:lstStyle/>
          <a:p>
            <a:pPr algn="l"/>
            <a:r>
              <a:rPr lang="en-US" sz="1700" b="0">
                <a:solidFill>
                  <a:srgbClr val="142030"/>
                </a:solidFill>
                <a:latin typeface="Aptos"/>
              </a:rPr>
              <a:t>Final message: the work connects mathematical analysis, numerical simulation, and a working dashboard for communicating HIV intervention dynamics.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TA Professional">
  <a:themeElements>
    <a:clrScheme name="SITA">
      <a:dk1>
        <a:srgbClr val="0A1B30"/>
      </a:dk1>
      <a:lt1>
        <a:srgbClr val="FFFFFF"/>
      </a:lt1>
      <a:dk2>
        <a:srgbClr val="142030"/>
      </a:dk2>
      <a:lt2>
        <a:srgbClr val="F7FAFC"/>
      </a:lt2>
      <a:accent1>
        <a:srgbClr val="007E70"/>
      </a:accent1>
      <a:accent2>
        <a:srgbClr val="CC9900"/>
      </a:accent2>
      <a:accent3>
        <a:srgbClr val="004A80"/>
      </a:accent3>
      <a:accent4>
        <a:srgbClr val="B44146"/>
      </a:accent4>
      <a:accent5>
        <a:srgbClr val="7A8794"/>
      </a:accent5>
      <a:accent6>
        <a:srgbClr val="C7D5E1"/>
      </a:accent6>
      <a:hlink>
        <a:srgbClr val="004A80"/>
      </a:hlink>
      <a:folHlink>
        <a:srgbClr val="007E70"/>
      </a:folHlink>
    </a:clrScheme>
    <a:fontScheme name="Aptos">
      <a:majorFont>
        <a:latin typeface="Aptos Display"/>
      </a:majorFont>
      <a:minorFont>
        <a:latin typeface="Aptos"/>
      </a:minorFont>
    </a:fontScheme>
    <a:fmtScheme name="Clean">
      <a:fillStyleLst>
        <a:solidFill>
          <a:schemeClr val="phClr"/>
        </a:solidFill>
      </a:fillStyleLst>
      <a:lnStyleLst>
        <a:ln w="1270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lt1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WPS Presentation</Application>
  <PresentationFormat>On-screen Show (16:9)</PresentationFormat>
  <Slides>13</Slides>
  <Company>University of Rwanda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Fractional-Order HIV SITA Model</dc:title>
  <dc:creator>NDACYAYISABA Lambert</dc:creator>
  <cp:lastModifiedBy>Codex</cp:lastModifiedBy>
  <dcterms:created xsi:type="dcterms:W3CDTF">2026-06-11T00:00:00Z</dcterms:created>
  <dcterms:modified xsi:type="dcterms:W3CDTF">2026-06-11T00:00:00Z</dcterms:modified>
</cp:coreProperties>
</file>