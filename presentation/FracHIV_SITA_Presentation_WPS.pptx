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755648"/>
            <a:ext cx="6446520" cy="162763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A Fractional-Order Compartmental Model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of HIV Transmission</a:t>
            </a:r>
          </a:p>
          <a:p>
            <a:pPr algn="l"/>
            <a:r>
              <a:rPr lang="en-US" sz="2500" b="1">
                <a:solidFill>
                  <a:srgbClr val="FFFFFF"/>
                </a:solidFill>
                <a:latin typeface="Aptos"/>
              </a:rPr>
              <a:t>with Social Behaviour Interventions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3474720"/>
            <a:ext cx="6263640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FFFFFF"/>
                </a:solidFill>
                <a:latin typeface="Aptos"/>
              </a:rPr>
              <a:t>Fractional SITA dynamics and dashboard simulation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 + Literature Gap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Literature gap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Classical HIV models use ODE compartments such as SICA/SITA.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Fractional models use Caputo derivatives for memory effects.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Few works combine fractional HIV dynamics, behaviour controls, and an interactive dashboard.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a fractional-order SITA model that connects memory effects, social behaviour interventions, numerical simulation, and dashboard exploration.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To formulate, analyse, and computationally simulate a fractional-order SITA model of HIV transmission incorporating social behaviour interventions.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Formulate a fractional-order SITA HIV model using the Caputo derivative and social behaviour interventions.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Analyse positivity, boundedness, disease-free equilibrium, R0, and fractional stability.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Implement simulations and a Python dashboard to study memory effects, interventions, sensitivity, and epidemic trajectories.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1508760"/>
            <a:ext cx="3474720" cy="59436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1. Model formulation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514600"/>
            <a:ext cx="3474720" cy="59436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2. Model analysis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3520440"/>
            <a:ext cx="3474720" cy="5943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600" b="1">
                <a:solidFill>
                  <a:srgbClr val="142030"/>
                </a:solidFill>
                <a:latin typeface="Aptos"/>
              </a:rPr>
              <a:t>3. Simulation dashboard</a:t>
            </a:r>
          </a:p>
        </p:txBody>
      </p:sp>
      <p:cxnSp>
        <p:nvCxnSpPr>
          <p:cNvPr id="39" name="Arrow 39"/>
          <p:cNvCxnSpPr/>
          <p:nvPr/>
        </p:nvCxnSpPr>
        <p:spPr>
          <a:xfrm>
            <a:off x="8366760" y="210312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Arrow 40"/>
          <p:cNvCxnSpPr/>
          <p:nvPr/>
        </p:nvCxnSpPr>
        <p:spPr>
          <a:xfrm>
            <a:off x="8366760" y="3108960"/>
            <a:ext cx="0" cy="41148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4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2" name="Text 4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3" name="Text 4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4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5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6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7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48" name="Arrow 48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Arrow 49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Arrow 50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 51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2" name="Text 52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 5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 and Analysis Evidence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8" name="Text 5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59" name="Text 59"/>
          <p:cNvSpPr txBox="1"/>
          <p:nvPr/>
        </p:nvSpPr>
        <p:spPr>
          <a:xfrm>
            <a:off x="658368" y="1115568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1: model formulation</a:t>
            </a:r>
          </a:p>
        </p:txBody>
      </p:sp>
      <p:sp>
        <p:nvSpPr>
          <p:cNvPr id="60" name="Text 60"/>
          <p:cNvSpPr txBox="1"/>
          <p:nvPr/>
        </p:nvSpPr>
        <p:spPr>
          <a:xfrm>
            <a:off x="694944" y="1517904"/>
            <a:ext cx="5303520" cy="43891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0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1" name="Text 61"/>
          <p:cNvSpPr txBox="1"/>
          <p:nvPr/>
        </p:nvSpPr>
        <p:spPr>
          <a:xfrm>
            <a:off x="749808" y="2130552"/>
            <a:ext cx="5623560" cy="1417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lambda(t) = beta_eff(I + eta T)/N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S = Lambda - lambda(t)S - mu 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I = lambda(t)S - (tau_eff + delta + mu)I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749808" y="3730752"/>
            <a:ext cx="5623560" cy="98755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6720840" y="1143000"/>
            <a:ext cx="43434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Objective 2: analysis completed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6720840" y="1572768"/>
            <a:ext cx="4343400" cy="676656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Positivity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Boundary derivatives are nonnegative, so S, I, T, A stay nonnegative.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6720840" y="2395728"/>
            <a:ext cx="4343400" cy="676656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Boundedness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D_C^q N = Lambda - mu N - dA &lt;= Lambda - mu N.</a:t>
            </a:r>
          </a:p>
        </p:txBody>
      </p:sp>
      <p:sp>
        <p:nvSpPr>
          <p:cNvPr id="66" name="Text 66"/>
          <p:cNvSpPr txBox="1"/>
          <p:nvPr/>
        </p:nvSpPr>
        <p:spPr>
          <a:xfrm>
            <a:off x="6720840" y="3218688"/>
            <a:ext cx="4343400" cy="713232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DFE and R0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E0=(Lambda/mu,0,0,0); R0 is obtained by next-generation method.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6720840" y="4096512"/>
            <a:ext cx="4343400" cy="713232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Fractional stability</a:t>
            </a:r>
          </a:p>
          <a:p>
            <a:pPr algn="l"/>
            <a:r>
              <a:rPr lang="en-US" sz="1200" b="0">
                <a:solidFill>
                  <a:srgbClr val="142030"/>
                </a:solidFill>
                <a:latin typeface="Aptos"/>
              </a:rPr>
              <a:t>DFE stability uses |arg(lambda_i)| &gt; q*pi/2 when R0 &lt;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 6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9" name="Text 6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0" name="Text 7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4" name="Text 74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5" name="Text 75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6" name="Text 76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7" name="Arrow 77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Arrow 78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Arrow 79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 80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82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3" name="Text 83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4" name="Text 84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1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5" name="Text 85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86" name="Text 86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87" name="Text 87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88" name="Text 88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9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91" name="Text 9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2" name="Text 9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9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3" name="Text 93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4" name="Text 94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5" name="Text 95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97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8" name="Text 98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9" name="Text 99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6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0" name="Text 100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101" name="Text 101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102" name="Text 102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10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6" name="Text 10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3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8" name="Text 108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4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1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15" name="Text 115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10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  <p:sp>
        <p:nvSpPr>
          <p:cNvPr id="117" name="Text 117"/>
          <p:cNvSpPr txBox="1"/>
          <p:nvPr/>
        </p:nvSpPr>
        <p:spPr>
          <a:xfrm>
            <a:off x="6601968" y="4160520"/>
            <a:ext cx="429768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After the demo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Return to the next slide for conclusion and recommendations.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11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4" name="Text 124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25" name="Text 125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13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Fractional-Order Compartmental Model of HIV Transmission with Social Behaviour Interventions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