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Master" Target="slideMasters/slideMaster1.xml"/><Relationship Id="rId12" Type="http://schemas.openxmlformats.org/officeDocument/2006/relationships/theme" Target="theme/theme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938528"/>
            <a:ext cx="6675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Fractional-Order</a:t>
            </a:r>
          </a:p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HIV SITA Model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13232" y="3355848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FFFFFF"/>
                </a:solidFill>
                <a:latin typeface="Aptos"/>
              </a:rPr>
              <a:t>Social behaviour interventions and simulation-based analysis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4187952"/>
            <a:ext cx="502920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4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4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5257800"/>
            <a:ext cx="36576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" name="Text 9"/>
          <p:cNvSpPr txBox="1"/>
          <p:nvPr/>
        </p:nvSpPr>
        <p:spPr>
          <a:xfrm>
            <a:off x="4443984" y="5257800"/>
            <a:ext cx="292608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" name="Text 1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2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2" name="Text 2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Include memory using a Caputo fractional derivative.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Represent behavioural interventions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Use numerical simulation to compare scenarios clearly.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2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0" name="Text 3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To formulate, analyse, and simulate a fractional-order SITA HIV transmission model incorporating social behaviour interventions.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Formulate the SITA model with Caputo derivative.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Derive threshold quantities including R0.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Establish core analytical properties.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Implement a numerical simulation scheme.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interventions, memory effects, and sensitivity.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6629400" y="1325880"/>
            <a:ext cx="3474720" cy="5029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Model formulation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629400" y="2148840"/>
            <a:ext cx="3474720" cy="5029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Mathematical analysis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629400" y="2971800"/>
            <a:ext cx="3474720" cy="5029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Numerical simulation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3794760"/>
            <a:ext cx="3474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Results interpretation</a:t>
            </a:r>
          </a:p>
        </p:txBody>
      </p:sp>
      <p:cxnSp>
        <p:nvCxnSpPr>
          <p:cNvPr id="39" name="Arrow 39"/>
          <p:cNvCxnSpPr/>
          <p:nvPr/>
        </p:nvCxnSpPr>
        <p:spPr>
          <a:xfrm>
            <a:off x="8366760" y="182880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>
            <a:off x="8366760" y="265176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Arrow 41"/>
          <p:cNvCxnSpPr/>
          <p:nvPr/>
        </p:nvCxnSpPr>
        <p:spPr>
          <a:xfrm>
            <a:off x="8366760" y="347472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4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3" name="Text 4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4" name="Text 4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5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6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7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8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49" name="Arrow 49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Arrow 50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 51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 52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914400" y="4279392"/>
            <a:ext cx="4846320" cy="8229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355080" y="4279392"/>
            <a:ext cx="4709160" cy="8229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5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9" name="Text 5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0" name="Text 60"/>
          <p:cNvSpPr txBox="1"/>
          <p:nvPr/>
        </p:nvSpPr>
        <p:spPr>
          <a:xfrm>
            <a:off x="658368" y="12344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694944" y="1664208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749808" y="2542032"/>
            <a:ext cx="5623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6812280" y="1417320"/>
            <a:ext cx="4206240" cy="132588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6812280" y="3474720"/>
            <a:ext cx="4206240" cy="9601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Meaning of q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6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7" name="Text 6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8" name="Text 68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6355080" y="1207008"/>
            <a:ext cx="429768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355080" y="2057400"/>
            <a:ext cx="429768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6355080" y="2907792"/>
            <a:ext cx="429768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355080" y="3758184"/>
            <a:ext cx="42976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4" name="Arrow 74"/>
          <p:cNvCxnSpPr/>
          <p:nvPr/>
        </p:nvCxnSpPr>
        <p:spPr>
          <a:xfrm>
            <a:off x="8503920" y="1801368"/>
            <a:ext cx="0" cy="25603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Arrow 75"/>
          <p:cNvCxnSpPr/>
          <p:nvPr/>
        </p:nvCxnSpPr>
        <p:spPr>
          <a:xfrm>
            <a:off x="8503920" y="2651760"/>
            <a:ext cx="0" cy="25603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Arrow 76"/>
          <p:cNvCxnSpPr/>
          <p:nvPr/>
        </p:nvCxnSpPr>
        <p:spPr>
          <a:xfrm>
            <a:off x="8503920" y="3502152"/>
            <a:ext cx="0" cy="25603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 77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7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80" name="Text 8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1" name="Text 8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78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82" name="Text 82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83" name="Text 83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84" name="Text 84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8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8" name="Text 8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5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89" name="Text 89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90" name="Text 90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9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Demo, Conclusion + Recommendations</a:t>
            </a:r>
          </a:p>
        </p:txBody>
      </p:sp>
      <p:sp>
        <p:nvSpPr>
          <p:cNvPr id="93" name="Text 9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4" name="Text 9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5" name="Text 95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Live demo plan</a:t>
            </a:r>
          </a:p>
        </p:txBody>
      </p:sp>
      <p:sp>
        <p:nvSpPr>
          <p:cNvPr id="96" name="Text 96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Open the deployed simulator.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Run the moving SITA graph.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q = 1 with q &lt; 1.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Show scenario and sensitivity views briefly.</a:t>
            </a:r>
          </a:p>
        </p:txBody>
      </p:sp>
      <p:sp>
        <p:nvSpPr>
          <p:cNvPr id="97" name="Text 97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Future work should calibrate parameters with Rwanda-specific data.</a:t>
            </a:r>
          </a:p>
        </p:txBody>
      </p:sp>
      <p:sp>
        <p:nvSpPr>
          <p:cNvPr id="99" name="Text 99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this project connects mathematical analysis, numerical simulation, and a working interactive tool for explaining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10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Fractional-Order HIV SITA Model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